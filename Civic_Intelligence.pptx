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Civic Intelligence — an AI-powered civic complaint routing system built on GraphRAG, a hybrid of knowledge graphs and vector retrieval. The core problem is simple to state and hard to solve: municipal bodies receive thousands of free-text complaints and today those get routed by manual, keyword-based triage. My project replaces that with a system that actually understands what a citizen is describing — the asset involved, the department responsible, and how it relates to complaints filed before. Over the next twelve slides I'll walk through the problem, the architecture, the reasoning engine at the core of the system, and the engineering trade-offs I made along the way — including why I chose GraphRAG over a standard RAG pipeline. This is scoped as a pilot for Chandigarh's Municipal Corporation, but the ontology and pipeline generalize to any municipal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failure modes recur across most legacy municipal complaint systems. First, routing is manual — a human reads every complaint and decides who owns it, which doesn't scale past a few hundred tickets a day. Second, that manual step is slow, adding multi-day latency before an issue is even seen by the right team. Third, without semantic de-duplication, the same pothole or the same streetlight gets logged five times by five different citizens, inflating ticket counts without adding information. Fourth — and this is the structural problem the rest of my talk addresses — keyword search has no notion of meaning: two complaints describing the same asset in different words look completely unrelated to a keyword index. Fifth, this compounds into poor scalability as complaint volume grows. And sixth, citizens experience all of this as frustration and distrust in the system. The unifying insight is that every one of these is downstream of the same root cause: the system doesn't understand complaints, it only matches strings. That's the gap Civic Intelligence is built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Civic Intelligence rests on three pillars working together rather than any single model doing everything. An LLM, Qwen 3 at 8 billion parameters, handles entity and intent extraction — turning free text into structured facts. A knowledge graph in Neo4j encodes the actual relationships between departments, assets, and jurisdictions, so the system can reason about ownership, not just similarity. And a vector search layer, BGE-M3 embeddings served through Qdrant, retrieves semantically similar historical complaints even when the wording is completely different. The example on the right is the crux of the whole project: 'streetlight not working' and 'light on pole 4 near market keeps blinking at night' are lexically almost unrelated, but GraphRAG resolves both to the same physical asset and the same owning department automatically, because the graph — not a keyword index — is doing the linking. That's the architectural bet this project makes, and the rest of the deck shows how it's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polyglot rather than a single framework stretched to cover everything. On the frontend, Next.js 16 with React and TypeScript gives me server actions and a type-safe boundary between client and server, with Tailwind for styling and NextAuth for session management. The backend is FastAPI in Python — chosen specifically because the GraphRAG pipeline needs Python's ML ecosystem for embedding generation and LLM orchestration, and FastAPI gives async performance without sacrificing that. PostgreSQL through Prisma is the system of record for complaints and users — a relational store because complaint metadata, status, and user accounts are inherently relational. The AI core is the differentiated part: Qwen 3 8B for entity extraction, Neo4j as the graph database holding the department ontology, Qdrant as the vector store, and BGE-M3 for multilingual-capable embeddings. Everything is containerized with Docker so the graph database, vector database, and API can be deployed and scaled independently. This separation of concerns — relational store for transactional data, graph store for relationships, vector store for semantic search — is the engineering trade-off that makes GraphRAG practical rather than a research toy.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request lifecycle, ten stages, fully deterministic and automated end to end. A citizen submits a complaint, it's persisted immediately to PostgreSQL so nothing is ever lost even if downstream AI processing fails, and FastAPI hands it to the GraphRAG engine. Inside the engine: Qwen extracts entities and intent from the raw text, the ontology normalizer maps those entities onto our fixed 23-department schema, Neo4j constructs and traverses the graph to infer department ownership, and in parallel BGE-M3 generates an embedding that Qdrant uses to retrieve semantically similar past complaints. The routing result — a confidence-scored department assignment plus related cases — is written back to PostgreSQL and surfaces immediately on the admin dashboard. I want to highlight the four-stage grouping at the bottom: ingestion, understanding, reasoning, and retrieval-and-delivery are logically separate concerns, and that separation is what let me build, test, and swap components — like changing the embedding model — without touching the rest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surface splits into three areas that all sit on top of the same GraphRAG intelligence layer. The citizen portal handles submission, image upload, authentication, and tracking — the parts a resident directly interacts with. The AI features column is the invisible layer doing the real work: entity extraction, ontology normalization, semantic routing, knowledge graph reasoning, and similar-complaint retrieval — none of this is visible to the citizen, but all of it is what makes routing accurate instead of manual. And the admin dashboard is where municipal staff see the payoff: live complaints, per-complaint detail with the AI's reasoning, department-level statistics and analytics, status management, and manual reassignment when the AI's confidence is low. I built manual reassignment deliberately — the system is designed to assist human judgment, not fully replace it, especially on ambiguous or high-stakes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system architecture, and I want to walk it top to bottom. The top row is the request path: the citizen portal built in Next.js talks to PostgreSQL for persistence and to FastAPI as the orchestration layer. Everything below the dark panel is what I call the GraphRAG engine — the reasoning core, and the part of this project that's actually novel versus a standard CRUD complaint app. A complaint enters, Qwen 3 extracts entities and intent, the ontology normalizer maps those onto our fixed department schema, Neo4j performs graph construction and traversal to infer the owning department, and in parallel BGE-M3 embeddings feed Qdrant for semantic retrieval of similar historical complaints. Those five stages produce a confidence-scored routing result, which syncs back to PostgreSQL and appears on the admin dashboard in real time. The key architectural decision here is keeping the graph reasoning and the vector retrieval as separate, parallel paths rather than forcing everything through one retrieval mechanism — that's what lets the system explain why it routed a complaint the way it did, not just that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ontology is the backbone that makes graph reasoning possible at all — without a well-designed schema, Neo4j is just an expensive way to store edges. I modeled 23 municipal departments as first-class nodes, shown here in a partial view around the central complaint ontology node: Public Health, Electricity, Transport, Horticulture, Police, Municipal Corporation, Environment, Estate Office, Tourism, and more, including Engineering and Public Works. Each department node carries relationship types to asset categories and jurisdictions, so when the LLM extracts an entity like 'street light,' the graph already knows that asset type maps to the Electricity department through an explicit, inspectable edge — not a learned, opaque association. Designing this ontology was one of the harder parts of the project, because it required encoding real municipal organizational knowledge, not just generic categories, and getting the relationship types right so that traversal produces one clear department, not several ambiguous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direct answer to the question a technical panel will ask first: why not just use standard RAG? Traditional RAG retrieves by keyword or flat embedding similarity — it has no relationship model, so it can't infer department ownership, it can only find text that looks similar. Its reasoning is single-hop: given a query, find the nearest neighbors, done. GraphRAG instead retrieves through explicit knowledge-graph relationships, which means it can do multi-hop reasoning — a complaint about a specific pole can traverse asset-to-department edges even if no historically similar complaint text exists. That directly improves department inference accuracy, because ownership is a structural property of the graph, not a statistical artifact of embedding proximity. It also improves explainability: I can show the exact graph path that produced a routing decision, which matters enormously for a municipal system where a wrong department assignment has real operational cost. The trade-off I accepted is added engineering complexity — maintaining an ontology and a graph database is more work than a single vector index — but for this problem domain, that complexity buys accuracy and auditability that flat RAG can't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trace one real complaint through the whole system. The citizen types exactly this: 'the street lights are blinking continuously' — no department mentioned, no ticket category selected. The system extracts two entities: 'street light' as the asset, and 'flickering / continuous blinking' as the fault condition. Graph traversal from the street-light asset node lands on the Electricity department with 96% confidence, which you can see reflected in the dashboard card on the right. In parallel, the vector search layer pulls three related complaints from the same asset cluster — a pole-specific report from three days ago, a streetlamp outage near the same market from last week, and another flickering report from two weeks ago — which tells the department this may be one underlying fault, not three independent issues. All of this — the routing, the confidence score, and the related-complaint cluster — appears in the admin dashboard the moment the complaint is submitted, with zero manual triage. This is the same pipeline from slide five, just traced through a concrete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engineering problems had to be solved in sequence to get this working, and I'll flag the two hardest. Ontology design came first and took the longest, because it required real domain research into how municipal departments actually divide responsibility, not a textbook categorization. Entity normalization was the second hard problem: an LLM's raw extraction is noisy and inconsistent, so I built a normalization layer that maps varied phrasings onto canonical ontology terms before anything touches the graph. From there, Neo4j and Qdrant integration, graph traversal logic, and keeping PostgreSQL synchronized with graph state were substantial but more conventional systems-engineering work. Looking forward, the roadmap is grouped by horizon: near-term is about complaint quality — prioritization, multi-language support, and image-based issue detection so a photo alone can trigger routing. Mid-term adds GIS integration for spatial reasoning, predictive maintenance using complaint clustering, and a mobile app. Longer-term, I want citizen notifications, city-wide analytics, fine-tuning the LLM on our own complaint corpus, and department workload balancing so routing accounts for current capacity, not just topical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summarize the core contribution: Civic Intelligence shows that combining a knowledge graph with vector retrieval — GraphRAG — solves a real limitation of keyword and flat-RAG systems for a genuinely hard domain problem, municipal complaint routing, where correct department ownership has real operational consequences. The 23-department ontology, the five-stage GraphRAG engine, and the admin tooling are all working end to end today, and the roadmap I outlined is about extending accuracy and coverage rather than proving the core architecture. I'm happy to go deeper into any part of this — the ontology design decisions, the graph traversal and scoring logic, why I chose Qwen 3 and BGE-M3 specifically, or the trade-offs versus a pure vector-RAG baseline.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5.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8.png"/><Relationship Id="rId19" Type="http://schemas.openxmlformats.org/officeDocument/2006/relationships/slideLayout" Target="../slideLayouts/slideLayout1.xml"/><Relationship Id="rId2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1.png"/><Relationship Id="rId10" Type="http://schemas.openxmlformats.org/officeDocument/2006/relationships/image" Target="../media/image-9-2.png"/><Relationship Id="rId11" Type="http://schemas.openxmlformats.org/officeDocument/2006/relationships/image" Target="../media/image-9-1.png"/><Relationship Id="rId12" Type="http://schemas.openxmlformats.org/officeDocument/2006/relationships/image" Target="../media/image-9-2.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image" Target="../media/image-11-1.png"/><Relationship Id="rId6" Type="http://schemas.openxmlformats.org/officeDocument/2006/relationships/image" Target="../media/image-11-1.png"/><Relationship Id="rId7" Type="http://schemas.openxmlformats.org/officeDocument/2006/relationships/image" Target="../media/image-11-1.png"/><Relationship Id="rId8" Type="http://schemas.openxmlformats.org/officeDocument/2006/relationships/image" Target="../media/image-11-1.png"/><Relationship Id="rId9" Type="http://schemas.openxmlformats.org/officeDocument/2006/relationships/image" Target="../media/image-11-1.png"/><Relationship Id="rId10" Type="http://schemas.openxmlformats.org/officeDocument/2006/relationships/image" Target="../media/image-11-1.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692640" y="731520"/>
            <a:ext cx="914400" cy="274320"/>
          </a:xfrm>
          <a:prstGeom prst="line">
            <a:avLst/>
          </a:prstGeom>
          <a:noFill/>
          <a:ln w="12700">
            <a:solidFill>
              <a:srgbClr val="3B82F6">
                <a:alpha val="60000"/>
              </a:srgbClr>
            </a:solidFill>
            <a:prstDash val="solid"/>
          </a:ln>
        </p:spPr>
      </p:sp>
      <p:sp>
        <p:nvSpPr>
          <p:cNvPr id="3" name="Shape 1"/>
          <p:cNvSpPr/>
          <p:nvPr/>
        </p:nvSpPr>
        <p:spPr>
          <a:xfrm>
            <a:off x="10607040" y="731520"/>
            <a:ext cx="731520" cy="640080"/>
          </a:xfrm>
          <a:prstGeom prst="line">
            <a:avLst/>
          </a:prstGeom>
          <a:noFill/>
          <a:ln w="12700">
            <a:solidFill>
              <a:srgbClr val="3B82F6">
                <a:alpha val="60000"/>
              </a:srgbClr>
            </a:solidFill>
            <a:prstDash val="solid"/>
          </a:ln>
        </p:spPr>
      </p:sp>
      <p:sp>
        <p:nvSpPr>
          <p:cNvPr id="4" name="Shape 2"/>
          <p:cNvSpPr/>
          <p:nvPr/>
        </p:nvSpPr>
        <p:spPr>
          <a:xfrm>
            <a:off x="10332720" y="731520"/>
            <a:ext cx="274320" cy="1005840"/>
          </a:xfrm>
          <a:prstGeom prst="line">
            <a:avLst/>
          </a:prstGeom>
          <a:noFill/>
          <a:ln w="12700">
            <a:solidFill>
              <a:srgbClr val="3B82F6">
                <a:alpha val="60000"/>
              </a:srgbClr>
            </a:solidFill>
            <a:prstDash val="solid"/>
          </a:ln>
        </p:spPr>
      </p:sp>
      <p:sp>
        <p:nvSpPr>
          <p:cNvPr id="5" name="Shape 3"/>
          <p:cNvSpPr/>
          <p:nvPr/>
        </p:nvSpPr>
        <p:spPr>
          <a:xfrm>
            <a:off x="9418320" y="1737360"/>
            <a:ext cx="914400" cy="182880"/>
          </a:xfrm>
          <a:prstGeom prst="line">
            <a:avLst/>
          </a:prstGeom>
          <a:noFill/>
          <a:ln w="12700">
            <a:solidFill>
              <a:srgbClr val="3B82F6">
                <a:alpha val="60000"/>
              </a:srgbClr>
            </a:solidFill>
            <a:prstDash val="solid"/>
          </a:ln>
        </p:spPr>
      </p:sp>
      <p:sp>
        <p:nvSpPr>
          <p:cNvPr id="6" name="Shape 4"/>
          <p:cNvSpPr/>
          <p:nvPr/>
        </p:nvSpPr>
        <p:spPr>
          <a:xfrm>
            <a:off x="10332720" y="1737360"/>
            <a:ext cx="731520" cy="548640"/>
          </a:xfrm>
          <a:prstGeom prst="line">
            <a:avLst/>
          </a:prstGeom>
          <a:noFill/>
          <a:ln w="12700">
            <a:solidFill>
              <a:srgbClr val="3B82F6">
                <a:alpha val="60000"/>
              </a:srgbClr>
            </a:solidFill>
            <a:prstDash val="solid"/>
          </a:ln>
        </p:spPr>
      </p:sp>
      <p:sp>
        <p:nvSpPr>
          <p:cNvPr id="7" name="Shape 5"/>
          <p:cNvSpPr/>
          <p:nvPr/>
        </p:nvSpPr>
        <p:spPr>
          <a:xfrm flipV="1">
            <a:off x="11064240" y="1371600"/>
            <a:ext cx="274320" cy="914400"/>
          </a:xfrm>
          <a:prstGeom prst="line">
            <a:avLst/>
          </a:prstGeom>
          <a:noFill/>
          <a:ln w="12700">
            <a:solidFill>
              <a:srgbClr val="3B82F6">
                <a:alpha val="60000"/>
              </a:srgbClr>
            </a:solidFill>
            <a:prstDash val="solid"/>
          </a:ln>
        </p:spPr>
      </p:sp>
      <p:sp>
        <p:nvSpPr>
          <p:cNvPr id="8" name="Shape 6"/>
          <p:cNvSpPr/>
          <p:nvPr/>
        </p:nvSpPr>
        <p:spPr>
          <a:xfrm>
            <a:off x="9418320" y="1920240"/>
            <a:ext cx="457200" cy="640080"/>
          </a:xfrm>
          <a:prstGeom prst="line">
            <a:avLst/>
          </a:prstGeom>
          <a:noFill/>
          <a:ln w="12700">
            <a:solidFill>
              <a:srgbClr val="3B82F6">
                <a:alpha val="60000"/>
              </a:srgbClr>
            </a:solidFill>
            <a:prstDash val="solid"/>
          </a:ln>
        </p:spPr>
      </p:sp>
      <p:sp>
        <p:nvSpPr>
          <p:cNvPr id="9" name="Shape 7"/>
          <p:cNvSpPr/>
          <p:nvPr/>
        </p:nvSpPr>
        <p:spPr>
          <a:xfrm>
            <a:off x="9875520" y="2286000"/>
            <a:ext cx="1188720" cy="274320"/>
          </a:xfrm>
          <a:prstGeom prst="line">
            <a:avLst/>
          </a:prstGeom>
          <a:noFill/>
          <a:ln w="12700">
            <a:solidFill>
              <a:srgbClr val="3B82F6">
                <a:alpha val="60000"/>
              </a:srgbClr>
            </a:solidFill>
            <a:prstDash val="solid"/>
          </a:ln>
        </p:spPr>
      </p:sp>
      <p:sp>
        <p:nvSpPr>
          <p:cNvPr id="10" name="Shape 8"/>
          <p:cNvSpPr/>
          <p:nvPr/>
        </p:nvSpPr>
        <p:spPr>
          <a:xfrm>
            <a:off x="9646920" y="960120"/>
            <a:ext cx="91440" cy="91440"/>
          </a:xfrm>
          <a:prstGeom prst="ellipse">
            <a:avLst/>
          </a:prstGeom>
          <a:solidFill>
            <a:srgbClr val="60A5FA"/>
          </a:solidFill>
          <a:ln/>
        </p:spPr>
      </p:sp>
      <p:sp>
        <p:nvSpPr>
          <p:cNvPr id="11" name="Shape 9"/>
          <p:cNvSpPr/>
          <p:nvPr/>
        </p:nvSpPr>
        <p:spPr>
          <a:xfrm>
            <a:off x="10561320" y="685800"/>
            <a:ext cx="91440" cy="91440"/>
          </a:xfrm>
          <a:prstGeom prst="ellipse">
            <a:avLst/>
          </a:prstGeom>
          <a:solidFill>
            <a:srgbClr val="60A5FA"/>
          </a:solidFill>
          <a:ln/>
        </p:spPr>
      </p:sp>
      <p:sp>
        <p:nvSpPr>
          <p:cNvPr id="12" name="Shape 10"/>
          <p:cNvSpPr/>
          <p:nvPr/>
        </p:nvSpPr>
        <p:spPr>
          <a:xfrm>
            <a:off x="11292840" y="1325880"/>
            <a:ext cx="91440" cy="91440"/>
          </a:xfrm>
          <a:prstGeom prst="ellipse">
            <a:avLst/>
          </a:prstGeom>
          <a:solidFill>
            <a:srgbClr val="60A5FA"/>
          </a:solidFill>
          <a:ln/>
        </p:spPr>
      </p:sp>
      <p:sp>
        <p:nvSpPr>
          <p:cNvPr id="13" name="Shape 11"/>
          <p:cNvSpPr/>
          <p:nvPr/>
        </p:nvSpPr>
        <p:spPr>
          <a:xfrm>
            <a:off x="10287000" y="1691640"/>
            <a:ext cx="91440" cy="91440"/>
          </a:xfrm>
          <a:prstGeom prst="ellipse">
            <a:avLst/>
          </a:prstGeom>
          <a:solidFill>
            <a:srgbClr val="60A5FA"/>
          </a:solidFill>
          <a:ln/>
        </p:spPr>
      </p:sp>
      <p:sp>
        <p:nvSpPr>
          <p:cNvPr id="14" name="Shape 12"/>
          <p:cNvSpPr/>
          <p:nvPr/>
        </p:nvSpPr>
        <p:spPr>
          <a:xfrm>
            <a:off x="9372600" y="1874520"/>
            <a:ext cx="91440" cy="91440"/>
          </a:xfrm>
          <a:prstGeom prst="ellipse">
            <a:avLst/>
          </a:prstGeom>
          <a:solidFill>
            <a:srgbClr val="60A5FA"/>
          </a:solidFill>
          <a:ln/>
        </p:spPr>
      </p:sp>
      <p:sp>
        <p:nvSpPr>
          <p:cNvPr id="15" name="Shape 13"/>
          <p:cNvSpPr/>
          <p:nvPr/>
        </p:nvSpPr>
        <p:spPr>
          <a:xfrm>
            <a:off x="11018520" y="2240280"/>
            <a:ext cx="91440" cy="91440"/>
          </a:xfrm>
          <a:prstGeom prst="ellipse">
            <a:avLst/>
          </a:prstGeom>
          <a:solidFill>
            <a:srgbClr val="60A5FA"/>
          </a:solidFill>
          <a:ln/>
        </p:spPr>
      </p:sp>
      <p:sp>
        <p:nvSpPr>
          <p:cNvPr id="16" name="Shape 14"/>
          <p:cNvSpPr/>
          <p:nvPr/>
        </p:nvSpPr>
        <p:spPr>
          <a:xfrm>
            <a:off x="9829800" y="2514600"/>
            <a:ext cx="91440" cy="91440"/>
          </a:xfrm>
          <a:prstGeom prst="ellipse">
            <a:avLst/>
          </a:prstGeom>
          <a:solidFill>
            <a:srgbClr val="60A5FA"/>
          </a:solidFill>
          <a:ln/>
        </p:spPr>
      </p:sp>
      <p:sp>
        <p:nvSpPr>
          <p:cNvPr id="17" name="Text 15"/>
          <p:cNvSpPr/>
          <p:nvPr/>
        </p:nvSpPr>
        <p:spPr>
          <a:xfrm>
            <a:off x="822960" y="1965960"/>
            <a:ext cx="7315200" cy="320040"/>
          </a:xfrm>
          <a:prstGeom prst="rect">
            <a:avLst/>
          </a:prstGeom>
          <a:noFill/>
          <a:ln/>
        </p:spPr>
        <p:txBody>
          <a:bodyPr wrap="square" lIns="0" tIns="0" rIns="0" bIns="0" rtlCol="0" anchor="ctr"/>
          <a:lstStyle/>
          <a:p>
            <a:pPr indent="0" marL="0">
              <a:buNone/>
            </a:pPr>
            <a:r>
              <a:rPr lang="en-US" sz="1250" b="1" spc="250" kern="0" dirty="0">
                <a:solidFill>
                  <a:srgbClr val="60A5FA"/>
                </a:solidFill>
                <a:latin typeface="Inter" pitchFamily="34" charset="0"/>
                <a:ea typeface="Inter" pitchFamily="34" charset="-122"/>
                <a:cs typeface="Inter" pitchFamily="34" charset="-120"/>
              </a:rPr>
              <a:t>AI-POWERED CIVIC TECHNOLOGY  ·  CAPSTONE PROJECT</a:t>
            </a:r>
            <a:endParaRPr lang="en-US" sz="1250" dirty="0"/>
          </a:p>
        </p:txBody>
      </p:sp>
      <p:sp>
        <p:nvSpPr>
          <p:cNvPr id="18" name="Text 16"/>
          <p:cNvSpPr/>
          <p:nvPr/>
        </p:nvSpPr>
        <p:spPr>
          <a:xfrm>
            <a:off x="777240" y="2331720"/>
            <a:ext cx="9601200" cy="1188720"/>
          </a:xfrm>
          <a:prstGeom prst="rect">
            <a:avLst/>
          </a:prstGeom>
          <a:noFill/>
          <a:ln/>
        </p:spPr>
        <p:txBody>
          <a:bodyPr wrap="square" lIns="0" tIns="0" rIns="0" bIns="0" rtlCol="0" anchor="ctr"/>
          <a:lstStyle/>
          <a:p>
            <a:pPr indent="0" marL="0">
              <a:buNone/>
            </a:pPr>
            <a:r>
              <a:rPr lang="en-US" sz="6000" b="1" dirty="0">
                <a:solidFill>
                  <a:srgbClr val="FFFFFF"/>
                </a:solidFill>
                <a:latin typeface="Poppins" pitchFamily="34" charset="0"/>
                <a:ea typeface="Poppins" pitchFamily="34" charset="-122"/>
                <a:cs typeface="Poppins" pitchFamily="34" charset="-120"/>
              </a:rPr>
              <a:t>Civic Intelligence</a:t>
            </a:r>
            <a:endParaRPr lang="en-US" sz="6000" dirty="0"/>
          </a:p>
        </p:txBody>
      </p:sp>
      <p:sp>
        <p:nvSpPr>
          <p:cNvPr id="19" name="Text 17"/>
          <p:cNvSpPr/>
          <p:nvPr/>
        </p:nvSpPr>
        <p:spPr>
          <a:xfrm>
            <a:off x="822960" y="3429000"/>
            <a:ext cx="8686800" cy="548640"/>
          </a:xfrm>
          <a:prstGeom prst="rect">
            <a:avLst/>
          </a:prstGeom>
          <a:noFill/>
          <a:ln/>
        </p:spPr>
        <p:txBody>
          <a:bodyPr wrap="square" lIns="0" tIns="0" rIns="0" bIns="0" rtlCol="0" anchor="ctr"/>
          <a:lstStyle/>
          <a:p>
            <a:pPr indent="0" marL="0">
              <a:buNone/>
            </a:pPr>
            <a:r>
              <a:rPr lang="en-US" sz="1700" dirty="0">
                <a:solidFill>
                  <a:srgbClr val="CBD5E1"/>
                </a:solidFill>
                <a:latin typeface="Inter" pitchFamily="34" charset="0"/>
                <a:ea typeface="Inter" pitchFamily="34" charset="-122"/>
                <a:cs typeface="Inter" pitchFamily="34" charset="-120"/>
              </a:rPr>
              <a:t>AI-Powered Intelligent Civic Complaint Routing using GraphRAG</a:t>
            </a:r>
            <a:endParaRPr lang="en-US" sz="1700" dirty="0"/>
          </a:p>
        </p:txBody>
      </p:sp>
      <p:sp>
        <p:nvSpPr>
          <p:cNvPr id="20" name="Shape 18"/>
          <p:cNvSpPr/>
          <p:nvPr/>
        </p:nvSpPr>
        <p:spPr>
          <a:xfrm>
            <a:off x="822960" y="4343400"/>
            <a:ext cx="91440" cy="91440"/>
          </a:xfrm>
          <a:prstGeom prst="ellipse">
            <a:avLst/>
          </a:prstGeom>
          <a:solidFill>
            <a:srgbClr val="10B981"/>
          </a:solidFill>
          <a:ln/>
        </p:spPr>
      </p:sp>
      <p:sp>
        <p:nvSpPr>
          <p:cNvPr id="21" name="Text 19"/>
          <p:cNvSpPr/>
          <p:nvPr/>
        </p:nvSpPr>
        <p:spPr>
          <a:xfrm>
            <a:off x="1024128" y="4206240"/>
            <a:ext cx="2468880" cy="320040"/>
          </a:xfrm>
          <a:prstGeom prst="rect">
            <a:avLst/>
          </a:prstGeom>
          <a:noFill/>
          <a:ln/>
        </p:spPr>
        <p:txBody>
          <a:bodyPr wrap="square" lIns="0" tIns="0" rIns="0" bIns="0" rtlCol="0" anchor="ctr"/>
          <a:lstStyle/>
          <a:p>
            <a:pPr indent="0" marL="0">
              <a:buNone/>
            </a:pPr>
            <a:r>
              <a:rPr lang="en-US" sz="1200" dirty="0">
                <a:solidFill>
                  <a:srgbClr val="E2E8F0"/>
                </a:solidFill>
                <a:latin typeface="Inter" pitchFamily="34" charset="0"/>
                <a:ea typeface="Inter" pitchFamily="34" charset="-122"/>
                <a:cs typeface="Inter" pitchFamily="34" charset="-120"/>
              </a:rPr>
              <a:t>Knowledge Graphs</a:t>
            </a:r>
            <a:endParaRPr lang="en-US" sz="1200" dirty="0"/>
          </a:p>
        </p:txBody>
      </p:sp>
      <p:sp>
        <p:nvSpPr>
          <p:cNvPr id="22" name="Shape 20"/>
          <p:cNvSpPr/>
          <p:nvPr/>
        </p:nvSpPr>
        <p:spPr>
          <a:xfrm>
            <a:off x="3611880" y="4343400"/>
            <a:ext cx="91440" cy="91440"/>
          </a:xfrm>
          <a:prstGeom prst="ellipse">
            <a:avLst/>
          </a:prstGeom>
          <a:solidFill>
            <a:srgbClr val="10B981"/>
          </a:solidFill>
          <a:ln/>
        </p:spPr>
      </p:sp>
      <p:sp>
        <p:nvSpPr>
          <p:cNvPr id="23" name="Text 21"/>
          <p:cNvSpPr/>
          <p:nvPr/>
        </p:nvSpPr>
        <p:spPr>
          <a:xfrm>
            <a:off x="3813048" y="4206240"/>
            <a:ext cx="2468880" cy="320040"/>
          </a:xfrm>
          <a:prstGeom prst="rect">
            <a:avLst/>
          </a:prstGeom>
          <a:noFill/>
          <a:ln/>
        </p:spPr>
        <p:txBody>
          <a:bodyPr wrap="square" lIns="0" tIns="0" rIns="0" bIns="0" rtlCol="0" anchor="ctr"/>
          <a:lstStyle/>
          <a:p>
            <a:pPr indent="0" marL="0">
              <a:buNone/>
            </a:pPr>
            <a:r>
              <a:rPr lang="en-US" sz="1200" dirty="0">
                <a:solidFill>
                  <a:srgbClr val="E2E8F0"/>
                </a:solidFill>
                <a:latin typeface="Inter" pitchFamily="34" charset="0"/>
                <a:ea typeface="Inter" pitchFamily="34" charset="-122"/>
                <a:cs typeface="Inter" pitchFamily="34" charset="-120"/>
              </a:rPr>
              <a:t>Vector Search</a:t>
            </a:r>
            <a:endParaRPr lang="en-US" sz="1200" dirty="0"/>
          </a:p>
        </p:txBody>
      </p:sp>
      <p:sp>
        <p:nvSpPr>
          <p:cNvPr id="24" name="Shape 22"/>
          <p:cNvSpPr/>
          <p:nvPr/>
        </p:nvSpPr>
        <p:spPr>
          <a:xfrm>
            <a:off x="6400800" y="4343400"/>
            <a:ext cx="91440" cy="91440"/>
          </a:xfrm>
          <a:prstGeom prst="ellipse">
            <a:avLst/>
          </a:prstGeom>
          <a:solidFill>
            <a:srgbClr val="10B981"/>
          </a:solidFill>
          <a:ln/>
        </p:spPr>
      </p:sp>
      <p:sp>
        <p:nvSpPr>
          <p:cNvPr id="25" name="Text 23"/>
          <p:cNvSpPr/>
          <p:nvPr/>
        </p:nvSpPr>
        <p:spPr>
          <a:xfrm>
            <a:off x="6601968" y="4206240"/>
            <a:ext cx="2468880" cy="320040"/>
          </a:xfrm>
          <a:prstGeom prst="rect">
            <a:avLst/>
          </a:prstGeom>
          <a:noFill/>
          <a:ln/>
        </p:spPr>
        <p:txBody>
          <a:bodyPr wrap="square" lIns="0" tIns="0" rIns="0" bIns="0" rtlCol="0" anchor="ctr"/>
          <a:lstStyle/>
          <a:p>
            <a:pPr indent="0" marL="0">
              <a:buNone/>
            </a:pPr>
            <a:r>
              <a:rPr lang="en-US" sz="1200" dirty="0">
                <a:solidFill>
                  <a:srgbClr val="E2E8F0"/>
                </a:solidFill>
                <a:latin typeface="Inter" pitchFamily="34" charset="0"/>
                <a:ea typeface="Inter" pitchFamily="34" charset="-122"/>
                <a:cs typeface="Inter" pitchFamily="34" charset="-120"/>
              </a:rPr>
              <a:t>LLM Reasoning</a:t>
            </a:r>
            <a:endParaRPr lang="en-US" sz="1200" dirty="0"/>
          </a:p>
        </p:txBody>
      </p:sp>
      <p:sp>
        <p:nvSpPr>
          <p:cNvPr id="26" name="Shape 24"/>
          <p:cNvSpPr/>
          <p:nvPr/>
        </p:nvSpPr>
        <p:spPr>
          <a:xfrm>
            <a:off x="822960" y="4892040"/>
            <a:ext cx="5486400" cy="0"/>
          </a:xfrm>
          <a:prstGeom prst="line">
            <a:avLst/>
          </a:prstGeom>
          <a:noFill/>
          <a:ln w="12700">
            <a:solidFill>
              <a:srgbClr val="334155"/>
            </a:solidFill>
            <a:prstDash val="solid"/>
          </a:ln>
        </p:spPr>
      </p:sp>
      <p:sp>
        <p:nvSpPr>
          <p:cNvPr id="27" name="Text 25"/>
          <p:cNvSpPr/>
          <p:nvPr/>
        </p:nvSpPr>
        <p:spPr>
          <a:xfrm>
            <a:off x="822960" y="5074920"/>
            <a:ext cx="5486400" cy="274320"/>
          </a:xfrm>
          <a:prstGeom prst="rect">
            <a:avLst/>
          </a:prstGeom>
          <a:noFill/>
          <a:ln/>
        </p:spPr>
        <p:txBody>
          <a:bodyPr wrap="square" lIns="0" tIns="0" rIns="0" bIns="0" rtlCol="0" anchor="ctr"/>
          <a:lstStyle/>
          <a:p>
            <a:pPr indent="0" marL="0">
              <a:buNone/>
            </a:pPr>
            <a:r>
              <a:rPr lang="en-US" sz="1100" dirty="0">
                <a:solidFill>
                  <a:srgbClr val="94A3B8"/>
                </a:solidFill>
                <a:latin typeface="Inter" pitchFamily="34" charset="0"/>
                <a:ea typeface="Inter" pitchFamily="34" charset="-122"/>
                <a:cs typeface="Inter" pitchFamily="34" charset="-120"/>
              </a:rPr>
              <a:t>Final-Year Engineering Capstone Defense</a:t>
            </a:r>
            <a:endParaRPr lang="en-US" sz="1100" dirty="0"/>
          </a:p>
        </p:txBody>
      </p:sp>
      <p:sp>
        <p:nvSpPr>
          <p:cNvPr id="28" name="Text 26"/>
          <p:cNvSpPr/>
          <p:nvPr/>
        </p:nvSpPr>
        <p:spPr>
          <a:xfrm>
            <a:off x="822960" y="5349240"/>
            <a:ext cx="7315200" cy="274320"/>
          </a:xfrm>
          <a:prstGeom prst="rect">
            <a:avLst/>
          </a:prstGeom>
          <a:noFill/>
          <a:ln/>
        </p:spPr>
        <p:txBody>
          <a:bodyPr wrap="square" lIns="0" tIns="0" rIns="0" bIns="0" rtlCol="0" anchor="ctr"/>
          <a:lstStyle/>
          <a:p>
            <a:pPr indent="0" marL="0">
              <a:buNone/>
            </a:pPr>
            <a:r>
              <a:rPr lang="en-US" sz="1100" dirty="0">
                <a:solidFill>
                  <a:srgbClr val="94A3B8"/>
                </a:solidFill>
                <a:latin typeface="Inter" pitchFamily="34" charset="0"/>
                <a:ea typeface="Inter" pitchFamily="34" charset="-122"/>
                <a:cs typeface="Inter" pitchFamily="34" charset="-120"/>
              </a:rPr>
              <a:t>Municipal Corporation of Chandigarh — Pilot Deployment Scope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THE PROBLEM</a:t>
            </a:r>
            <a:endParaRPr lang="en-US" sz="1200" dirty="0"/>
          </a:p>
        </p:txBody>
      </p:sp>
      <p:sp>
        <p:nvSpPr>
          <p:cNvPr id="3" name="Text 1"/>
          <p:cNvSpPr/>
          <p:nvPr/>
        </p:nvSpPr>
        <p:spPr>
          <a:xfrm>
            <a:off x="548640" y="777240"/>
            <a:ext cx="7772400" cy="1005840"/>
          </a:xfrm>
          <a:prstGeom prst="rect">
            <a:avLst/>
          </a:prstGeom>
          <a:noFill/>
          <a:ln/>
        </p:spPr>
        <p:txBody>
          <a:bodyPr wrap="square" lIns="0" tIns="0" rIns="0" bIns="0" rtlCol="0" anchor="ctr"/>
          <a:lstStyle/>
          <a:p>
            <a:pPr algn="l" indent="0" marL="0">
              <a:lnSpc>
                <a:spcPct val="102000"/>
              </a:lnSpc>
              <a:buNone/>
            </a:pPr>
            <a:r>
              <a:rPr lang="en-US" sz="2800" b="1" dirty="0">
                <a:solidFill>
                  <a:srgbClr val="0F172A"/>
                </a:solidFill>
                <a:latin typeface="Poppins" pitchFamily="34" charset="0"/>
                <a:ea typeface="Poppins" pitchFamily="34" charset="-122"/>
                <a:cs typeface="Poppins" pitchFamily="34" charset="-120"/>
              </a:rPr>
              <a:t>Municipal complaint systems are</a:t>
            </a:r>
            <a:endParaRPr lang="en-US" sz="2800" dirty="0"/>
          </a:p>
          <a:p>
            <a:pPr algn="l" indent="0" marL="0">
              <a:lnSpc>
                <a:spcPct val="102000"/>
              </a:lnSpc>
              <a:buNone/>
            </a:pPr>
            <a:r>
              <a:rPr lang="en-US" sz="2800" b="1" dirty="0">
                <a:solidFill>
                  <a:srgbClr val="0F172A"/>
                </a:solidFill>
                <a:latin typeface="Poppins" pitchFamily="34" charset="0"/>
                <a:ea typeface="Poppins" pitchFamily="34" charset="-122"/>
                <a:cs typeface="Poppins" pitchFamily="34" charset="-120"/>
              </a:rPr>
              <a:t>stuck in the keyword-matching era</a:t>
            </a:r>
            <a:endParaRPr lang="en-US" sz="2800" dirty="0"/>
          </a:p>
        </p:txBody>
      </p:sp>
      <p:sp>
        <p:nvSpPr>
          <p:cNvPr id="4" name="Shape 2"/>
          <p:cNvSpPr/>
          <p:nvPr/>
        </p:nvSpPr>
        <p:spPr>
          <a:xfrm>
            <a:off x="548640" y="2148840"/>
            <a:ext cx="3520440" cy="1691640"/>
          </a:xfrm>
          <a:prstGeom prst="roundRect">
            <a:avLst>
              <a:gd name="adj" fmla="val 5405"/>
            </a:avLst>
          </a:prstGeom>
          <a:solidFill>
            <a:srgbClr val="F1F5F9"/>
          </a:solidFill>
          <a:ln/>
          <a:effectLst>
            <a:outerShdw sx="100000" sy="100000" kx="0" ky="0" algn="bl" rotWithShape="0" blurRad="127000" dist="38100" dir="5400000">
              <a:srgbClr val="0F172A">
                <a:alpha val="10000"/>
              </a:srgbClr>
            </a:outerShdw>
          </a:effectLst>
        </p:spPr>
      </p:sp>
      <p:sp>
        <p:nvSpPr>
          <p:cNvPr id="5" name="Shape 3"/>
          <p:cNvSpPr/>
          <p:nvPr/>
        </p:nvSpPr>
        <p:spPr>
          <a:xfrm>
            <a:off x="777240" y="2331720"/>
            <a:ext cx="548640" cy="548640"/>
          </a:xfrm>
          <a:prstGeom prst="ellipse">
            <a:avLst/>
          </a:prstGeom>
          <a:solidFill>
            <a:srgbClr val="FEE2E2"/>
          </a:solidFill>
          <a:ln/>
          <a:effectLst>
            <a:outerShdw sx="100000" sy="100000" kx="0" ky="0" algn="bl" rotWithShape="0" blurRad="101600" dist="38100" dir="5400000">
              <a:srgbClr val="0F172A">
                <a:alpha val="18000"/>
              </a:srgbClr>
            </a:outerShdw>
          </a:effectLst>
        </p:spPr>
      </p:sp>
      <p:pic>
        <p:nvPicPr>
          <p:cNvPr id="6" name="Image 0" descr="/home/claude/civic-deck/icons/route.png">    </p:cNvPr>
          <p:cNvPicPr>
            <a:picLocks noChangeAspect="1"/>
          </p:cNvPicPr>
          <p:nvPr/>
        </p:nvPicPr>
        <p:blipFill>
          <a:blip r:embed="rId1"/>
          <a:stretch>
            <a:fillRect/>
          </a:stretch>
        </p:blipFill>
        <p:spPr>
          <a:xfrm>
            <a:off x="914400" y="2468880"/>
            <a:ext cx="274320" cy="274320"/>
          </a:xfrm>
          <a:prstGeom prst="rect">
            <a:avLst/>
          </a:prstGeom>
        </p:spPr>
      </p:pic>
      <p:sp>
        <p:nvSpPr>
          <p:cNvPr id="7" name="Text 4"/>
          <p:cNvSpPr/>
          <p:nvPr/>
        </p:nvSpPr>
        <p:spPr>
          <a:xfrm>
            <a:off x="804672" y="2990088"/>
            <a:ext cx="3008376" cy="320040"/>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Manual Routing</a:t>
            </a:r>
            <a:endParaRPr lang="en-US" sz="1350" dirty="0"/>
          </a:p>
        </p:txBody>
      </p:sp>
      <p:sp>
        <p:nvSpPr>
          <p:cNvPr id="8" name="Text 5"/>
          <p:cNvSpPr/>
          <p:nvPr/>
        </p:nvSpPr>
        <p:spPr>
          <a:xfrm>
            <a:off x="804672" y="3300984"/>
            <a:ext cx="3008376" cy="45720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Inter" pitchFamily="34" charset="0"/>
                <a:ea typeface="Inter" pitchFamily="34" charset="-122"/>
                <a:cs typeface="Inter" pitchFamily="34" charset="-120"/>
              </a:rPr>
              <a:t>Staff triage every complaint by hand before it reaches a department.</a:t>
            </a:r>
            <a:endParaRPr lang="en-US" sz="1000" dirty="0"/>
          </a:p>
        </p:txBody>
      </p:sp>
      <p:sp>
        <p:nvSpPr>
          <p:cNvPr id="9" name="Shape 6"/>
          <p:cNvSpPr/>
          <p:nvPr/>
        </p:nvSpPr>
        <p:spPr>
          <a:xfrm>
            <a:off x="4325112" y="2148840"/>
            <a:ext cx="3520440" cy="1691640"/>
          </a:xfrm>
          <a:prstGeom prst="roundRect">
            <a:avLst>
              <a:gd name="adj" fmla="val 5405"/>
            </a:avLst>
          </a:prstGeom>
          <a:solidFill>
            <a:srgbClr val="F1F5F9"/>
          </a:solidFill>
          <a:ln/>
          <a:effectLst>
            <a:outerShdw sx="100000" sy="100000" kx="0" ky="0" algn="bl" rotWithShape="0" blurRad="127000" dist="38100" dir="5400000">
              <a:srgbClr val="0F172A">
                <a:alpha val="10000"/>
              </a:srgbClr>
            </a:outerShdw>
          </a:effectLst>
        </p:spPr>
      </p:sp>
      <p:sp>
        <p:nvSpPr>
          <p:cNvPr id="10" name="Shape 7"/>
          <p:cNvSpPr/>
          <p:nvPr/>
        </p:nvSpPr>
        <p:spPr>
          <a:xfrm>
            <a:off x="4553712" y="2331720"/>
            <a:ext cx="548640" cy="548640"/>
          </a:xfrm>
          <a:prstGeom prst="ellipse">
            <a:avLst/>
          </a:prstGeom>
          <a:solidFill>
            <a:srgbClr val="FEE2E2"/>
          </a:solidFill>
          <a:ln/>
          <a:effectLst>
            <a:outerShdw sx="100000" sy="100000" kx="0" ky="0" algn="bl" rotWithShape="0" blurRad="101600" dist="38100" dir="5400000">
              <a:srgbClr val="0F172A">
                <a:alpha val="18000"/>
              </a:srgbClr>
            </a:outerShdw>
          </a:effectLst>
        </p:spPr>
      </p:sp>
      <p:pic>
        <p:nvPicPr>
          <p:cNvPr id="11" name="Image 1" descr="/home/claude/civic-deck/icons/clock.png">    </p:cNvPr>
          <p:cNvPicPr>
            <a:picLocks noChangeAspect="1"/>
          </p:cNvPicPr>
          <p:nvPr/>
        </p:nvPicPr>
        <p:blipFill>
          <a:blip r:embed="rId2"/>
          <a:stretch>
            <a:fillRect/>
          </a:stretch>
        </p:blipFill>
        <p:spPr>
          <a:xfrm>
            <a:off x="4690872" y="2468880"/>
            <a:ext cx="274320" cy="274320"/>
          </a:xfrm>
          <a:prstGeom prst="rect">
            <a:avLst/>
          </a:prstGeom>
        </p:spPr>
      </p:pic>
      <p:sp>
        <p:nvSpPr>
          <p:cNvPr id="12" name="Text 8"/>
          <p:cNvSpPr/>
          <p:nvPr/>
        </p:nvSpPr>
        <p:spPr>
          <a:xfrm>
            <a:off x="4581144" y="2990088"/>
            <a:ext cx="3008376" cy="320040"/>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Slow Response</a:t>
            </a:r>
            <a:endParaRPr lang="en-US" sz="1350" dirty="0"/>
          </a:p>
        </p:txBody>
      </p:sp>
      <p:sp>
        <p:nvSpPr>
          <p:cNvPr id="13" name="Text 9"/>
          <p:cNvSpPr/>
          <p:nvPr/>
        </p:nvSpPr>
        <p:spPr>
          <a:xfrm>
            <a:off x="4581144" y="3300984"/>
            <a:ext cx="3008376" cy="45720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Inter" pitchFamily="34" charset="0"/>
                <a:ea typeface="Inter" pitchFamily="34" charset="-122"/>
                <a:cs typeface="Inter" pitchFamily="34" charset="-120"/>
              </a:rPr>
              <a:t>Multi-day delays between submission and the right team seeing it.</a:t>
            </a:r>
            <a:endParaRPr lang="en-US" sz="1000" dirty="0"/>
          </a:p>
        </p:txBody>
      </p:sp>
      <p:sp>
        <p:nvSpPr>
          <p:cNvPr id="14" name="Shape 10"/>
          <p:cNvSpPr/>
          <p:nvPr/>
        </p:nvSpPr>
        <p:spPr>
          <a:xfrm>
            <a:off x="8101584" y="2148840"/>
            <a:ext cx="3520440" cy="1691640"/>
          </a:xfrm>
          <a:prstGeom prst="roundRect">
            <a:avLst>
              <a:gd name="adj" fmla="val 5405"/>
            </a:avLst>
          </a:prstGeom>
          <a:solidFill>
            <a:srgbClr val="F1F5F9"/>
          </a:solidFill>
          <a:ln/>
          <a:effectLst>
            <a:outerShdw sx="100000" sy="100000" kx="0" ky="0" algn="bl" rotWithShape="0" blurRad="127000" dist="38100" dir="5400000">
              <a:srgbClr val="0F172A">
                <a:alpha val="10000"/>
              </a:srgbClr>
            </a:outerShdw>
          </a:effectLst>
        </p:spPr>
      </p:sp>
      <p:sp>
        <p:nvSpPr>
          <p:cNvPr id="15" name="Shape 11"/>
          <p:cNvSpPr/>
          <p:nvPr/>
        </p:nvSpPr>
        <p:spPr>
          <a:xfrm>
            <a:off x="8330184" y="2331720"/>
            <a:ext cx="548640" cy="548640"/>
          </a:xfrm>
          <a:prstGeom prst="ellipse">
            <a:avLst/>
          </a:prstGeom>
          <a:solidFill>
            <a:srgbClr val="FEE2E2"/>
          </a:solidFill>
          <a:ln/>
          <a:effectLst>
            <a:outerShdw sx="100000" sy="100000" kx="0" ky="0" algn="bl" rotWithShape="0" blurRad="101600" dist="38100" dir="5400000">
              <a:srgbClr val="0F172A">
                <a:alpha val="18000"/>
              </a:srgbClr>
            </a:outerShdw>
          </a:effectLst>
        </p:spPr>
      </p:sp>
      <p:pic>
        <p:nvPicPr>
          <p:cNvPr id="16" name="Image 2" descr="/home/claude/civic-deck/icons/clone.png">    </p:cNvPr>
          <p:cNvPicPr>
            <a:picLocks noChangeAspect="1"/>
          </p:cNvPicPr>
          <p:nvPr/>
        </p:nvPicPr>
        <p:blipFill>
          <a:blip r:embed="rId3"/>
          <a:stretch>
            <a:fillRect/>
          </a:stretch>
        </p:blipFill>
        <p:spPr>
          <a:xfrm>
            <a:off x="8467344" y="2468880"/>
            <a:ext cx="274320" cy="274320"/>
          </a:xfrm>
          <a:prstGeom prst="rect">
            <a:avLst/>
          </a:prstGeom>
        </p:spPr>
      </p:pic>
      <p:sp>
        <p:nvSpPr>
          <p:cNvPr id="17" name="Text 12"/>
          <p:cNvSpPr/>
          <p:nvPr/>
        </p:nvSpPr>
        <p:spPr>
          <a:xfrm>
            <a:off x="8357616" y="2990088"/>
            <a:ext cx="3008376" cy="320040"/>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Duplicate Complaints</a:t>
            </a:r>
            <a:endParaRPr lang="en-US" sz="1350" dirty="0"/>
          </a:p>
        </p:txBody>
      </p:sp>
      <p:sp>
        <p:nvSpPr>
          <p:cNvPr id="18" name="Text 13"/>
          <p:cNvSpPr/>
          <p:nvPr/>
        </p:nvSpPr>
        <p:spPr>
          <a:xfrm>
            <a:off x="8357616" y="3300984"/>
            <a:ext cx="3008376" cy="45720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Inter" pitchFamily="34" charset="0"/>
                <a:ea typeface="Inter" pitchFamily="34" charset="-122"/>
                <a:cs typeface="Inter" pitchFamily="34" charset="-120"/>
              </a:rPr>
              <a:t>The same civic issue is logged repeatedly with no de-duplication.</a:t>
            </a:r>
            <a:endParaRPr lang="en-US" sz="1000" dirty="0"/>
          </a:p>
        </p:txBody>
      </p:sp>
      <p:sp>
        <p:nvSpPr>
          <p:cNvPr id="19" name="Shape 14"/>
          <p:cNvSpPr/>
          <p:nvPr/>
        </p:nvSpPr>
        <p:spPr>
          <a:xfrm>
            <a:off x="548640" y="4096512"/>
            <a:ext cx="3520440" cy="1691640"/>
          </a:xfrm>
          <a:prstGeom prst="roundRect">
            <a:avLst>
              <a:gd name="adj" fmla="val 5405"/>
            </a:avLst>
          </a:prstGeom>
          <a:solidFill>
            <a:srgbClr val="F1F5F9"/>
          </a:solidFill>
          <a:ln/>
          <a:effectLst>
            <a:outerShdw sx="100000" sy="100000" kx="0" ky="0" algn="bl" rotWithShape="0" blurRad="127000" dist="38100" dir="5400000">
              <a:srgbClr val="0F172A">
                <a:alpha val="10000"/>
              </a:srgbClr>
            </a:outerShdw>
          </a:effectLst>
        </p:spPr>
      </p:sp>
      <p:sp>
        <p:nvSpPr>
          <p:cNvPr id="20" name="Shape 15"/>
          <p:cNvSpPr/>
          <p:nvPr/>
        </p:nvSpPr>
        <p:spPr>
          <a:xfrm>
            <a:off x="777240" y="4279392"/>
            <a:ext cx="548640" cy="548640"/>
          </a:xfrm>
          <a:prstGeom prst="ellipse">
            <a:avLst/>
          </a:prstGeom>
          <a:solidFill>
            <a:srgbClr val="FEE2E2"/>
          </a:solidFill>
          <a:ln/>
          <a:effectLst>
            <a:outerShdw sx="100000" sy="100000" kx="0" ky="0" algn="bl" rotWithShape="0" blurRad="101600" dist="38100" dir="5400000">
              <a:srgbClr val="0F172A">
                <a:alpha val="18000"/>
              </a:srgbClr>
            </a:outerShdw>
          </a:effectLst>
        </p:spPr>
      </p:sp>
      <p:pic>
        <p:nvPicPr>
          <p:cNvPr id="21" name="Image 3" descr="/home/claude/civic-deck/icons/searchMinus.png">    </p:cNvPr>
          <p:cNvPicPr>
            <a:picLocks noChangeAspect="1"/>
          </p:cNvPicPr>
          <p:nvPr/>
        </p:nvPicPr>
        <p:blipFill>
          <a:blip r:embed="rId4"/>
          <a:stretch>
            <a:fillRect/>
          </a:stretch>
        </p:blipFill>
        <p:spPr>
          <a:xfrm>
            <a:off x="914400" y="4416552"/>
            <a:ext cx="274320" cy="274320"/>
          </a:xfrm>
          <a:prstGeom prst="rect">
            <a:avLst/>
          </a:prstGeom>
        </p:spPr>
      </p:pic>
      <p:sp>
        <p:nvSpPr>
          <p:cNvPr id="22" name="Text 16"/>
          <p:cNvSpPr/>
          <p:nvPr/>
        </p:nvSpPr>
        <p:spPr>
          <a:xfrm>
            <a:off x="804672" y="4937760"/>
            <a:ext cx="3008376" cy="320040"/>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No Semantic Understanding</a:t>
            </a:r>
            <a:endParaRPr lang="en-US" sz="1350" dirty="0"/>
          </a:p>
        </p:txBody>
      </p:sp>
      <p:sp>
        <p:nvSpPr>
          <p:cNvPr id="23" name="Text 17"/>
          <p:cNvSpPr/>
          <p:nvPr/>
        </p:nvSpPr>
        <p:spPr>
          <a:xfrm>
            <a:off x="804672" y="5248656"/>
            <a:ext cx="3008376" cy="45720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Inter" pitchFamily="34" charset="0"/>
                <a:ea typeface="Inter" pitchFamily="34" charset="-122"/>
                <a:cs typeface="Inter" pitchFamily="34" charset="-120"/>
              </a:rPr>
              <a:t>Keyword search misses complaints phrased in unfamiliar words.</a:t>
            </a:r>
            <a:endParaRPr lang="en-US" sz="1000" dirty="0"/>
          </a:p>
        </p:txBody>
      </p:sp>
      <p:sp>
        <p:nvSpPr>
          <p:cNvPr id="24" name="Shape 18"/>
          <p:cNvSpPr/>
          <p:nvPr/>
        </p:nvSpPr>
        <p:spPr>
          <a:xfrm>
            <a:off x="4325112" y="4096512"/>
            <a:ext cx="3520440" cy="1691640"/>
          </a:xfrm>
          <a:prstGeom prst="roundRect">
            <a:avLst>
              <a:gd name="adj" fmla="val 5405"/>
            </a:avLst>
          </a:prstGeom>
          <a:solidFill>
            <a:srgbClr val="F1F5F9"/>
          </a:solidFill>
          <a:ln/>
          <a:effectLst>
            <a:outerShdw sx="100000" sy="100000" kx="0" ky="0" algn="bl" rotWithShape="0" blurRad="127000" dist="38100" dir="5400000">
              <a:srgbClr val="0F172A">
                <a:alpha val="10000"/>
              </a:srgbClr>
            </a:outerShdw>
          </a:effectLst>
        </p:spPr>
      </p:sp>
      <p:sp>
        <p:nvSpPr>
          <p:cNvPr id="25" name="Shape 19"/>
          <p:cNvSpPr/>
          <p:nvPr/>
        </p:nvSpPr>
        <p:spPr>
          <a:xfrm>
            <a:off x="4553712" y="4279392"/>
            <a:ext cx="548640" cy="548640"/>
          </a:xfrm>
          <a:prstGeom prst="ellipse">
            <a:avLst/>
          </a:prstGeom>
          <a:solidFill>
            <a:srgbClr val="FEE2E2"/>
          </a:solidFill>
          <a:ln/>
          <a:effectLst>
            <a:outerShdw sx="100000" sy="100000" kx="0" ky="0" algn="bl" rotWithShape="0" blurRad="101600" dist="38100" dir="5400000">
              <a:srgbClr val="0F172A">
                <a:alpha val="18000"/>
              </a:srgbClr>
            </a:outerShdw>
          </a:effectLst>
        </p:spPr>
      </p:sp>
      <p:pic>
        <p:nvPicPr>
          <p:cNvPr id="26" name="Image 4" descr="/home/claude/civic-deck/icons/chartLine.png">    </p:cNvPr>
          <p:cNvPicPr>
            <a:picLocks noChangeAspect="1"/>
          </p:cNvPicPr>
          <p:nvPr/>
        </p:nvPicPr>
        <p:blipFill>
          <a:blip r:embed="rId5"/>
          <a:stretch>
            <a:fillRect/>
          </a:stretch>
        </p:blipFill>
        <p:spPr>
          <a:xfrm>
            <a:off x="4690872" y="4416552"/>
            <a:ext cx="274320" cy="274320"/>
          </a:xfrm>
          <a:prstGeom prst="rect">
            <a:avLst/>
          </a:prstGeom>
        </p:spPr>
      </p:pic>
      <p:sp>
        <p:nvSpPr>
          <p:cNvPr id="27" name="Text 20"/>
          <p:cNvSpPr/>
          <p:nvPr/>
        </p:nvSpPr>
        <p:spPr>
          <a:xfrm>
            <a:off x="4581144" y="4937760"/>
            <a:ext cx="3008376" cy="320040"/>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Poor Scalability</a:t>
            </a:r>
            <a:endParaRPr lang="en-US" sz="1350" dirty="0"/>
          </a:p>
        </p:txBody>
      </p:sp>
      <p:sp>
        <p:nvSpPr>
          <p:cNvPr id="28" name="Text 21"/>
          <p:cNvSpPr/>
          <p:nvPr/>
        </p:nvSpPr>
        <p:spPr>
          <a:xfrm>
            <a:off x="4581144" y="5248656"/>
            <a:ext cx="3008376" cy="45720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Inter" pitchFamily="34" charset="0"/>
                <a:ea typeface="Inter" pitchFamily="34" charset="-122"/>
                <a:cs typeface="Inter" pitchFamily="34" charset="-120"/>
              </a:rPr>
              <a:t>Manual processes buckle as complaint volume grows city-wide.</a:t>
            </a:r>
            <a:endParaRPr lang="en-US" sz="1000" dirty="0"/>
          </a:p>
        </p:txBody>
      </p:sp>
      <p:sp>
        <p:nvSpPr>
          <p:cNvPr id="29" name="Shape 22"/>
          <p:cNvSpPr/>
          <p:nvPr/>
        </p:nvSpPr>
        <p:spPr>
          <a:xfrm>
            <a:off x="8101584" y="4096512"/>
            <a:ext cx="3520440" cy="1691640"/>
          </a:xfrm>
          <a:prstGeom prst="roundRect">
            <a:avLst>
              <a:gd name="adj" fmla="val 5405"/>
            </a:avLst>
          </a:prstGeom>
          <a:solidFill>
            <a:srgbClr val="F1F5F9"/>
          </a:solidFill>
          <a:ln/>
          <a:effectLst>
            <a:outerShdw sx="100000" sy="100000" kx="0" ky="0" algn="bl" rotWithShape="0" blurRad="127000" dist="38100" dir="5400000">
              <a:srgbClr val="0F172A">
                <a:alpha val="10000"/>
              </a:srgbClr>
            </a:outerShdw>
          </a:effectLst>
        </p:spPr>
      </p:sp>
      <p:sp>
        <p:nvSpPr>
          <p:cNvPr id="30" name="Shape 23"/>
          <p:cNvSpPr/>
          <p:nvPr/>
        </p:nvSpPr>
        <p:spPr>
          <a:xfrm>
            <a:off x="8330184" y="4279392"/>
            <a:ext cx="548640" cy="548640"/>
          </a:xfrm>
          <a:prstGeom prst="ellipse">
            <a:avLst/>
          </a:prstGeom>
          <a:solidFill>
            <a:srgbClr val="FEE2E2"/>
          </a:solidFill>
          <a:ln/>
          <a:effectLst>
            <a:outerShdw sx="100000" sy="100000" kx="0" ky="0" algn="bl" rotWithShape="0" blurRad="101600" dist="38100" dir="5400000">
              <a:srgbClr val="0F172A">
                <a:alpha val="18000"/>
              </a:srgbClr>
            </a:outerShdw>
          </a:effectLst>
        </p:spPr>
      </p:sp>
      <p:pic>
        <p:nvPicPr>
          <p:cNvPr id="31" name="Image 5" descr="/home/claude/civic-deck/icons/triangleExclaim.png">    </p:cNvPr>
          <p:cNvPicPr>
            <a:picLocks noChangeAspect="1"/>
          </p:cNvPicPr>
          <p:nvPr/>
        </p:nvPicPr>
        <p:blipFill>
          <a:blip r:embed="rId6"/>
          <a:stretch>
            <a:fillRect/>
          </a:stretch>
        </p:blipFill>
        <p:spPr>
          <a:xfrm>
            <a:off x="8467344" y="4416552"/>
            <a:ext cx="274320" cy="274320"/>
          </a:xfrm>
          <a:prstGeom prst="rect">
            <a:avLst/>
          </a:prstGeom>
        </p:spPr>
      </p:pic>
      <p:sp>
        <p:nvSpPr>
          <p:cNvPr id="32" name="Text 24"/>
          <p:cNvSpPr/>
          <p:nvPr/>
        </p:nvSpPr>
        <p:spPr>
          <a:xfrm>
            <a:off x="8357616" y="4937760"/>
            <a:ext cx="3008376" cy="320040"/>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Wrong Department</a:t>
            </a:r>
            <a:endParaRPr lang="en-US" sz="1350" dirty="0"/>
          </a:p>
        </p:txBody>
      </p:sp>
      <p:sp>
        <p:nvSpPr>
          <p:cNvPr id="33" name="Text 25"/>
          <p:cNvSpPr/>
          <p:nvPr/>
        </p:nvSpPr>
        <p:spPr>
          <a:xfrm>
            <a:off x="8357616" y="5248656"/>
            <a:ext cx="3008376" cy="45720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Inter" pitchFamily="34" charset="0"/>
                <a:ea typeface="Inter" pitchFamily="34" charset="-122"/>
                <a:cs typeface="Inter" pitchFamily="34" charset="-120"/>
              </a:rPr>
              <a:t>Misassigned tickets bounce between departments, wasting cycles.</a:t>
            </a:r>
            <a:endParaRPr lang="en-US" sz="1000" dirty="0"/>
          </a:p>
        </p:txBody>
      </p:sp>
      <p:sp>
        <p:nvSpPr>
          <p:cNvPr id="34" name="Shape 26"/>
          <p:cNvSpPr/>
          <p:nvPr/>
        </p:nvSpPr>
        <p:spPr>
          <a:xfrm>
            <a:off x="548640" y="5870448"/>
            <a:ext cx="11091672" cy="548640"/>
          </a:xfrm>
          <a:prstGeom prst="roundRect">
            <a:avLst>
              <a:gd name="adj" fmla="val 16667"/>
            </a:avLst>
          </a:prstGeom>
          <a:solidFill>
            <a:srgbClr val="0F172A"/>
          </a:solidFill>
          <a:ln/>
        </p:spPr>
      </p:sp>
      <p:sp>
        <p:nvSpPr>
          <p:cNvPr id="35" name="Text 27"/>
          <p:cNvSpPr/>
          <p:nvPr/>
        </p:nvSpPr>
        <p:spPr>
          <a:xfrm>
            <a:off x="822960" y="5870448"/>
            <a:ext cx="10515600" cy="548640"/>
          </a:xfrm>
          <a:prstGeom prst="rect">
            <a:avLst/>
          </a:prstGeom>
          <a:noFill/>
          <a:ln/>
        </p:spPr>
        <p:txBody>
          <a:bodyPr wrap="square" lIns="0" tIns="0" rIns="0" bIns="0" rtlCol="0" anchor="ctr"/>
          <a:lstStyle/>
          <a:p>
            <a:pPr indent="0" marL="0">
              <a:buNone/>
            </a:pPr>
            <a:r>
              <a:rPr lang="en-US" sz="1250" i="1" dirty="0">
                <a:solidFill>
                  <a:srgbClr val="E2E8F0"/>
                </a:solidFill>
                <a:latin typeface="Inter" pitchFamily="34" charset="0"/>
                <a:ea typeface="Inter" pitchFamily="34" charset="-122"/>
                <a:cs typeface="Inter" pitchFamily="34" charset="-120"/>
              </a:rPr>
              <a:t>Citizens need a system that understands what they mean — not just the words they type.</a:t>
            </a:r>
            <a:endParaRPr lang="en-US" sz="1250" dirty="0"/>
          </a:p>
        </p:txBody>
      </p:sp>
      <p:sp>
        <p:nvSpPr>
          <p:cNvPr id="36" name="Text 28"/>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37" name="Text 29"/>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Problem Statement</a:t>
            </a:r>
            <a:endParaRPr lang="en-US" sz="900" dirty="0"/>
          </a:p>
        </p:txBody>
      </p:sp>
      <p:sp>
        <p:nvSpPr>
          <p:cNvPr id="38" name="Text 30"/>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10B981"/>
                </a:solidFill>
                <a:latin typeface="Inter" pitchFamily="34" charset="0"/>
                <a:ea typeface="Inter" pitchFamily="34" charset="-122"/>
                <a:cs typeface="Inter" pitchFamily="34" charset="-120"/>
              </a:rPr>
              <a:t>THE SOLUTION</a:t>
            </a:r>
            <a:endParaRPr lang="en-US" sz="1200" dirty="0"/>
          </a:p>
        </p:txBody>
      </p:sp>
      <p:sp>
        <p:nvSpPr>
          <p:cNvPr id="3" name="Text 1"/>
          <p:cNvSpPr/>
          <p:nvPr/>
        </p:nvSpPr>
        <p:spPr>
          <a:xfrm>
            <a:off x="548640" y="777240"/>
            <a:ext cx="7772400" cy="1005840"/>
          </a:xfrm>
          <a:prstGeom prst="rect">
            <a:avLst/>
          </a:prstGeom>
          <a:noFill/>
          <a:ln/>
        </p:spPr>
        <p:txBody>
          <a:bodyPr wrap="square" lIns="0" tIns="0" rIns="0" bIns="0" rtlCol="0" anchor="ctr"/>
          <a:lstStyle/>
          <a:p>
            <a:pPr algn="l" indent="0" marL="0">
              <a:lnSpc>
                <a:spcPct val="102000"/>
              </a:lnSpc>
              <a:buNone/>
            </a:pPr>
            <a:r>
              <a:rPr lang="en-US" sz="2700" b="1" dirty="0">
                <a:solidFill>
                  <a:srgbClr val="0F172A"/>
                </a:solidFill>
                <a:latin typeface="Poppins" pitchFamily="34" charset="0"/>
                <a:ea typeface="Poppins" pitchFamily="34" charset="-122"/>
                <a:cs typeface="Poppins" pitchFamily="34" charset="-120"/>
              </a:rPr>
              <a:t>GraphRAG: complaints understood by</a:t>
            </a:r>
            <a:endParaRPr lang="en-US" sz="2700" dirty="0"/>
          </a:p>
          <a:p>
            <a:pPr algn="l" indent="0" marL="0">
              <a:lnSpc>
                <a:spcPct val="102000"/>
              </a:lnSpc>
              <a:buNone/>
            </a:pPr>
            <a:r>
              <a:rPr lang="en-US" sz="2700" b="1" dirty="0">
                <a:solidFill>
                  <a:srgbClr val="0F172A"/>
                </a:solidFill>
                <a:latin typeface="Poppins" pitchFamily="34" charset="0"/>
                <a:ea typeface="Poppins" pitchFamily="34" charset="-122"/>
                <a:cs typeface="Poppins" pitchFamily="34" charset="-120"/>
              </a:rPr>
              <a:t>meaning, not by matching keywords</a:t>
            </a:r>
            <a:endParaRPr lang="en-US" sz="2700" dirty="0"/>
          </a:p>
        </p:txBody>
      </p:sp>
      <p:sp>
        <p:nvSpPr>
          <p:cNvPr id="4" name="Text 2"/>
          <p:cNvSpPr/>
          <p:nvPr/>
        </p:nvSpPr>
        <p:spPr>
          <a:xfrm>
            <a:off x="548640" y="1874520"/>
            <a:ext cx="6309360" cy="1463040"/>
          </a:xfrm>
          <a:prstGeom prst="rect">
            <a:avLst/>
          </a:prstGeom>
          <a:noFill/>
          <a:ln/>
        </p:spPr>
        <p:txBody>
          <a:bodyPr wrap="square" lIns="0" tIns="0" rIns="0" bIns="0" rtlCol="0" anchor="t"/>
          <a:lstStyle/>
          <a:p>
            <a:pPr algn="l" indent="0" marL="0">
              <a:lnSpc>
                <a:spcPct val="125000"/>
              </a:lnSpc>
              <a:buNone/>
            </a:pPr>
            <a:r>
              <a:rPr lang="en-US" sz="1250" dirty="0">
                <a:solidFill>
                  <a:srgbClr val="64748B"/>
                </a:solidFill>
                <a:latin typeface="Inter" pitchFamily="34" charset="0"/>
                <a:ea typeface="Inter" pitchFamily="34" charset="-122"/>
                <a:cs typeface="Inter" pitchFamily="34" charset="-120"/>
              </a:rPr>
              <a:t>Civic Intelligence is an AI-powered complaint management platform that fuses a Knowledge Graph with Vector Search so every complaint is read for context — who is affected, what infrastructure is involved, and which department actually owns it — then routed automatically.</a:t>
            </a:r>
            <a:endParaRPr lang="en-US" sz="1250" dirty="0"/>
          </a:p>
        </p:txBody>
      </p:sp>
      <p:sp>
        <p:nvSpPr>
          <p:cNvPr id="5" name="Shape 3"/>
          <p:cNvSpPr/>
          <p:nvPr/>
        </p:nvSpPr>
        <p:spPr>
          <a:xfrm>
            <a:off x="612648" y="3584448"/>
            <a:ext cx="566928" cy="566928"/>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6" name="Image 0" descr="/home/claude/civic-deck/icons/brain.png">    </p:cNvPr>
          <p:cNvPicPr>
            <a:picLocks noChangeAspect="1"/>
          </p:cNvPicPr>
          <p:nvPr/>
        </p:nvPicPr>
        <p:blipFill>
          <a:blip r:embed="rId1"/>
          <a:stretch>
            <a:fillRect/>
          </a:stretch>
        </p:blipFill>
        <p:spPr>
          <a:xfrm>
            <a:off x="754380" y="3726180"/>
            <a:ext cx="283464" cy="283464"/>
          </a:xfrm>
          <a:prstGeom prst="rect">
            <a:avLst/>
          </a:prstGeom>
        </p:spPr>
      </p:pic>
      <p:sp>
        <p:nvSpPr>
          <p:cNvPr id="7" name="Text 4"/>
          <p:cNvSpPr/>
          <p:nvPr/>
        </p:nvSpPr>
        <p:spPr>
          <a:xfrm>
            <a:off x="1298448" y="3520440"/>
            <a:ext cx="5394960" cy="310896"/>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Large Language Model</a:t>
            </a:r>
            <a:endParaRPr lang="en-US" sz="1350" dirty="0"/>
          </a:p>
        </p:txBody>
      </p:sp>
      <p:sp>
        <p:nvSpPr>
          <p:cNvPr id="8" name="Text 5"/>
          <p:cNvSpPr/>
          <p:nvPr/>
        </p:nvSpPr>
        <p:spPr>
          <a:xfrm>
            <a:off x="1298448" y="3831336"/>
            <a:ext cx="5394960" cy="45720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Inter" pitchFamily="34" charset="0"/>
                <a:ea typeface="Inter" pitchFamily="34" charset="-122"/>
                <a:cs typeface="Inter" pitchFamily="34" charset="-120"/>
              </a:rPr>
              <a:t>Qwen 3 extracts entities and intent directly from free-text complaints.</a:t>
            </a:r>
            <a:endParaRPr lang="en-US" sz="1050" dirty="0"/>
          </a:p>
        </p:txBody>
      </p:sp>
      <p:sp>
        <p:nvSpPr>
          <p:cNvPr id="9" name="Shape 6"/>
          <p:cNvSpPr/>
          <p:nvPr/>
        </p:nvSpPr>
        <p:spPr>
          <a:xfrm>
            <a:off x="612648" y="4636008"/>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10" name="Image 1" descr="/home/claude/civic-deck/icons/diagramProject.png">    </p:cNvPr>
          <p:cNvPicPr>
            <a:picLocks noChangeAspect="1"/>
          </p:cNvPicPr>
          <p:nvPr/>
        </p:nvPicPr>
        <p:blipFill>
          <a:blip r:embed="rId2"/>
          <a:stretch>
            <a:fillRect/>
          </a:stretch>
        </p:blipFill>
        <p:spPr>
          <a:xfrm>
            <a:off x="754380" y="4777740"/>
            <a:ext cx="283464" cy="283464"/>
          </a:xfrm>
          <a:prstGeom prst="rect">
            <a:avLst/>
          </a:prstGeom>
        </p:spPr>
      </p:pic>
      <p:sp>
        <p:nvSpPr>
          <p:cNvPr id="11" name="Text 7"/>
          <p:cNvSpPr/>
          <p:nvPr/>
        </p:nvSpPr>
        <p:spPr>
          <a:xfrm>
            <a:off x="1298448" y="4572000"/>
            <a:ext cx="5394960" cy="310896"/>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Knowledge Graph</a:t>
            </a:r>
            <a:endParaRPr lang="en-US" sz="1350" dirty="0"/>
          </a:p>
        </p:txBody>
      </p:sp>
      <p:sp>
        <p:nvSpPr>
          <p:cNvPr id="12" name="Text 8"/>
          <p:cNvSpPr/>
          <p:nvPr/>
        </p:nvSpPr>
        <p:spPr>
          <a:xfrm>
            <a:off x="1298448" y="4882896"/>
            <a:ext cx="5394960" cy="45720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Inter" pitchFamily="34" charset="0"/>
                <a:ea typeface="Inter" pitchFamily="34" charset="-122"/>
                <a:cs typeface="Inter" pitchFamily="34" charset="-120"/>
              </a:rPr>
              <a:t>Neo4j encodes departments, assets, and their real relationships.</a:t>
            </a:r>
            <a:endParaRPr lang="en-US" sz="1050" dirty="0"/>
          </a:p>
        </p:txBody>
      </p:sp>
      <p:sp>
        <p:nvSpPr>
          <p:cNvPr id="13" name="Shape 9"/>
          <p:cNvSpPr/>
          <p:nvPr/>
        </p:nvSpPr>
        <p:spPr>
          <a:xfrm>
            <a:off x="612648" y="5687568"/>
            <a:ext cx="566928" cy="566928"/>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14" name="Image 2" descr="/home/claude/civic-deck/icons/bolt.png">    </p:cNvPr>
          <p:cNvPicPr>
            <a:picLocks noChangeAspect="1"/>
          </p:cNvPicPr>
          <p:nvPr/>
        </p:nvPicPr>
        <p:blipFill>
          <a:blip r:embed="rId3"/>
          <a:stretch>
            <a:fillRect/>
          </a:stretch>
        </p:blipFill>
        <p:spPr>
          <a:xfrm>
            <a:off x="754380" y="5829300"/>
            <a:ext cx="283464" cy="283464"/>
          </a:xfrm>
          <a:prstGeom prst="rect">
            <a:avLst/>
          </a:prstGeom>
        </p:spPr>
      </p:pic>
      <p:sp>
        <p:nvSpPr>
          <p:cNvPr id="15" name="Text 10"/>
          <p:cNvSpPr/>
          <p:nvPr/>
        </p:nvSpPr>
        <p:spPr>
          <a:xfrm>
            <a:off x="1298448" y="5623560"/>
            <a:ext cx="5394960" cy="310896"/>
          </a:xfrm>
          <a:prstGeom prst="rect">
            <a:avLst/>
          </a:prstGeom>
          <a:noFill/>
          <a:ln/>
        </p:spPr>
        <p:txBody>
          <a:bodyPr wrap="square" lIns="0" tIns="0" rIns="0" bIns="0" rtlCol="0" anchor="ctr"/>
          <a:lstStyle/>
          <a:p>
            <a:pPr indent="0" marL="0">
              <a:buNone/>
            </a:pPr>
            <a:r>
              <a:rPr lang="en-US" sz="1350" b="1" dirty="0">
                <a:solidFill>
                  <a:srgbClr val="0F172A"/>
                </a:solidFill>
                <a:latin typeface="Poppins" pitchFamily="34" charset="0"/>
                <a:ea typeface="Poppins" pitchFamily="34" charset="-122"/>
                <a:cs typeface="Poppins" pitchFamily="34" charset="-120"/>
              </a:rPr>
              <a:t>Vector Search</a:t>
            </a:r>
            <a:endParaRPr lang="en-US" sz="1350" dirty="0"/>
          </a:p>
        </p:txBody>
      </p:sp>
      <p:sp>
        <p:nvSpPr>
          <p:cNvPr id="16" name="Text 11"/>
          <p:cNvSpPr/>
          <p:nvPr/>
        </p:nvSpPr>
        <p:spPr>
          <a:xfrm>
            <a:off x="1298448" y="5934456"/>
            <a:ext cx="5394960" cy="45720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Inter" pitchFamily="34" charset="0"/>
                <a:ea typeface="Inter" pitchFamily="34" charset="-122"/>
                <a:cs typeface="Inter" pitchFamily="34" charset="-120"/>
              </a:rPr>
              <a:t>Qdrant + BGE-M3 retrieve semantically similar historical complaints.</a:t>
            </a:r>
            <a:endParaRPr lang="en-US" sz="1050" dirty="0"/>
          </a:p>
        </p:txBody>
      </p:sp>
      <p:sp>
        <p:nvSpPr>
          <p:cNvPr id="17" name="Shape 12"/>
          <p:cNvSpPr/>
          <p:nvPr/>
        </p:nvSpPr>
        <p:spPr>
          <a:xfrm>
            <a:off x="7269480" y="1828800"/>
            <a:ext cx="4370832" cy="4160520"/>
          </a:xfrm>
          <a:prstGeom prst="roundRect">
            <a:avLst>
              <a:gd name="adj" fmla="val 3077"/>
            </a:avLst>
          </a:prstGeom>
          <a:solidFill>
            <a:srgbClr val="0F172A"/>
          </a:solidFill>
          <a:ln/>
        </p:spPr>
      </p:sp>
      <p:sp>
        <p:nvSpPr>
          <p:cNvPr id="18" name="Text 13"/>
          <p:cNvSpPr/>
          <p:nvPr/>
        </p:nvSpPr>
        <p:spPr>
          <a:xfrm>
            <a:off x="7635240" y="2103120"/>
            <a:ext cx="3657600" cy="274320"/>
          </a:xfrm>
          <a:prstGeom prst="rect">
            <a:avLst/>
          </a:prstGeom>
          <a:noFill/>
          <a:ln/>
        </p:spPr>
        <p:txBody>
          <a:bodyPr wrap="square" lIns="0" tIns="0" rIns="0" bIns="0" rtlCol="0" anchor="ctr"/>
          <a:lstStyle/>
          <a:p>
            <a:pPr indent="0" marL="0">
              <a:buNone/>
            </a:pPr>
            <a:r>
              <a:rPr lang="en-US" sz="1050" b="1" spc="150" kern="0" dirty="0">
                <a:solidFill>
                  <a:srgbClr val="60A5FA"/>
                </a:solidFill>
                <a:latin typeface="Inter" pitchFamily="34" charset="0"/>
                <a:ea typeface="Inter" pitchFamily="34" charset="-122"/>
                <a:cs typeface="Inter" pitchFamily="34" charset="-120"/>
              </a:rPr>
              <a:t>FROM KEYWORDS TO MEANING</a:t>
            </a:r>
            <a:endParaRPr lang="en-US" sz="1050" dirty="0"/>
          </a:p>
        </p:txBody>
      </p:sp>
      <p:sp>
        <p:nvSpPr>
          <p:cNvPr id="19" name="Text 14"/>
          <p:cNvSpPr/>
          <p:nvPr/>
        </p:nvSpPr>
        <p:spPr>
          <a:xfrm>
            <a:off x="7635240" y="2450592"/>
            <a:ext cx="3657600" cy="365760"/>
          </a:xfrm>
          <a:prstGeom prst="rect">
            <a:avLst/>
          </a:prstGeom>
          <a:noFill/>
          <a:ln/>
        </p:spPr>
        <p:txBody>
          <a:bodyPr wrap="square" lIns="0" tIns="0" rIns="0" bIns="0" rtlCol="0" anchor="ctr"/>
          <a:lstStyle/>
          <a:p>
            <a:pPr indent="0" marL="0">
              <a:buNone/>
            </a:pPr>
            <a:r>
              <a:rPr lang="en-US" sz="1200" i="1" dirty="0">
                <a:solidFill>
                  <a:srgbClr val="E2E8F0"/>
                </a:solidFill>
                <a:latin typeface="Inter" pitchFamily="34" charset="0"/>
                <a:ea typeface="Inter" pitchFamily="34" charset="-122"/>
                <a:cs typeface="Inter" pitchFamily="34" charset="-120"/>
              </a:rPr>
              <a:t>"streetlight not working"</a:t>
            </a:r>
            <a:endParaRPr lang="en-US" sz="1200" dirty="0"/>
          </a:p>
        </p:txBody>
      </p:sp>
      <p:sp>
        <p:nvSpPr>
          <p:cNvPr id="20" name="Shape 15"/>
          <p:cNvSpPr/>
          <p:nvPr/>
        </p:nvSpPr>
        <p:spPr>
          <a:xfrm>
            <a:off x="7781544" y="2880360"/>
            <a:ext cx="164592" cy="274320"/>
          </a:xfrm>
          <a:prstGeom prst="downArrow">
            <a:avLst/>
          </a:prstGeom>
          <a:solidFill>
            <a:srgbClr val="3B82F6"/>
          </a:solidFill>
          <a:ln/>
        </p:spPr>
      </p:sp>
      <p:sp>
        <p:nvSpPr>
          <p:cNvPr id="21" name="Text 16"/>
          <p:cNvSpPr/>
          <p:nvPr/>
        </p:nvSpPr>
        <p:spPr>
          <a:xfrm>
            <a:off x="7635240" y="3246120"/>
            <a:ext cx="3657600" cy="502920"/>
          </a:xfrm>
          <a:prstGeom prst="rect">
            <a:avLst/>
          </a:prstGeom>
          <a:noFill/>
          <a:ln/>
        </p:spPr>
        <p:txBody>
          <a:bodyPr wrap="square" lIns="0" tIns="0" rIns="0" bIns="0" rtlCol="0" anchor="ctr"/>
          <a:lstStyle/>
          <a:p>
            <a:pPr indent="0" marL="0">
              <a:buNone/>
            </a:pPr>
            <a:r>
              <a:rPr lang="en-US" sz="1200" i="1" dirty="0">
                <a:solidFill>
                  <a:srgbClr val="E2E8F0"/>
                </a:solidFill>
                <a:latin typeface="Inter" pitchFamily="34" charset="0"/>
                <a:ea typeface="Inter" pitchFamily="34" charset="-122"/>
                <a:cs typeface="Inter" pitchFamily="34" charset="-120"/>
              </a:rPr>
              <a:t>"light on pole 4 near market</a:t>
            </a:r>
            <a:endParaRPr lang="en-US" sz="1200" dirty="0"/>
          </a:p>
          <a:p>
            <a:pPr indent="0" marL="0">
              <a:buNone/>
            </a:pPr>
            <a:r>
              <a:rPr lang="en-US" sz="1200" i="1" dirty="0">
                <a:solidFill>
                  <a:srgbClr val="E2E8F0"/>
                </a:solidFill>
                <a:latin typeface="Inter" pitchFamily="34" charset="0"/>
                <a:ea typeface="Inter" pitchFamily="34" charset="-122"/>
                <a:cs typeface="Inter" pitchFamily="34" charset="-120"/>
              </a:rPr>
              <a:t>keeps blinking at night"</a:t>
            </a:r>
            <a:endParaRPr lang="en-US" sz="1200" dirty="0"/>
          </a:p>
        </p:txBody>
      </p:sp>
      <p:sp>
        <p:nvSpPr>
          <p:cNvPr id="22" name="Shape 17"/>
          <p:cNvSpPr/>
          <p:nvPr/>
        </p:nvSpPr>
        <p:spPr>
          <a:xfrm>
            <a:off x="7635240" y="3931920"/>
            <a:ext cx="3703320" cy="0"/>
          </a:xfrm>
          <a:prstGeom prst="line">
            <a:avLst/>
          </a:prstGeom>
          <a:noFill/>
          <a:ln w="12700">
            <a:solidFill>
              <a:srgbClr val="334155"/>
            </a:solidFill>
            <a:prstDash val="solid"/>
          </a:ln>
        </p:spPr>
      </p:sp>
      <p:sp>
        <p:nvSpPr>
          <p:cNvPr id="23" name="Text 18"/>
          <p:cNvSpPr/>
          <p:nvPr/>
        </p:nvSpPr>
        <p:spPr>
          <a:xfrm>
            <a:off x="7635240" y="4096512"/>
            <a:ext cx="3703320" cy="502920"/>
          </a:xfrm>
          <a:prstGeom prst="rect">
            <a:avLst/>
          </a:prstGeom>
          <a:noFill/>
          <a:ln/>
        </p:spPr>
        <p:txBody>
          <a:bodyPr wrap="square" lIns="0" tIns="0" rIns="0" bIns="0" rtlCol="0" anchor="ctr"/>
          <a:lstStyle/>
          <a:p>
            <a:pPr indent="0" marL="0">
              <a:lnSpc>
                <a:spcPct val="120000"/>
              </a:lnSpc>
              <a:buNone/>
            </a:pPr>
            <a:r>
              <a:rPr lang="en-US" sz="1050" dirty="0">
                <a:solidFill>
                  <a:srgbClr val="94A3B8"/>
                </a:solidFill>
                <a:latin typeface="Inter" pitchFamily="34" charset="0"/>
                <a:ea typeface="Inter" pitchFamily="34" charset="-122"/>
                <a:cs typeface="Inter" pitchFamily="34" charset="-120"/>
              </a:rPr>
              <a:t>Traditional keyword search treats these as unrelated tickets.</a:t>
            </a:r>
            <a:endParaRPr lang="en-US" sz="1050" dirty="0"/>
          </a:p>
        </p:txBody>
      </p:sp>
      <p:sp>
        <p:nvSpPr>
          <p:cNvPr id="24" name="Shape 19"/>
          <p:cNvSpPr/>
          <p:nvPr/>
        </p:nvSpPr>
        <p:spPr>
          <a:xfrm>
            <a:off x="7635240" y="4709160"/>
            <a:ext cx="3703320" cy="1051560"/>
          </a:xfrm>
          <a:prstGeom prst="roundRect">
            <a:avLst>
              <a:gd name="adj" fmla="val 8696"/>
            </a:avLst>
          </a:prstGeom>
          <a:solidFill>
            <a:srgbClr val="132043"/>
          </a:solidFill>
          <a:ln/>
        </p:spPr>
      </p:sp>
      <p:sp>
        <p:nvSpPr>
          <p:cNvPr id="25" name="Shape 20"/>
          <p:cNvSpPr/>
          <p:nvPr/>
        </p:nvSpPr>
        <p:spPr>
          <a:xfrm>
            <a:off x="7781544" y="5038344"/>
            <a:ext cx="384048" cy="384048"/>
          </a:xfrm>
          <a:prstGeom prst="ellipse">
            <a:avLst/>
          </a:prstGeom>
          <a:solidFill>
            <a:srgbClr val="0F3D2E"/>
          </a:solidFill>
          <a:ln/>
          <a:effectLst>
            <a:outerShdw sx="100000" sy="100000" kx="0" ky="0" algn="bl" rotWithShape="0" blurRad="101600" dist="38100" dir="5400000">
              <a:srgbClr val="0F172A">
                <a:alpha val="18000"/>
              </a:srgbClr>
            </a:outerShdw>
          </a:effectLst>
        </p:spPr>
      </p:sp>
      <p:pic>
        <p:nvPicPr>
          <p:cNvPr id="26" name="Image 3" descr="/home/claude/civic-deck/icons/checkCircleG.png">    </p:cNvPr>
          <p:cNvPicPr>
            <a:picLocks noChangeAspect="1"/>
          </p:cNvPicPr>
          <p:nvPr/>
        </p:nvPicPr>
        <p:blipFill>
          <a:blip r:embed="rId4"/>
          <a:stretch>
            <a:fillRect/>
          </a:stretch>
        </p:blipFill>
        <p:spPr>
          <a:xfrm>
            <a:off x="7867955" y="5124755"/>
            <a:ext cx="211226" cy="211226"/>
          </a:xfrm>
          <a:prstGeom prst="rect">
            <a:avLst/>
          </a:prstGeom>
        </p:spPr>
      </p:pic>
      <p:sp>
        <p:nvSpPr>
          <p:cNvPr id="27" name="Text 21"/>
          <p:cNvSpPr/>
          <p:nvPr/>
        </p:nvSpPr>
        <p:spPr>
          <a:xfrm>
            <a:off x="8275320" y="4828032"/>
            <a:ext cx="2926080" cy="822960"/>
          </a:xfrm>
          <a:prstGeom prst="rect">
            <a:avLst/>
          </a:prstGeom>
          <a:noFill/>
          <a:ln/>
        </p:spPr>
        <p:txBody>
          <a:bodyPr wrap="square" lIns="0" tIns="0" rIns="0" bIns="0" rtlCol="0" anchor="ctr"/>
          <a:lstStyle/>
          <a:p>
            <a:pPr indent="0" marL="0">
              <a:lnSpc>
                <a:spcPct val="120000"/>
              </a:lnSpc>
              <a:buNone/>
            </a:pPr>
            <a:r>
              <a:rPr lang="en-US" sz="1000" dirty="0">
                <a:solidFill>
                  <a:srgbClr val="D1FAE5"/>
                </a:solidFill>
                <a:latin typeface="Inter" pitchFamily="34" charset="0"/>
                <a:ea typeface="Inter" pitchFamily="34" charset="-122"/>
                <a:cs typeface="Inter" pitchFamily="34" charset="-120"/>
              </a:rPr>
              <a:t>GraphRAG links both to the same asset (Pole 4) and the same department (Electricity) — automatically.</a:t>
            </a:r>
            <a:endParaRPr lang="en-US" sz="1000" dirty="0"/>
          </a:p>
        </p:txBody>
      </p:sp>
      <p:sp>
        <p:nvSpPr>
          <p:cNvPr id="28" name="Text 22"/>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29" name="Text 23"/>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Solution Overview</a:t>
            </a:r>
            <a:endParaRPr lang="en-US" sz="900" dirty="0"/>
          </a:p>
        </p:txBody>
      </p:sp>
      <p:sp>
        <p:nvSpPr>
          <p:cNvPr id="30" name="Text 24"/>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ENGINEERING</a:t>
            </a:r>
            <a:endParaRPr lang="en-US" sz="1200" dirty="0"/>
          </a:p>
        </p:txBody>
      </p:sp>
      <p:sp>
        <p:nvSpPr>
          <p:cNvPr id="3" name="Text 1"/>
          <p:cNvSpPr/>
          <p:nvPr/>
        </p:nvSpPr>
        <p:spPr>
          <a:xfrm>
            <a:off x="548640" y="777240"/>
            <a:ext cx="8229600" cy="822960"/>
          </a:xfrm>
          <a:prstGeom prst="rect">
            <a:avLst/>
          </a:prstGeom>
          <a:noFill/>
          <a:ln/>
        </p:spPr>
        <p:txBody>
          <a:bodyPr wrap="square" lIns="0" tIns="0" rIns="0" bIns="0" rtlCol="0" anchor="ctr"/>
          <a:lstStyle/>
          <a:p>
            <a:pPr algn="l" indent="0" marL="0">
              <a:lnSpc>
                <a:spcPct val="102000"/>
              </a:lnSpc>
              <a:buNone/>
            </a:pPr>
            <a:r>
              <a:rPr lang="en-US" sz="2800" b="1" dirty="0">
                <a:solidFill>
                  <a:srgbClr val="0F172A"/>
                </a:solidFill>
                <a:latin typeface="Poppins" pitchFamily="34" charset="0"/>
                <a:ea typeface="Poppins" pitchFamily="34" charset="-122"/>
                <a:cs typeface="Poppins" pitchFamily="34" charset="-120"/>
              </a:rPr>
              <a:t>A production-grade, polyglot stack</a:t>
            </a:r>
            <a:endParaRPr lang="en-US" sz="2800" dirty="0"/>
          </a:p>
        </p:txBody>
      </p:sp>
      <p:sp>
        <p:nvSpPr>
          <p:cNvPr id="4" name="Text 2"/>
          <p:cNvSpPr/>
          <p:nvPr/>
        </p:nvSpPr>
        <p:spPr>
          <a:xfrm>
            <a:off x="548640" y="1371600"/>
            <a:ext cx="9144000" cy="365760"/>
          </a:xfrm>
          <a:prstGeom prst="rect">
            <a:avLst/>
          </a:prstGeom>
          <a:noFill/>
          <a:ln/>
        </p:spPr>
        <p:txBody>
          <a:bodyPr wrap="square" lIns="0" tIns="0" rIns="0" bIns="0" rtlCol="0" anchor="t"/>
          <a:lstStyle/>
          <a:p>
            <a:pPr algn="l" indent="0" marL="0">
              <a:lnSpc>
                <a:spcPct val="125000"/>
              </a:lnSpc>
              <a:buNone/>
            </a:pPr>
            <a:r>
              <a:rPr lang="en-US" sz="1250" dirty="0">
                <a:solidFill>
                  <a:srgbClr val="64748B"/>
                </a:solidFill>
                <a:latin typeface="Inter" pitchFamily="34" charset="0"/>
                <a:ea typeface="Inter" pitchFamily="34" charset="-122"/>
                <a:cs typeface="Inter" pitchFamily="34" charset="-120"/>
              </a:rPr>
              <a:t>Each layer is chosen for what it's best at — not a single framework stretched to do everything.</a:t>
            </a:r>
            <a:endParaRPr lang="en-US" sz="1250" dirty="0"/>
          </a:p>
        </p:txBody>
      </p:sp>
      <p:sp>
        <p:nvSpPr>
          <p:cNvPr id="5" name="Shape 3"/>
          <p:cNvSpPr/>
          <p:nvPr/>
        </p:nvSpPr>
        <p:spPr>
          <a:xfrm>
            <a:off x="548640" y="1965960"/>
            <a:ext cx="3611880" cy="4160520"/>
          </a:xfrm>
          <a:prstGeom prst="roundRect">
            <a:avLst>
              <a:gd name="adj" fmla="val 3038"/>
            </a:avLst>
          </a:prstGeom>
          <a:solidFill>
            <a:srgbClr val="F1F5F9"/>
          </a:solidFill>
          <a:ln/>
          <a:effectLst>
            <a:outerShdw sx="100000" sy="100000" kx="0" ky="0" algn="bl" rotWithShape="0" blurRad="127000" dist="38100" dir="5400000">
              <a:srgbClr val="0F172A">
                <a:alpha val="10000"/>
              </a:srgbClr>
            </a:outerShdw>
          </a:effectLst>
        </p:spPr>
      </p:sp>
      <p:sp>
        <p:nvSpPr>
          <p:cNvPr id="6" name="Shape 4"/>
          <p:cNvSpPr/>
          <p:nvPr/>
        </p:nvSpPr>
        <p:spPr>
          <a:xfrm>
            <a:off x="841248" y="2258568"/>
            <a:ext cx="1554480" cy="384048"/>
          </a:xfrm>
          <a:prstGeom prst="roundRect">
            <a:avLst>
              <a:gd name="adj" fmla="val 19048"/>
            </a:avLst>
          </a:prstGeom>
          <a:solidFill>
            <a:srgbClr val="2563EB"/>
          </a:solidFill>
          <a:ln/>
        </p:spPr>
      </p:sp>
      <p:sp>
        <p:nvSpPr>
          <p:cNvPr id="7" name="Text 5"/>
          <p:cNvSpPr/>
          <p:nvPr/>
        </p:nvSpPr>
        <p:spPr>
          <a:xfrm>
            <a:off x="841248" y="2258568"/>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Frontend</a:t>
            </a:r>
            <a:endParaRPr lang="en-US" sz="1100" dirty="0"/>
          </a:p>
        </p:txBody>
      </p:sp>
      <p:sp>
        <p:nvSpPr>
          <p:cNvPr id="8" name="Shape 6"/>
          <p:cNvSpPr/>
          <p:nvPr/>
        </p:nvSpPr>
        <p:spPr>
          <a:xfrm>
            <a:off x="822960" y="2926080"/>
            <a:ext cx="3063240" cy="621792"/>
          </a:xfrm>
          <a:prstGeom prst="roundRect">
            <a:avLst>
              <a:gd name="adj" fmla="val 11765"/>
            </a:avLst>
          </a:prstGeom>
          <a:solidFill>
            <a:srgbClr val="FFFFFF"/>
          </a:solidFill>
          <a:ln w="12700">
            <a:solidFill>
              <a:srgbClr val="E2E8F0"/>
            </a:solidFill>
            <a:prstDash val="solid"/>
          </a:ln>
        </p:spPr>
      </p:sp>
      <p:pic>
        <p:nvPicPr>
          <p:cNvPr id="9" name="Image 0" descr="/home/claude/civic-deck/icons/nextjs.png">    </p:cNvPr>
          <p:cNvPicPr>
            <a:picLocks noChangeAspect="1"/>
          </p:cNvPicPr>
          <p:nvPr/>
        </p:nvPicPr>
        <p:blipFill>
          <a:blip r:embed="rId1"/>
          <a:stretch>
            <a:fillRect/>
          </a:stretch>
        </p:blipFill>
        <p:spPr>
          <a:xfrm>
            <a:off x="969264" y="3054096"/>
            <a:ext cx="365760" cy="365760"/>
          </a:xfrm>
          <a:prstGeom prst="rect">
            <a:avLst/>
          </a:prstGeom>
        </p:spPr>
      </p:pic>
      <p:sp>
        <p:nvSpPr>
          <p:cNvPr id="10" name="Text 7"/>
          <p:cNvSpPr/>
          <p:nvPr/>
        </p:nvSpPr>
        <p:spPr>
          <a:xfrm>
            <a:off x="1463040" y="292608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Next.js 16</a:t>
            </a:r>
            <a:endParaRPr lang="en-US" sz="1200" dirty="0"/>
          </a:p>
        </p:txBody>
      </p:sp>
      <p:sp>
        <p:nvSpPr>
          <p:cNvPr id="11" name="Shape 8"/>
          <p:cNvSpPr/>
          <p:nvPr/>
        </p:nvSpPr>
        <p:spPr>
          <a:xfrm>
            <a:off x="822960" y="3703320"/>
            <a:ext cx="3063240" cy="621792"/>
          </a:xfrm>
          <a:prstGeom prst="roundRect">
            <a:avLst>
              <a:gd name="adj" fmla="val 11765"/>
            </a:avLst>
          </a:prstGeom>
          <a:solidFill>
            <a:srgbClr val="FFFFFF"/>
          </a:solidFill>
          <a:ln w="12700">
            <a:solidFill>
              <a:srgbClr val="E2E8F0"/>
            </a:solidFill>
            <a:prstDash val="solid"/>
          </a:ln>
        </p:spPr>
      </p:sp>
      <p:pic>
        <p:nvPicPr>
          <p:cNvPr id="12" name="Image 1" descr="/home/claude/civic-deck/icons/react.png">    </p:cNvPr>
          <p:cNvPicPr>
            <a:picLocks noChangeAspect="1"/>
          </p:cNvPicPr>
          <p:nvPr/>
        </p:nvPicPr>
        <p:blipFill>
          <a:blip r:embed="rId2"/>
          <a:stretch>
            <a:fillRect/>
          </a:stretch>
        </p:blipFill>
        <p:spPr>
          <a:xfrm>
            <a:off x="969264" y="3831336"/>
            <a:ext cx="365760" cy="365760"/>
          </a:xfrm>
          <a:prstGeom prst="rect">
            <a:avLst/>
          </a:prstGeom>
        </p:spPr>
      </p:pic>
      <p:sp>
        <p:nvSpPr>
          <p:cNvPr id="13" name="Text 9"/>
          <p:cNvSpPr/>
          <p:nvPr/>
        </p:nvSpPr>
        <p:spPr>
          <a:xfrm>
            <a:off x="1463040" y="370332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React + TypeScript</a:t>
            </a:r>
            <a:endParaRPr lang="en-US" sz="1200" dirty="0"/>
          </a:p>
        </p:txBody>
      </p:sp>
      <p:sp>
        <p:nvSpPr>
          <p:cNvPr id="14" name="Shape 10"/>
          <p:cNvSpPr/>
          <p:nvPr/>
        </p:nvSpPr>
        <p:spPr>
          <a:xfrm>
            <a:off x="822960" y="4480560"/>
            <a:ext cx="3063240" cy="621792"/>
          </a:xfrm>
          <a:prstGeom prst="roundRect">
            <a:avLst>
              <a:gd name="adj" fmla="val 11765"/>
            </a:avLst>
          </a:prstGeom>
          <a:solidFill>
            <a:srgbClr val="FFFFFF"/>
          </a:solidFill>
          <a:ln w="12700">
            <a:solidFill>
              <a:srgbClr val="E2E8F0"/>
            </a:solidFill>
            <a:prstDash val="solid"/>
          </a:ln>
        </p:spPr>
      </p:sp>
      <p:pic>
        <p:nvPicPr>
          <p:cNvPr id="15" name="Image 2" descr="/home/claude/civic-deck/icons/tailwind.png">    </p:cNvPr>
          <p:cNvPicPr>
            <a:picLocks noChangeAspect="1"/>
          </p:cNvPicPr>
          <p:nvPr/>
        </p:nvPicPr>
        <p:blipFill>
          <a:blip r:embed="rId3"/>
          <a:stretch>
            <a:fillRect/>
          </a:stretch>
        </p:blipFill>
        <p:spPr>
          <a:xfrm>
            <a:off x="969264" y="4608576"/>
            <a:ext cx="365760" cy="365760"/>
          </a:xfrm>
          <a:prstGeom prst="rect">
            <a:avLst/>
          </a:prstGeom>
        </p:spPr>
      </p:pic>
      <p:sp>
        <p:nvSpPr>
          <p:cNvPr id="16" name="Text 11"/>
          <p:cNvSpPr/>
          <p:nvPr/>
        </p:nvSpPr>
        <p:spPr>
          <a:xfrm>
            <a:off x="1463040" y="448056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Tailwind CSS</a:t>
            </a:r>
            <a:endParaRPr lang="en-US" sz="1200" dirty="0"/>
          </a:p>
        </p:txBody>
      </p:sp>
      <p:sp>
        <p:nvSpPr>
          <p:cNvPr id="17" name="Shape 12"/>
          <p:cNvSpPr/>
          <p:nvPr/>
        </p:nvSpPr>
        <p:spPr>
          <a:xfrm>
            <a:off x="822960" y="5257800"/>
            <a:ext cx="3063240" cy="621792"/>
          </a:xfrm>
          <a:prstGeom prst="roundRect">
            <a:avLst>
              <a:gd name="adj" fmla="val 11765"/>
            </a:avLst>
          </a:prstGeom>
          <a:solidFill>
            <a:srgbClr val="FFFFFF"/>
          </a:solidFill>
          <a:ln w="12700">
            <a:solidFill>
              <a:srgbClr val="E2E8F0"/>
            </a:solidFill>
            <a:prstDash val="solid"/>
          </a:ln>
        </p:spPr>
      </p:sp>
      <p:pic>
        <p:nvPicPr>
          <p:cNvPr id="18" name="Image 3" descr="/home/claude/civic-deck/icons/key.png">    </p:cNvPr>
          <p:cNvPicPr>
            <a:picLocks noChangeAspect="1"/>
          </p:cNvPicPr>
          <p:nvPr/>
        </p:nvPicPr>
        <p:blipFill>
          <a:blip r:embed="rId4"/>
          <a:stretch>
            <a:fillRect/>
          </a:stretch>
        </p:blipFill>
        <p:spPr>
          <a:xfrm>
            <a:off x="969264" y="5385816"/>
            <a:ext cx="365760" cy="365760"/>
          </a:xfrm>
          <a:prstGeom prst="rect">
            <a:avLst/>
          </a:prstGeom>
        </p:spPr>
      </p:pic>
      <p:sp>
        <p:nvSpPr>
          <p:cNvPr id="19" name="Text 13"/>
          <p:cNvSpPr/>
          <p:nvPr/>
        </p:nvSpPr>
        <p:spPr>
          <a:xfrm>
            <a:off x="1463040" y="525780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NextAuth</a:t>
            </a:r>
            <a:endParaRPr lang="en-US" sz="1200" dirty="0"/>
          </a:p>
        </p:txBody>
      </p:sp>
      <p:sp>
        <p:nvSpPr>
          <p:cNvPr id="20" name="Shape 14"/>
          <p:cNvSpPr/>
          <p:nvPr/>
        </p:nvSpPr>
        <p:spPr>
          <a:xfrm>
            <a:off x="4379976" y="1965960"/>
            <a:ext cx="3611880" cy="4160520"/>
          </a:xfrm>
          <a:prstGeom prst="roundRect">
            <a:avLst>
              <a:gd name="adj" fmla="val 3038"/>
            </a:avLst>
          </a:prstGeom>
          <a:solidFill>
            <a:srgbClr val="F1F5F9"/>
          </a:solidFill>
          <a:ln/>
          <a:effectLst>
            <a:outerShdw sx="100000" sy="100000" kx="0" ky="0" algn="bl" rotWithShape="0" blurRad="127000" dist="38100" dir="5400000">
              <a:srgbClr val="0F172A">
                <a:alpha val="10000"/>
              </a:srgbClr>
            </a:outerShdw>
          </a:effectLst>
        </p:spPr>
      </p:sp>
      <p:sp>
        <p:nvSpPr>
          <p:cNvPr id="21" name="Shape 15"/>
          <p:cNvSpPr/>
          <p:nvPr/>
        </p:nvSpPr>
        <p:spPr>
          <a:xfrm>
            <a:off x="4672584" y="2258568"/>
            <a:ext cx="1554480" cy="384048"/>
          </a:xfrm>
          <a:prstGeom prst="roundRect">
            <a:avLst>
              <a:gd name="adj" fmla="val 19048"/>
            </a:avLst>
          </a:prstGeom>
          <a:solidFill>
            <a:srgbClr val="10B981"/>
          </a:solidFill>
          <a:ln/>
        </p:spPr>
      </p:sp>
      <p:sp>
        <p:nvSpPr>
          <p:cNvPr id="22" name="Text 16"/>
          <p:cNvSpPr/>
          <p:nvPr/>
        </p:nvSpPr>
        <p:spPr>
          <a:xfrm>
            <a:off x="4672584" y="2258568"/>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Backend &amp; Data</a:t>
            </a:r>
            <a:endParaRPr lang="en-US" sz="1100" dirty="0"/>
          </a:p>
        </p:txBody>
      </p:sp>
      <p:sp>
        <p:nvSpPr>
          <p:cNvPr id="23" name="Shape 17"/>
          <p:cNvSpPr/>
          <p:nvPr/>
        </p:nvSpPr>
        <p:spPr>
          <a:xfrm>
            <a:off x="4654296" y="2926080"/>
            <a:ext cx="3063240" cy="621792"/>
          </a:xfrm>
          <a:prstGeom prst="roundRect">
            <a:avLst>
              <a:gd name="adj" fmla="val 11765"/>
            </a:avLst>
          </a:prstGeom>
          <a:solidFill>
            <a:srgbClr val="FFFFFF"/>
          </a:solidFill>
          <a:ln w="12700">
            <a:solidFill>
              <a:srgbClr val="E2E8F0"/>
            </a:solidFill>
            <a:prstDash val="solid"/>
          </a:ln>
        </p:spPr>
      </p:sp>
      <p:pic>
        <p:nvPicPr>
          <p:cNvPr id="24" name="Image 4" descr="/home/claude/civic-deck/icons/fastapi.png">    </p:cNvPr>
          <p:cNvPicPr>
            <a:picLocks noChangeAspect="1"/>
          </p:cNvPicPr>
          <p:nvPr/>
        </p:nvPicPr>
        <p:blipFill>
          <a:blip r:embed="rId5"/>
          <a:stretch>
            <a:fillRect/>
          </a:stretch>
        </p:blipFill>
        <p:spPr>
          <a:xfrm>
            <a:off x="4800600" y="3054096"/>
            <a:ext cx="365760" cy="365760"/>
          </a:xfrm>
          <a:prstGeom prst="rect">
            <a:avLst/>
          </a:prstGeom>
        </p:spPr>
      </p:pic>
      <p:sp>
        <p:nvSpPr>
          <p:cNvPr id="25" name="Text 18"/>
          <p:cNvSpPr/>
          <p:nvPr/>
        </p:nvSpPr>
        <p:spPr>
          <a:xfrm>
            <a:off x="5294376" y="292608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FastAPI (Python)</a:t>
            </a:r>
            <a:endParaRPr lang="en-US" sz="1200" dirty="0"/>
          </a:p>
        </p:txBody>
      </p:sp>
      <p:sp>
        <p:nvSpPr>
          <p:cNvPr id="26" name="Shape 19"/>
          <p:cNvSpPr/>
          <p:nvPr/>
        </p:nvSpPr>
        <p:spPr>
          <a:xfrm>
            <a:off x="4654296" y="3703320"/>
            <a:ext cx="3063240" cy="621792"/>
          </a:xfrm>
          <a:prstGeom prst="roundRect">
            <a:avLst>
              <a:gd name="adj" fmla="val 11765"/>
            </a:avLst>
          </a:prstGeom>
          <a:solidFill>
            <a:srgbClr val="FFFFFF"/>
          </a:solidFill>
          <a:ln w="12700">
            <a:solidFill>
              <a:srgbClr val="E2E8F0"/>
            </a:solidFill>
            <a:prstDash val="solid"/>
          </a:ln>
        </p:spPr>
      </p:sp>
      <p:pic>
        <p:nvPicPr>
          <p:cNvPr id="27" name="Image 5" descr="/home/claude/civic-deck/icons/postgres.png">    </p:cNvPr>
          <p:cNvPicPr>
            <a:picLocks noChangeAspect="1"/>
          </p:cNvPicPr>
          <p:nvPr/>
        </p:nvPicPr>
        <p:blipFill>
          <a:blip r:embed="rId6"/>
          <a:stretch>
            <a:fillRect/>
          </a:stretch>
        </p:blipFill>
        <p:spPr>
          <a:xfrm>
            <a:off x="4800600" y="3831336"/>
            <a:ext cx="365760" cy="365760"/>
          </a:xfrm>
          <a:prstGeom prst="rect">
            <a:avLst/>
          </a:prstGeom>
        </p:spPr>
      </p:pic>
      <p:sp>
        <p:nvSpPr>
          <p:cNvPr id="28" name="Text 20"/>
          <p:cNvSpPr/>
          <p:nvPr/>
        </p:nvSpPr>
        <p:spPr>
          <a:xfrm>
            <a:off x="5294376" y="370332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PostgreSQL</a:t>
            </a:r>
            <a:endParaRPr lang="en-US" sz="1200" dirty="0"/>
          </a:p>
        </p:txBody>
      </p:sp>
      <p:sp>
        <p:nvSpPr>
          <p:cNvPr id="29" name="Shape 21"/>
          <p:cNvSpPr/>
          <p:nvPr/>
        </p:nvSpPr>
        <p:spPr>
          <a:xfrm>
            <a:off x="4654296" y="4480560"/>
            <a:ext cx="3063240" cy="621792"/>
          </a:xfrm>
          <a:prstGeom prst="roundRect">
            <a:avLst>
              <a:gd name="adj" fmla="val 11765"/>
            </a:avLst>
          </a:prstGeom>
          <a:solidFill>
            <a:srgbClr val="FFFFFF"/>
          </a:solidFill>
          <a:ln w="12700">
            <a:solidFill>
              <a:srgbClr val="E2E8F0"/>
            </a:solidFill>
            <a:prstDash val="solid"/>
          </a:ln>
        </p:spPr>
      </p:sp>
      <p:pic>
        <p:nvPicPr>
          <p:cNvPr id="30" name="Image 6" descr="/home/claude/civic-deck/icons/prisma.png">    </p:cNvPr>
          <p:cNvPicPr>
            <a:picLocks noChangeAspect="1"/>
          </p:cNvPicPr>
          <p:nvPr/>
        </p:nvPicPr>
        <p:blipFill>
          <a:blip r:embed="rId7"/>
          <a:stretch>
            <a:fillRect/>
          </a:stretch>
        </p:blipFill>
        <p:spPr>
          <a:xfrm>
            <a:off x="4800600" y="4608576"/>
            <a:ext cx="365760" cy="365760"/>
          </a:xfrm>
          <a:prstGeom prst="rect">
            <a:avLst/>
          </a:prstGeom>
        </p:spPr>
      </p:pic>
      <p:sp>
        <p:nvSpPr>
          <p:cNvPr id="31" name="Text 22"/>
          <p:cNvSpPr/>
          <p:nvPr/>
        </p:nvSpPr>
        <p:spPr>
          <a:xfrm>
            <a:off x="5294376" y="448056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Prisma ORM</a:t>
            </a:r>
            <a:endParaRPr lang="en-US" sz="1200" dirty="0"/>
          </a:p>
        </p:txBody>
      </p:sp>
      <p:sp>
        <p:nvSpPr>
          <p:cNvPr id="32" name="Shape 23"/>
          <p:cNvSpPr/>
          <p:nvPr/>
        </p:nvSpPr>
        <p:spPr>
          <a:xfrm>
            <a:off x="4654296" y="5257800"/>
            <a:ext cx="3063240" cy="621792"/>
          </a:xfrm>
          <a:prstGeom prst="roundRect">
            <a:avLst>
              <a:gd name="adj" fmla="val 11765"/>
            </a:avLst>
          </a:prstGeom>
          <a:solidFill>
            <a:srgbClr val="FFFFFF"/>
          </a:solidFill>
          <a:ln w="12700">
            <a:solidFill>
              <a:srgbClr val="E2E8F0"/>
            </a:solidFill>
            <a:prstDash val="solid"/>
          </a:ln>
        </p:spPr>
      </p:sp>
      <p:pic>
        <p:nvPicPr>
          <p:cNvPr id="33" name="Image 7" descr="/home/claude/civic-deck/icons/docker.png">    </p:cNvPr>
          <p:cNvPicPr>
            <a:picLocks noChangeAspect="1"/>
          </p:cNvPicPr>
          <p:nvPr/>
        </p:nvPicPr>
        <p:blipFill>
          <a:blip r:embed="rId8"/>
          <a:stretch>
            <a:fillRect/>
          </a:stretch>
        </p:blipFill>
        <p:spPr>
          <a:xfrm>
            <a:off x="4800600" y="5385816"/>
            <a:ext cx="365760" cy="365760"/>
          </a:xfrm>
          <a:prstGeom prst="rect">
            <a:avLst/>
          </a:prstGeom>
        </p:spPr>
      </p:pic>
      <p:sp>
        <p:nvSpPr>
          <p:cNvPr id="34" name="Text 24"/>
          <p:cNvSpPr/>
          <p:nvPr/>
        </p:nvSpPr>
        <p:spPr>
          <a:xfrm>
            <a:off x="5294376" y="525780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Docker</a:t>
            </a:r>
            <a:endParaRPr lang="en-US" sz="1200" dirty="0"/>
          </a:p>
        </p:txBody>
      </p:sp>
      <p:sp>
        <p:nvSpPr>
          <p:cNvPr id="35" name="Shape 25"/>
          <p:cNvSpPr/>
          <p:nvPr/>
        </p:nvSpPr>
        <p:spPr>
          <a:xfrm>
            <a:off x="8211312" y="1965960"/>
            <a:ext cx="3611880" cy="4160520"/>
          </a:xfrm>
          <a:prstGeom prst="roundRect">
            <a:avLst>
              <a:gd name="adj" fmla="val 3038"/>
            </a:avLst>
          </a:prstGeom>
          <a:solidFill>
            <a:srgbClr val="F1F5F9"/>
          </a:solidFill>
          <a:ln/>
          <a:effectLst>
            <a:outerShdw sx="100000" sy="100000" kx="0" ky="0" algn="bl" rotWithShape="0" blurRad="127000" dist="38100" dir="5400000">
              <a:srgbClr val="0F172A">
                <a:alpha val="10000"/>
              </a:srgbClr>
            </a:outerShdw>
          </a:effectLst>
        </p:spPr>
      </p:sp>
      <p:sp>
        <p:nvSpPr>
          <p:cNvPr id="36" name="Shape 26"/>
          <p:cNvSpPr/>
          <p:nvPr/>
        </p:nvSpPr>
        <p:spPr>
          <a:xfrm>
            <a:off x="8503920" y="2258568"/>
            <a:ext cx="1554480" cy="384048"/>
          </a:xfrm>
          <a:prstGeom prst="roundRect">
            <a:avLst>
              <a:gd name="adj" fmla="val 19048"/>
            </a:avLst>
          </a:prstGeom>
          <a:solidFill>
            <a:srgbClr val="0F172A"/>
          </a:solidFill>
          <a:ln/>
        </p:spPr>
      </p:sp>
      <p:sp>
        <p:nvSpPr>
          <p:cNvPr id="37" name="Text 27"/>
          <p:cNvSpPr/>
          <p:nvPr/>
        </p:nvSpPr>
        <p:spPr>
          <a:xfrm>
            <a:off x="8503920" y="2258568"/>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AI / GraphRAG Core</a:t>
            </a:r>
            <a:endParaRPr lang="en-US" sz="1100" dirty="0"/>
          </a:p>
        </p:txBody>
      </p:sp>
      <p:sp>
        <p:nvSpPr>
          <p:cNvPr id="38" name="Shape 28"/>
          <p:cNvSpPr/>
          <p:nvPr/>
        </p:nvSpPr>
        <p:spPr>
          <a:xfrm>
            <a:off x="8485632" y="2926080"/>
            <a:ext cx="3063240" cy="621792"/>
          </a:xfrm>
          <a:prstGeom prst="roundRect">
            <a:avLst>
              <a:gd name="adj" fmla="val 11765"/>
            </a:avLst>
          </a:prstGeom>
          <a:solidFill>
            <a:srgbClr val="FFFFFF"/>
          </a:solidFill>
          <a:ln w="12700">
            <a:solidFill>
              <a:srgbClr val="E2E8F0"/>
            </a:solidFill>
            <a:prstDash val="solid"/>
          </a:ln>
        </p:spPr>
      </p:sp>
      <p:pic>
        <p:nvPicPr>
          <p:cNvPr id="39" name="Image 8" descr="/home/claude/civic-deck/icons/brain.png">    </p:cNvPr>
          <p:cNvPicPr>
            <a:picLocks noChangeAspect="1"/>
          </p:cNvPicPr>
          <p:nvPr/>
        </p:nvPicPr>
        <p:blipFill>
          <a:blip r:embed="rId9"/>
          <a:stretch>
            <a:fillRect/>
          </a:stretch>
        </p:blipFill>
        <p:spPr>
          <a:xfrm>
            <a:off x="8631936" y="3054096"/>
            <a:ext cx="365760" cy="365760"/>
          </a:xfrm>
          <a:prstGeom prst="rect">
            <a:avLst/>
          </a:prstGeom>
        </p:spPr>
      </p:pic>
      <p:sp>
        <p:nvSpPr>
          <p:cNvPr id="40" name="Text 29"/>
          <p:cNvSpPr/>
          <p:nvPr/>
        </p:nvSpPr>
        <p:spPr>
          <a:xfrm>
            <a:off x="9125712" y="292608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Qwen 3 · 8B LLM</a:t>
            </a:r>
            <a:endParaRPr lang="en-US" sz="1200" dirty="0"/>
          </a:p>
        </p:txBody>
      </p:sp>
      <p:sp>
        <p:nvSpPr>
          <p:cNvPr id="41" name="Shape 30"/>
          <p:cNvSpPr/>
          <p:nvPr/>
        </p:nvSpPr>
        <p:spPr>
          <a:xfrm>
            <a:off x="8485632" y="3703320"/>
            <a:ext cx="3063240" cy="621792"/>
          </a:xfrm>
          <a:prstGeom prst="roundRect">
            <a:avLst>
              <a:gd name="adj" fmla="val 11765"/>
            </a:avLst>
          </a:prstGeom>
          <a:solidFill>
            <a:srgbClr val="FFFFFF"/>
          </a:solidFill>
          <a:ln w="12700">
            <a:solidFill>
              <a:srgbClr val="E2E8F0"/>
            </a:solidFill>
            <a:prstDash val="solid"/>
          </a:ln>
        </p:spPr>
      </p:sp>
      <p:pic>
        <p:nvPicPr>
          <p:cNvPr id="42" name="Image 9" descr="/home/claude/civic-deck/icons/neo4j.png">    </p:cNvPr>
          <p:cNvPicPr>
            <a:picLocks noChangeAspect="1"/>
          </p:cNvPicPr>
          <p:nvPr/>
        </p:nvPicPr>
        <p:blipFill>
          <a:blip r:embed="rId10"/>
          <a:stretch>
            <a:fillRect/>
          </a:stretch>
        </p:blipFill>
        <p:spPr>
          <a:xfrm>
            <a:off x="8631936" y="3831336"/>
            <a:ext cx="365760" cy="365760"/>
          </a:xfrm>
          <a:prstGeom prst="rect">
            <a:avLst/>
          </a:prstGeom>
        </p:spPr>
      </p:pic>
      <p:sp>
        <p:nvSpPr>
          <p:cNvPr id="43" name="Text 31"/>
          <p:cNvSpPr/>
          <p:nvPr/>
        </p:nvSpPr>
        <p:spPr>
          <a:xfrm>
            <a:off x="9125712" y="370332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Neo4j Graph DB</a:t>
            </a:r>
            <a:endParaRPr lang="en-US" sz="1200" dirty="0"/>
          </a:p>
        </p:txBody>
      </p:sp>
      <p:sp>
        <p:nvSpPr>
          <p:cNvPr id="44" name="Shape 32"/>
          <p:cNvSpPr/>
          <p:nvPr/>
        </p:nvSpPr>
        <p:spPr>
          <a:xfrm>
            <a:off x="8485632" y="4480560"/>
            <a:ext cx="3063240" cy="621792"/>
          </a:xfrm>
          <a:prstGeom prst="roundRect">
            <a:avLst>
              <a:gd name="adj" fmla="val 11765"/>
            </a:avLst>
          </a:prstGeom>
          <a:solidFill>
            <a:srgbClr val="FFFFFF"/>
          </a:solidFill>
          <a:ln w="12700">
            <a:solidFill>
              <a:srgbClr val="E2E8F0"/>
            </a:solidFill>
            <a:prstDash val="solid"/>
          </a:ln>
        </p:spPr>
      </p:sp>
      <p:pic>
        <p:nvPicPr>
          <p:cNvPr id="45" name="Image 10" descr="/home/claude/civic-deck/icons/qdrant.png">    </p:cNvPr>
          <p:cNvPicPr>
            <a:picLocks noChangeAspect="1"/>
          </p:cNvPicPr>
          <p:nvPr/>
        </p:nvPicPr>
        <p:blipFill>
          <a:blip r:embed="rId11"/>
          <a:stretch>
            <a:fillRect/>
          </a:stretch>
        </p:blipFill>
        <p:spPr>
          <a:xfrm>
            <a:off x="8631936" y="4608576"/>
            <a:ext cx="365760" cy="365760"/>
          </a:xfrm>
          <a:prstGeom prst="rect">
            <a:avLst/>
          </a:prstGeom>
        </p:spPr>
      </p:pic>
      <p:sp>
        <p:nvSpPr>
          <p:cNvPr id="46" name="Text 33"/>
          <p:cNvSpPr/>
          <p:nvPr/>
        </p:nvSpPr>
        <p:spPr>
          <a:xfrm>
            <a:off x="9125712" y="448056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Qdrant Vector DB</a:t>
            </a:r>
            <a:endParaRPr lang="en-US" sz="1200" dirty="0"/>
          </a:p>
        </p:txBody>
      </p:sp>
      <p:sp>
        <p:nvSpPr>
          <p:cNvPr id="47" name="Shape 34"/>
          <p:cNvSpPr/>
          <p:nvPr/>
        </p:nvSpPr>
        <p:spPr>
          <a:xfrm>
            <a:off x="8485632" y="5257800"/>
            <a:ext cx="3063240" cy="621792"/>
          </a:xfrm>
          <a:prstGeom prst="roundRect">
            <a:avLst>
              <a:gd name="adj" fmla="val 11765"/>
            </a:avLst>
          </a:prstGeom>
          <a:solidFill>
            <a:srgbClr val="FFFFFF"/>
          </a:solidFill>
          <a:ln w="12700">
            <a:solidFill>
              <a:srgbClr val="E2E8F0"/>
            </a:solidFill>
            <a:prstDash val="solid"/>
          </a:ln>
        </p:spPr>
      </p:sp>
      <p:pic>
        <p:nvPicPr>
          <p:cNvPr id="48" name="Image 11" descr="/home/claude/civic-deck/icons/vector.png">    </p:cNvPr>
          <p:cNvPicPr>
            <a:picLocks noChangeAspect="1"/>
          </p:cNvPicPr>
          <p:nvPr/>
        </p:nvPicPr>
        <p:blipFill>
          <a:blip r:embed="rId12"/>
          <a:stretch>
            <a:fillRect/>
          </a:stretch>
        </p:blipFill>
        <p:spPr>
          <a:xfrm>
            <a:off x="8631936" y="5385816"/>
            <a:ext cx="365760" cy="365760"/>
          </a:xfrm>
          <a:prstGeom prst="rect">
            <a:avLst/>
          </a:prstGeom>
        </p:spPr>
      </p:pic>
      <p:sp>
        <p:nvSpPr>
          <p:cNvPr id="49" name="Text 35"/>
          <p:cNvSpPr/>
          <p:nvPr/>
        </p:nvSpPr>
        <p:spPr>
          <a:xfrm>
            <a:off x="9125712" y="5257800"/>
            <a:ext cx="2377440" cy="621792"/>
          </a:xfrm>
          <a:prstGeom prst="rect">
            <a:avLst/>
          </a:prstGeom>
          <a:noFill/>
          <a:ln/>
        </p:spPr>
        <p:txBody>
          <a:bodyPr wrap="square" lIns="0" tIns="0" rIns="0" bIns="0" rtlCol="0" anchor="ctr"/>
          <a:lstStyle/>
          <a:p>
            <a:pPr indent="0" marL="0">
              <a:buNone/>
            </a:pPr>
            <a:r>
              <a:rPr lang="en-US" sz="1200" b="1" dirty="0">
                <a:solidFill>
                  <a:srgbClr val="0F172A"/>
                </a:solidFill>
                <a:latin typeface="Inter" pitchFamily="34" charset="0"/>
                <a:ea typeface="Inter" pitchFamily="34" charset="-122"/>
                <a:cs typeface="Inter" pitchFamily="34" charset="-120"/>
              </a:rPr>
              <a:t>BGE-M3 Embeddings</a:t>
            </a:r>
            <a:endParaRPr lang="en-US" sz="1200" dirty="0"/>
          </a:p>
        </p:txBody>
      </p:sp>
      <p:sp>
        <p:nvSpPr>
          <p:cNvPr id="50" name="Text 36"/>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51" name="Text 37"/>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Technology Stack</a:t>
            </a:r>
            <a:endParaRPr lang="en-US" sz="900" dirty="0"/>
          </a:p>
        </p:txBody>
      </p:sp>
      <p:sp>
        <p:nvSpPr>
          <p:cNvPr id="52" name="Text 38"/>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END-TO-END FLOW</a:t>
            </a:r>
            <a:endParaRPr lang="en-US" sz="1200" dirty="0"/>
          </a:p>
        </p:txBody>
      </p:sp>
      <p:sp>
        <p:nvSpPr>
          <p:cNvPr id="3" name="Text 1"/>
          <p:cNvSpPr/>
          <p:nvPr/>
        </p:nvSpPr>
        <p:spPr>
          <a:xfrm>
            <a:off x="548640" y="658368"/>
            <a:ext cx="8229600" cy="822960"/>
          </a:xfrm>
          <a:prstGeom prst="rect">
            <a:avLst/>
          </a:prstGeom>
          <a:noFill/>
          <a:ln/>
        </p:spPr>
        <p:txBody>
          <a:bodyPr wrap="square" lIns="0" tIns="0" rIns="0" bIns="0" rtlCol="0" anchor="ctr"/>
          <a:lstStyle/>
          <a:p>
            <a:pPr algn="l" indent="0" marL="0">
              <a:lnSpc>
                <a:spcPct val="102000"/>
              </a:lnSpc>
              <a:buNone/>
            </a:pPr>
            <a:r>
              <a:rPr lang="en-US" sz="2800" b="1" dirty="0">
                <a:solidFill>
                  <a:srgbClr val="0F172A"/>
                </a:solidFill>
                <a:latin typeface="Poppins" pitchFamily="34" charset="0"/>
                <a:ea typeface="Poppins" pitchFamily="34" charset="-122"/>
                <a:cs typeface="Poppins" pitchFamily="34" charset="-120"/>
              </a:rPr>
              <a:t>The GraphRAG complaint pipeline</a:t>
            </a:r>
            <a:endParaRPr lang="en-US" sz="2800" dirty="0"/>
          </a:p>
        </p:txBody>
      </p:sp>
      <p:sp>
        <p:nvSpPr>
          <p:cNvPr id="4" name="Text 2"/>
          <p:cNvSpPr/>
          <p:nvPr/>
        </p:nvSpPr>
        <p:spPr>
          <a:xfrm>
            <a:off x="548640" y="1188720"/>
            <a:ext cx="9144000" cy="320040"/>
          </a:xfrm>
          <a:prstGeom prst="rect">
            <a:avLst/>
          </a:prstGeom>
          <a:noFill/>
          <a:ln/>
        </p:spPr>
        <p:txBody>
          <a:bodyPr wrap="square" lIns="0" tIns="0" rIns="0" bIns="0" rtlCol="0" anchor="t"/>
          <a:lstStyle/>
          <a:p>
            <a:pPr algn="l" indent="0" marL="0">
              <a:lnSpc>
                <a:spcPct val="125000"/>
              </a:lnSpc>
              <a:buNone/>
            </a:pPr>
            <a:r>
              <a:rPr lang="en-US" sz="1250" dirty="0">
                <a:solidFill>
                  <a:srgbClr val="64748B"/>
                </a:solidFill>
                <a:latin typeface="Inter" pitchFamily="34" charset="0"/>
                <a:ea typeface="Inter" pitchFamily="34" charset="-122"/>
                <a:cs typeface="Inter" pitchFamily="34" charset="-120"/>
              </a:rPr>
              <a:t>One complaint, ten deterministic stages, zero manual triage.</a:t>
            </a:r>
            <a:endParaRPr lang="en-US" sz="1250" dirty="0"/>
          </a:p>
        </p:txBody>
      </p:sp>
      <p:sp>
        <p:nvSpPr>
          <p:cNvPr id="5" name="Shape 3"/>
          <p:cNvSpPr/>
          <p:nvPr/>
        </p:nvSpPr>
        <p:spPr>
          <a:xfrm>
            <a:off x="548640" y="2331720"/>
            <a:ext cx="969264" cy="1371600"/>
          </a:xfrm>
          <a:prstGeom prst="roundRect">
            <a:avLst>
              <a:gd name="adj" fmla="val 13208"/>
            </a:avLst>
          </a:prstGeom>
          <a:solidFill>
            <a:srgbClr val="F1F5F9"/>
          </a:solidFill>
          <a:ln/>
        </p:spPr>
      </p:sp>
      <p:sp>
        <p:nvSpPr>
          <p:cNvPr id="6" name="Shape 4"/>
          <p:cNvSpPr/>
          <p:nvPr/>
        </p:nvSpPr>
        <p:spPr>
          <a:xfrm>
            <a:off x="804672" y="2487168"/>
            <a:ext cx="457200" cy="457200"/>
          </a:xfrm>
          <a:prstGeom prst="ellipse">
            <a:avLst/>
          </a:prstGeom>
          <a:solidFill>
            <a:srgbClr val="2563EB"/>
          </a:solidFill>
          <a:ln/>
          <a:effectLst>
            <a:outerShdw sx="100000" sy="100000" kx="0" ky="0" algn="bl" rotWithShape="0" blurRad="101600" dist="38100" dir="5400000">
              <a:srgbClr val="0F172A">
                <a:alpha val="18000"/>
              </a:srgbClr>
            </a:outerShdw>
          </a:effectLst>
        </p:spPr>
      </p:sp>
      <p:pic>
        <p:nvPicPr>
          <p:cNvPr id="7" name="Image 0" descr="/home/claude/civic-deck/icons/comment.png">    </p:cNvPr>
          <p:cNvPicPr>
            <a:picLocks noChangeAspect="1"/>
          </p:cNvPicPr>
          <p:nvPr/>
        </p:nvPicPr>
        <p:blipFill>
          <a:blip r:embed="rId1"/>
          <a:stretch>
            <a:fillRect/>
          </a:stretch>
        </p:blipFill>
        <p:spPr>
          <a:xfrm>
            <a:off x="907542" y="2590038"/>
            <a:ext cx="251460" cy="251460"/>
          </a:xfrm>
          <a:prstGeom prst="rect">
            <a:avLst/>
          </a:prstGeom>
        </p:spPr>
      </p:pic>
      <p:sp>
        <p:nvSpPr>
          <p:cNvPr id="8" name="Text 5"/>
          <p:cNvSpPr/>
          <p:nvPr/>
        </p:nvSpPr>
        <p:spPr>
          <a:xfrm>
            <a:off x="484632"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Citizen</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Complaint</a:t>
            </a:r>
            <a:endParaRPr lang="en-US" sz="900" dirty="0"/>
          </a:p>
        </p:txBody>
      </p:sp>
      <p:sp>
        <p:nvSpPr>
          <p:cNvPr id="9" name="Text 6"/>
          <p:cNvSpPr/>
          <p:nvPr/>
        </p:nvSpPr>
        <p:spPr>
          <a:xfrm>
            <a:off x="548640"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01</a:t>
            </a:r>
            <a:endParaRPr lang="en-US" sz="1000" dirty="0"/>
          </a:p>
        </p:txBody>
      </p:sp>
      <p:sp>
        <p:nvSpPr>
          <p:cNvPr id="10" name="Shape 7"/>
          <p:cNvSpPr/>
          <p:nvPr/>
        </p:nvSpPr>
        <p:spPr>
          <a:xfrm>
            <a:off x="1536558" y="2642616"/>
            <a:ext cx="118140" cy="164592"/>
          </a:xfrm>
          <a:prstGeom prst="rightArrow">
            <a:avLst/>
          </a:prstGeom>
          <a:solidFill>
            <a:srgbClr val="CBD5E1"/>
          </a:solidFill>
          <a:ln/>
        </p:spPr>
      </p:sp>
      <p:sp>
        <p:nvSpPr>
          <p:cNvPr id="11" name="Shape 8"/>
          <p:cNvSpPr/>
          <p:nvPr/>
        </p:nvSpPr>
        <p:spPr>
          <a:xfrm>
            <a:off x="1673352" y="2331720"/>
            <a:ext cx="969264" cy="1371600"/>
          </a:xfrm>
          <a:prstGeom prst="roundRect">
            <a:avLst>
              <a:gd name="adj" fmla="val 13208"/>
            </a:avLst>
          </a:prstGeom>
          <a:solidFill>
            <a:srgbClr val="F1F5F9"/>
          </a:solidFill>
          <a:ln/>
        </p:spPr>
      </p:sp>
      <p:sp>
        <p:nvSpPr>
          <p:cNvPr id="12" name="Shape 9"/>
          <p:cNvSpPr/>
          <p:nvPr/>
        </p:nvSpPr>
        <p:spPr>
          <a:xfrm>
            <a:off x="1929384" y="2487168"/>
            <a:ext cx="457200" cy="457200"/>
          </a:xfrm>
          <a:prstGeom prst="ellipse">
            <a:avLst/>
          </a:prstGeom>
          <a:solidFill>
            <a:srgbClr val="0F172A"/>
          </a:solidFill>
          <a:ln/>
          <a:effectLst>
            <a:outerShdw sx="100000" sy="100000" kx="0" ky="0" algn="bl" rotWithShape="0" blurRad="101600" dist="38100" dir="5400000">
              <a:srgbClr val="0F172A">
                <a:alpha val="18000"/>
              </a:srgbClr>
            </a:outerShdw>
          </a:effectLst>
        </p:spPr>
      </p:sp>
      <p:pic>
        <p:nvPicPr>
          <p:cNvPr id="13" name="Image 1" descr="/home/claude/civic-deck/icons/database.png">    </p:cNvPr>
          <p:cNvPicPr>
            <a:picLocks noChangeAspect="1"/>
          </p:cNvPicPr>
          <p:nvPr/>
        </p:nvPicPr>
        <p:blipFill>
          <a:blip r:embed="rId2"/>
          <a:stretch>
            <a:fillRect/>
          </a:stretch>
        </p:blipFill>
        <p:spPr>
          <a:xfrm>
            <a:off x="2032254" y="2590038"/>
            <a:ext cx="251460" cy="251460"/>
          </a:xfrm>
          <a:prstGeom prst="rect">
            <a:avLst/>
          </a:prstGeom>
        </p:spPr>
      </p:pic>
      <p:sp>
        <p:nvSpPr>
          <p:cNvPr id="14" name="Text 10"/>
          <p:cNvSpPr/>
          <p:nvPr/>
        </p:nvSpPr>
        <p:spPr>
          <a:xfrm>
            <a:off x="1609344"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Stored in</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PostgreSQL</a:t>
            </a:r>
            <a:endParaRPr lang="en-US" sz="900" dirty="0"/>
          </a:p>
        </p:txBody>
      </p:sp>
      <p:sp>
        <p:nvSpPr>
          <p:cNvPr id="15" name="Text 11"/>
          <p:cNvSpPr/>
          <p:nvPr/>
        </p:nvSpPr>
        <p:spPr>
          <a:xfrm>
            <a:off x="1673352"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02</a:t>
            </a:r>
            <a:endParaRPr lang="en-US" sz="1000" dirty="0"/>
          </a:p>
        </p:txBody>
      </p:sp>
      <p:sp>
        <p:nvSpPr>
          <p:cNvPr id="16" name="Shape 12"/>
          <p:cNvSpPr/>
          <p:nvPr/>
        </p:nvSpPr>
        <p:spPr>
          <a:xfrm>
            <a:off x="2661270" y="2642616"/>
            <a:ext cx="118140" cy="164592"/>
          </a:xfrm>
          <a:prstGeom prst="rightArrow">
            <a:avLst/>
          </a:prstGeom>
          <a:solidFill>
            <a:srgbClr val="CBD5E1"/>
          </a:solidFill>
          <a:ln/>
        </p:spPr>
      </p:sp>
      <p:sp>
        <p:nvSpPr>
          <p:cNvPr id="17" name="Shape 13"/>
          <p:cNvSpPr/>
          <p:nvPr/>
        </p:nvSpPr>
        <p:spPr>
          <a:xfrm>
            <a:off x="2798064" y="2331720"/>
            <a:ext cx="969264" cy="1371600"/>
          </a:xfrm>
          <a:prstGeom prst="roundRect">
            <a:avLst>
              <a:gd name="adj" fmla="val 13208"/>
            </a:avLst>
          </a:prstGeom>
          <a:solidFill>
            <a:srgbClr val="F1F5F9"/>
          </a:solidFill>
          <a:ln/>
        </p:spPr>
      </p:sp>
      <p:sp>
        <p:nvSpPr>
          <p:cNvPr id="18" name="Shape 14"/>
          <p:cNvSpPr/>
          <p:nvPr/>
        </p:nvSpPr>
        <p:spPr>
          <a:xfrm>
            <a:off x="3054096" y="2487168"/>
            <a:ext cx="457200" cy="457200"/>
          </a:xfrm>
          <a:prstGeom prst="ellipse">
            <a:avLst/>
          </a:prstGeom>
          <a:solidFill>
            <a:srgbClr val="0F172A"/>
          </a:solidFill>
          <a:ln/>
          <a:effectLst>
            <a:outerShdw sx="100000" sy="100000" kx="0" ky="0" algn="bl" rotWithShape="0" blurRad="101600" dist="38100" dir="5400000">
              <a:srgbClr val="0F172A">
                <a:alpha val="18000"/>
              </a:srgbClr>
            </a:outerShdw>
          </a:effectLst>
        </p:spPr>
      </p:sp>
      <p:pic>
        <p:nvPicPr>
          <p:cNvPr id="19" name="Image 2" descr="/home/claude/civic-deck/icons/server.png">    </p:cNvPr>
          <p:cNvPicPr>
            <a:picLocks noChangeAspect="1"/>
          </p:cNvPicPr>
          <p:nvPr/>
        </p:nvPicPr>
        <p:blipFill>
          <a:blip r:embed="rId3"/>
          <a:stretch>
            <a:fillRect/>
          </a:stretch>
        </p:blipFill>
        <p:spPr>
          <a:xfrm>
            <a:off x="3156966" y="2590038"/>
            <a:ext cx="251460" cy="251460"/>
          </a:xfrm>
          <a:prstGeom prst="rect">
            <a:avLst/>
          </a:prstGeom>
        </p:spPr>
      </p:pic>
      <p:sp>
        <p:nvSpPr>
          <p:cNvPr id="20" name="Text 15"/>
          <p:cNvSpPr/>
          <p:nvPr/>
        </p:nvSpPr>
        <p:spPr>
          <a:xfrm>
            <a:off x="2734056"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FastAPI</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GraphRAG</a:t>
            </a:r>
            <a:endParaRPr lang="en-US" sz="900" dirty="0"/>
          </a:p>
        </p:txBody>
      </p:sp>
      <p:sp>
        <p:nvSpPr>
          <p:cNvPr id="21" name="Text 16"/>
          <p:cNvSpPr/>
          <p:nvPr/>
        </p:nvSpPr>
        <p:spPr>
          <a:xfrm>
            <a:off x="2798064"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03</a:t>
            </a:r>
            <a:endParaRPr lang="en-US" sz="1000" dirty="0"/>
          </a:p>
        </p:txBody>
      </p:sp>
      <p:sp>
        <p:nvSpPr>
          <p:cNvPr id="22" name="Shape 17"/>
          <p:cNvSpPr/>
          <p:nvPr/>
        </p:nvSpPr>
        <p:spPr>
          <a:xfrm>
            <a:off x="3785982" y="2642616"/>
            <a:ext cx="118140" cy="164592"/>
          </a:xfrm>
          <a:prstGeom prst="rightArrow">
            <a:avLst/>
          </a:prstGeom>
          <a:solidFill>
            <a:srgbClr val="CBD5E1"/>
          </a:solidFill>
          <a:ln/>
        </p:spPr>
      </p:sp>
      <p:sp>
        <p:nvSpPr>
          <p:cNvPr id="23" name="Shape 18"/>
          <p:cNvSpPr/>
          <p:nvPr/>
        </p:nvSpPr>
        <p:spPr>
          <a:xfrm>
            <a:off x="3922776" y="2331720"/>
            <a:ext cx="969264" cy="1371600"/>
          </a:xfrm>
          <a:prstGeom prst="roundRect">
            <a:avLst>
              <a:gd name="adj" fmla="val 13208"/>
            </a:avLst>
          </a:prstGeom>
          <a:solidFill>
            <a:srgbClr val="F1F5F9"/>
          </a:solidFill>
          <a:ln/>
        </p:spPr>
      </p:sp>
      <p:sp>
        <p:nvSpPr>
          <p:cNvPr id="24" name="Shape 19"/>
          <p:cNvSpPr/>
          <p:nvPr/>
        </p:nvSpPr>
        <p:spPr>
          <a:xfrm>
            <a:off x="4178808" y="2487168"/>
            <a:ext cx="457200" cy="457200"/>
          </a:xfrm>
          <a:prstGeom prst="ellipse">
            <a:avLst/>
          </a:prstGeom>
          <a:solidFill>
            <a:srgbClr val="2563EB"/>
          </a:solidFill>
          <a:ln/>
          <a:effectLst>
            <a:outerShdw sx="100000" sy="100000" kx="0" ky="0" algn="bl" rotWithShape="0" blurRad="101600" dist="38100" dir="5400000">
              <a:srgbClr val="0F172A">
                <a:alpha val="18000"/>
              </a:srgbClr>
            </a:outerShdw>
          </a:effectLst>
        </p:spPr>
      </p:sp>
      <p:pic>
        <p:nvPicPr>
          <p:cNvPr id="25" name="Image 3" descr="/home/claude/civic-deck/icons/brain.png">    </p:cNvPr>
          <p:cNvPicPr>
            <a:picLocks noChangeAspect="1"/>
          </p:cNvPicPr>
          <p:nvPr/>
        </p:nvPicPr>
        <p:blipFill>
          <a:blip r:embed="rId4"/>
          <a:stretch>
            <a:fillRect/>
          </a:stretch>
        </p:blipFill>
        <p:spPr>
          <a:xfrm>
            <a:off x="4281678" y="2590038"/>
            <a:ext cx="251460" cy="251460"/>
          </a:xfrm>
          <a:prstGeom prst="rect">
            <a:avLst/>
          </a:prstGeom>
        </p:spPr>
      </p:pic>
      <p:sp>
        <p:nvSpPr>
          <p:cNvPr id="26" name="Text 20"/>
          <p:cNvSpPr/>
          <p:nvPr/>
        </p:nvSpPr>
        <p:spPr>
          <a:xfrm>
            <a:off x="3858768"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Qwen Entity</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Extraction</a:t>
            </a:r>
            <a:endParaRPr lang="en-US" sz="900" dirty="0"/>
          </a:p>
        </p:txBody>
      </p:sp>
      <p:sp>
        <p:nvSpPr>
          <p:cNvPr id="27" name="Text 21"/>
          <p:cNvSpPr/>
          <p:nvPr/>
        </p:nvSpPr>
        <p:spPr>
          <a:xfrm>
            <a:off x="3922776"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04</a:t>
            </a:r>
            <a:endParaRPr lang="en-US" sz="1000" dirty="0"/>
          </a:p>
        </p:txBody>
      </p:sp>
      <p:sp>
        <p:nvSpPr>
          <p:cNvPr id="28" name="Shape 22"/>
          <p:cNvSpPr/>
          <p:nvPr/>
        </p:nvSpPr>
        <p:spPr>
          <a:xfrm>
            <a:off x="4910694" y="2642616"/>
            <a:ext cx="118140" cy="164592"/>
          </a:xfrm>
          <a:prstGeom prst="rightArrow">
            <a:avLst/>
          </a:prstGeom>
          <a:solidFill>
            <a:srgbClr val="CBD5E1"/>
          </a:solidFill>
          <a:ln/>
        </p:spPr>
      </p:sp>
      <p:sp>
        <p:nvSpPr>
          <p:cNvPr id="29" name="Shape 23"/>
          <p:cNvSpPr/>
          <p:nvPr/>
        </p:nvSpPr>
        <p:spPr>
          <a:xfrm>
            <a:off x="5047488" y="2331720"/>
            <a:ext cx="969264" cy="1371600"/>
          </a:xfrm>
          <a:prstGeom prst="roundRect">
            <a:avLst>
              <a:gd name="adj" fmla="val 13208"/>
            </a:avLst>
          </a:prstGeom>
          <a:solidFill>
            <a:srgbClr val="F1F5F9"/>
          </a:solidFill>
          <a:ln/>
        </p:spPr>
      </p:sp>
      <p:sp>
        <p:nvSpPr>
          <p:cNvPr id="30" name="Shape 24"/>
          <p:cNvSpPr/>
          <p:nvPr/>
        </p:nvSpPr>
        <p:spPr>
          <a:xfrm>
            <a:off x="5303520" y="2487168"/>
            <a:ext cx="457200" cy="457200"/>
          </a:xfrm>
          <a:prstGeom prst="ellipse">
            <a:avLst/>
          </a:prstGeom>
          <a:solidFill>
            <a:srgbClr val="2563EB"/>
          </a:solidFill>
          <a:ln/>
          <a:effectLst>
            <a:outerShdw sx="100000" sy="100000" kx="0" ky="0" algn="bl" rotWithShape="0" blurRad="101600" dist="38100" dir="5400000">
              <a:srgbClr val="0F172A">
                <a:alpha val="18000"/>
              </a:srgbClr>
            </a:outerShdw>
          </a:effectLst>
        </p:spPr>
      </p:sp>
      <p:pic>
        <p:nvPicPr>
          <p:cNvPr id="31" name="Image 4" descr="/home/claude/civic-deck/icons/listCheck.png">    </p:cNvPr>
          <p:cNvPicPr>
            <a:picLocks noChangeAspect="1"/>
          </p:cNvPicPr>
          <p:nvPr/>
        </p:nvPicPr>
        <p:blipFill>
          <a:blip r:embed="rId5"/>
          <a:stretch>
            <a:fillRect/>
          </a:stretch>
        </p:blipFill>
        <p:spPr>
          <a:xfrm>
            <a:off x="5406390" y="2590038"/>
            <a:ext cx="251460" cy="251460"/>
          </a:xfrm>
          <a:prstGeom prst="rect">
            <a:avLst/>
          </a:prstGeom>
        </p:spPr>
      </p:pic>
      <p:sp>
        <p:nvSpPr>
          <p:cNvPr id="32" name="Text 25"/>
          <p:cNvSpPr/>
          <p:nvPr/>
        </p:nvSpPr>
        <p:spPr>
          <a:xfrm>
            <a:off x="4983480"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Ontology</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Normalization</a:t>
            </a:r>
            <a:endParaRPr lang="en-US" sz="900" dirty="0"/>
          </a:p>
        </p:txBody>
      </p:sp>
      <p:sp>
        <p:nvSpPr>
          <p:cNvPr id="33" name="Text 26"/>
          <p:cNvSpPr/>
          <p:nvPr/>
        </p:nvSpPr>
        <p:spPr>
          <a:xfrm>
            <a:off x="5047488"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05</a:t>
            </a:r>
            <a:endParaRPr lang="en-US" sz="1000" dirty="0"/>
          </a:p>
        </p:txBody>
      </p:sp>
      <p:sp>
        <p:nvSpPr>
          <p:cNvPr id="34" name="Shape 27"/>
          <p:cNvSpPr/>
          <p:nvPr/>
        </p:nvSpPr>
        <p:spPr>
          <a:xfrm>
            <a:off x="6035406" y="2642616"/>
            <a:ext cx="118140" cy="164592"/>
          </a:xfrm>
          <a:prstGeom prst="rightArrow">
            <a:avLst/>
          </a:prstGeom>
          <a:solidFill>
            <a:srgbClr val="CBD5E1"/>
          </a:solidFill>
          <a:ln/>
        </p:spPr>
      </p:sp>
      <p:sp>
        <p:nvSpPr>
          <p:cNvPr id="35" name="Shape 28"/>
          <p:cNvSpPr/>
          <p:nvPr/>
        </p:nvSpPr>
        <p:spPr>
          <a:xfrm>
            <a:off x="6172200" y="2331720"/>
            <a:ext cx="969264" cy="1371600"/>
          </a:xfrm>
          <a:prstGeom prst="roundRect">
            <a:avLst>
              <a:gd name="adj" fmla="val 13208"/>
            </a:avLst>
          </a:prstGeom>
          <a:solidFill>
            <a:srgbClr val="F1F5F9"/>
          </a:solidFill>
          <a:ln/>
        </p:spPr>
      </p:sp>
      <p:sp>
        <p:nvSpPr>
          <p:cNvPr id="36" name="Shape 29"/>
          <p:cNvSpPr/>
          <p:nvPr/>
        </p:nvSpPr>
        <p:spPr>
          <a:xfrm>
            <a:off x="6428232" y="2487168"/>
            <a:ext cx="457200" cy="457200"/>
          </a:xfrm>
          <a:prstGeom prst="ellipse">
            <a:avLst/>
          </a:prstGeom>
          <a:solidFill>
            <a:srgbClr val="10B981"/>
          </a:solidFill>
          <a:ln/>
          <a:effectLst>
            <a:outerShdw sx="100000" sy="100000" kx="0" ky="0" algn="bl" rotWithShape="0" blurRad="101600" dist="38100" dir="5400000">
              <a:srgbClr val="0F172A">
                <a:alpha val="18000"/>
              </a:srgbClr>
            </a:outerShdw>
          </a:effectLst>
        </p:spPr>
      </p:sp>
      <p:pic>
        <p:nvPicPr>
          <p:cNvPr id="37" name="Image 5" descr="/home/claude/civic-deck/icons/sitemap.png">    </p:cNvPr>
          <p:cNvPicPr>
            <a:picLocks noChangeAspect="1"/>
          </p:cNvPicPr>
          <p:nvPr/>
        </p:nvPicPr>
        <p:blipFill>
          <a:blip r:embed="rId6"/>
          <a:stretch>
            <a:fillRect/>
          </a:stretch>
        </p:blipFill>
        <p:spPr>
          <a:xfrm>
            <a:off x="6531102" y="2590038"/>
            <a:ext cx="251460" cy="251460"/>
          </a:xfrm>
          <a:prstGeom prst="rect">
            <a:avLst/>
          </a:prstGeom>
        </p:spPr>
      </p:pic>
      <p:sp>
        <p:nvSpPr>
          <p:cNvPr id="38" name="Text 30"/>
          <p:cNvSpPr/>
          <p:nvPr/>
        </p:nvSpPr>
        <p:spPr>
          <a:xfrm>
            <a:off x="6108192"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Neo4j Graph</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Construction</a:t>
            </a:r>
            <a:endParaRPr lang="en-US" sz="900" dirty="0"/>
          </a:p>
        </p:txBody>
      </p:sp>
      <p:sp>
        <p:nvSpPr>
          <p:cNvPr id="39" name="Text 31"/>
          <p:cNvSpPr/>
          <p:nvPr/>
        </p:nvSpPr>
        <p:spPr>
          <a:xfrm>
            <a:off x="6172200"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06</a:t>
            </a:r>
            <a:endParaRPr lang="en-US" sz="1000" dirty="0"/>
          </a:p>
        </p:txBody>
      </p:sp>
      <p:sp>
        <p:nvSpPr>
          <p:cNvPr id="40" name="Shape 32"/>
          <p:cNvSpPr/>
          <p:nvPr/>
        </p:nvSpPr>
        <p:spPr>
          <a:xfrm>
            <a:off x="7160118" y="2642616"/>
            <a:ext cx="118140" cy="164592"/>
          </a:xfrm>
          <a:prstGeom prst="rightArrow">
            <a:avLst/>
          </a:prstGeom>
          <a:solidFill>
            <a:srgbClr val="CBD5E1"/>
          </a:solidFill>
          <a:ln/>
        </p:spPr>
      </p:sp>
      <p:sp>
        <p:nvSpPr>
          <p:cNvPr id="41" name="Shape 33"/>
          <p:cNvSpPr/>
          <p:nvPr/>
        </p:nvSpPr>
        <p:spPr>
          <a:xfrm>
            <a:off x="7296912" y="2331720"/>
            <a:ext cx="969264" cy="1371600"/>
          </a:xfrm>
          <a:prstGeom prst="roundRect">
            <a:avLst>
              <a:gd name="adj" fmla="val 13208"/>
            </a:avLst>
          </a:prstGeom>
          <a:solidFill>
            <a:srgbClr val="F1F5F9"/>
          </a:solidFill>
          <a:ln/>
        </p:spPr>
      </p:sp>
      <p:sp>
        <p:nvSpPr>
          <p:cNvPr id="42" name="Shape 34"/>
          <p:cNvSpPr/>
          <p:nvPr/>
        </p:nvSpPr>
        <p:spPr>
          <a:xfrm>
            <a:off x="7552944" y="2487168"/>
            <a:ext cx="457200" cy="457200"/>
          </a:xfrm>
          <a:prstGeom prst="ellipse">
            <a:avLst/>
          </a:prstGeom>
          <a:solidFill>
            <a:srgbClr val="10B981"/>
          </a:solidFill>
          <a:ln/>
          <a:effectLst>
            <a:outerShdw sx="100000" sy="100000" kx="0" ky="0" algn="bl" rotWithShape="0" blurRad="101600" dist="38100" dir="5400000">
              <a:srgbClr val="0F172A">
                <a:alpha val="18000"/>
              </a:srgbClr>
            </a:outerShdw>
          </a:effectLst>
        </p:spPr>
      </p:sp>
      <p:pic>
        <p:nvPicPr>
          <p:cNvPr id="43" name="Image 6" descr="/home/claude/civic-deck/icons/route.png">    </p:cNvPr>
          <p:cNvPicPr>
            <a:picLocks noChangeAspect="1"/>
          </p:cNvPicPr>
          <p:nvPr/>
        </p:nvPicPr>
        <p:blipFill>
          <a:blip r:embed="rId7"/>
          <a:stretch>
            <a:fillRect/>
          </a:stretch>
        </p:blipFill>
        <p:spPr>
          <a:xfrm>
            <a:off x="7655814" y="2590038"/>
            <a:ext cx="251460" cy="251460"/>
          </a:xfrm>
          <a:prstGeom prst="rect">
            <a:avLst/>
          </a:prstGeom>
        </p:spPr>
      </p:pic>
      <p:sp>
        <p:nvSpPr>
          <p:cNvPr id="44" name="Text 35"/>
          <p:cNvSpPr/>
          <p:nvPr/>
        </p:nvSpPr>
        <p:spPr>
          <a:xfrm>
            <a:off x="7232904"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Department</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Routing</a:t>
            </a:r>
            <a:endParaRPr lang="en-US" sz="900" dirty="0"/>
          </a:p>
        </p:txBody>
      </p:sp>
      <p:sp>
        <p:nvSpPr>
          <p:cNvPr id="45" name="Text 36"/>
          <p:cNvSpPr/>
          <p:nvPr/>
        </p:nvSpPr>
        <p:spPr>
          <a:xfrm>
            <a:off x="7296912"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07</a:t>
            </a:r>
            <a:endParaRPr lang="en-US" sz="1000" dirty="0"/>
          </a:p>
        </p:txBody>
      </p:sp>
      <p:sp>
        <p:nvSpPr>
          <p:cNvPr id="46" name="Shape 37"/>
          <p:cNvSpPr/>
          <p:nvPr/>
        </p:nvSpPr>
        <p:spPr>
          <a:xfrm>
            <a:off x="8284830" y="2642616"/>
            <a:ext cx="118140" cy="164592"/>
          </a:xfrm>
          <a:prstGeom prst="rightArrow">
            <a:avLst/>
          </a:prstGeom>
          <a:solidFill>
            <a:srgbClr val="CBD5E1"/>
          </a:solidFill>
          <a:ln/>
        </p:spPr>
      </p:sp>
      <p:sp>
        <p:nvSpPr>
          <p:cNvPr id="47" name="Shape 38"/>
          <p:cNvSpPr/>
          <p:nvPr/>
        </p:nvSpPr>
        <p:spPr>
          <a:xfrm>
            <a:off x="8421624" y="2331720"/>
            <a:ext cx="969264" cy="1371600"/>
          </a:xfrm>
          <a:prstGeom prst="roundRect">
            <a:avLst>
              <a:gd name="adj" fmla="val 13208"/>
            </a:avLst>
          </a:prstGeom>
          <a:solidFill>
            <a:srgbClr val="F1F5F9"/>
          </a:solidFill>
          <a:ln/>
        </p:spPr>
      </p:sp>
      <p:sp>
        <p:nvSpPr>
          <p:cNvPr id="48" name="Shape 39"/>
          <p:cNvSpPr/>
          <p:nvPr/>
        </p:nvSpPr>
        <p:spPr>
          <a:xfrm>
            <a:off x="8677656" y="2487168"/>
            <a:ext cx="457200" cy="457200"/>
          </a:xfrm>
          <a:prstGeom prst="ellipse">
            <a:avLst/>
          </a:prstGeom>
          <a:solidFill>
            <a:srgbClr val="2563EB"/>
          </a:solidFill>
          <a:ln/>
          <a:effectLst>
            <a:outerShdw sx="100000" sy="100000" kx="0" ky="0" algn="bl" rotWithShape="0" blurRad="101600" dist="38100" dir="5400000">
              <a:srgbClr val="0F172A">
                <a:alpha val="18000"/>
              </a:srgbClr>
            </a:outerShdw>
          </a:effectLst>
        </p:spPr>
      </p:sp>
      <p:pic>
        <p:nvPicPr>
          <p:cNvPr id="49" name="Image 7" descr="/home/claude/civic-deck/icons/vector.png">    </p:cNvPr>
          <p:cNvPicPr>
            <a:picLocks noChangeAspect="1"/>
          </p:cNvPicPr>
          <p:nvPr/>
        </p:nvPicPr>
        <p:blipFill>
          <a:blip r:embed="rId8"/>
          <a:stretch>
            <a:fillRect/>
          </a:stretch>
        </p:blipFill>
        <p:spPr>
          <a:xfrm>
            <a:off x="8780526" y="2590038"/>
            <a:ext cx="251460" cy="251460"/>
          </a:xfrm>
          <a:prstGeom prst="rect">
            <a:avLst/>
          </a:prstGeom>
        </p:spPr>
      </p:pic>
      <p:sp>
        <p:nvSpPr>
          <p:cNvPr id="50" name="Text 40"/>
          <p:cNvSpPr/>
          <p:nvPr/>
        </p:nvSpPr>
        <p:spPr>
          <a:xfrm>
            <a:off x="8357616"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BGE-M3</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Embedding</a:t>
            </a:r>
            <a:endParaRPr lang="en-US" sz="900" dirty="0"/>
          </a:p>
        </p:txBody>
      </p:sp>
      <p:sp>
        <p:nvSpPr>
          <p:cNvPr id="51" name="Text 41"/>
          <p:cNvSpPr/>
          <p:nvPr/>
        </p:nvSpPr>
        <p:spPr>
          <a:xfrm>
            <a:off x="8421624"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08</a:t>
            </a:r>
            <a:endParaRPr lang="en-US" sz="1000" dirty="0"/>
          </a:p>
        </p:txBody>
      </p:sp>
      <p:sp>
        <p:nvSpPr>
          <p:cNvPr id="52" name="Shape 42"/>
          <p:cNvSpPr/>
          <p:nvPr/>
        </p:nvSpPr>
        <p:spPr>
          <a:xfrm>
            <a:off x="9409542" y="2642616"/>
            <a:ext cx="118140" cy="164592"/>
          </a:xfrm>
          <a:prstGeom prst="rightArrow">
            <a:avLst/>
          </a:prstGeom>
          <a:solidFill>
            <a:srgbClr val="CBD5E1"/>
          </a:solidFill>
          <a:ln/>
        </p:spPr>
      </p:sp>
      <p:sp>
        <p:nvSpPr>
          <p:cNvPr id="53" name="Shape 43"/>
          <p:cNvSpPr/>
          <p:nvPr/>
        </p:nvSpPr>
        <p:spPr>
          <a:xfrm>
            <a:off x="9546336" y="2331720"/>
            <a:ext cx="969264" cy="1371600"/>
          </a:xfrm>
          <a:prstGeom prst="roundRect">
            <a:avLst>
              <a:gd name="adj" fmla="val 13208"/>
            </a:avLst>
          </a:prstGeom>
          <a:solidFill>
            <a:srgbClr val="F1F5F9"/>
          </a:solidFill>
          <a:ln/>
        </p:spPr>
      </p:sp>
      <p:sp>
        <p:nvSpPr>
          <p:cNvPr id="54" name="Shape 44"/>
          <p:cNvSpPr/>
          <p:nvPr/>
        </p:nvSpPr>
        <p:spPr>
          <a:xfrm>
            <a:off x="9802368" y="2487168"/>
            <a:ext cx="457200" cy="457200"/>
          </a:xfrm>
          <a:prstGeom prst="ellipse">
            <a:avLst/>
          </a:prstGeom>
          <a:solidFill>
            <a:srgbClr val="10B981"/>
          </a:solidFill>
          <a:ln/>
          <a:effectLst>
            <a:outerShdw sx="100000" sy="100000" kx="0" ky="0" algn="bl" rotWithShape="0" blurRad="101600" dist="38100" dir="5400000">
              <a:srgbClr val="0F172A">
                <a:alpha val="18000"/>
              </a:srgbClr>
            </a:outerShdw>
          </a:effectLst>
        </p:spPr>
      </p:sp>
      <p:pic>
        <p:nvPicPr>
          <p:cNvPr id="55" name="Image 8" descr="/home/claude/civic-deck/icons/magnify.png">    </p:cNvPr>
          <p:cNvPicPr>
            <a:picLocks noChangeAspect="1"/>
          </p:cNvPicPr>
          <p:nvPr/>
        </p:nvPicPr>
        <p:blipFill>
          <a:blip r:embed="rId9"/>
          <a:stretch>
            <a:fillRect/>
          </a:stretch>
        </p:blipFill>
        <p:spPr>
          <a:xfrm>
            <a:off x="9905238" y="2590038"/>
            <a:ext cx="251460" cy="251460"/>
          </a:xfrm>
          <a:prstGeom prst="rect">
            <a:avLst/>
          </a:prstGeom>
        </p:spPr>
      </p:pic>
      <p:sp>
        <p:nvSpPr>
          <p:cNvPr id="56" name="Text 45"/>
          <p:cNvSpPr/>
          <p:nvPr/>
        </p:nvSpPr>
        <p:spPr>
          <a:xfrm>
            <a:off x="9482328"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Qdrant Semantic</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Retrieval</a:t>
            </a:r>
            <a:endParaRPr lang="en-US" sz="900" dirty="0"/>
          </a:p>
        </p:txBody>
      </p:sp>
      <p:sp>
        <p:nvSpPr>
          <p:cNvPr id="57" name="Text 46"/>
          <p:cNvSpPr/>
          <p:nvPr/>
        </p:nvSpPr>
        <p:spPr>
          <a:xfrm>
            <a:off x="9546336"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09</a:t>
            </a:r>
            <a:endParaRPr lang="en-US" sz="1000" dirty="0"/>
          </a:p>
        </p:txBody>
      </p:sp>
      <p:sp>
        <p:nvSpPr>
          <p:cNvPr id="58" name="Shape 47"/>
          <p:cNvSpPr/>
          <p:nvPr/>
        </p:nvSpPr>
        <p:spPr>
          <a:xfrm>
            <a:off x="10534254" y="2642616"/>
            <a:ext cx="118140" cy="164592"/>
          </a:xfrm>
          <a:prstGeom prst="rightArrow">
            <a:avLst/>
          </a:prstGeom>
          <a:solidFill>
            <a:srgbClr val="CBD5E1"/>
          </a:solidFill>
          <a:ln/>
        </p:spPr>
      </p:sp>
      <p:sp>
        <p:nvSpPr>
          <p:cNvPr id="59" name="Shape 48"/>
          <p:cNvSpPr/>
          <p:nvPr/>
        </p:nvSpPr>
        <p:spPr>
          <a:xfrm>
            <a:off x="10671048" y="2331720"/>
            <a:ext cx="969264" cy="1371600"/>
          </a:xfrm>
          <a:prstGeom prst="roundRect">
            <a:avLst>
              <a:gd name="adj" fmla="val 13208"/>
            </a:avLst>
          </a:prstGeom>
          <a:solidFill>
            <a:srgbClr val="F1F5F9"/>
          </a:solidFill>
          <a:ln/>
        </p:spPr>
      </p:sp>
      <p:sp>
        <p:nvSpPr>
          <p:cNvPr id="60" name="Shape 49"/>
          <p:cNvSpPr/>
          <p:nvPr/>
        </p:nvSpPr>
        <p:spPr>
          <a:xfrm>
            <a:off x="10927080" y="2487168"/>
            <a:ext cx="457200" cy="457200"/>
          </a:xfrm>
          <a:prstGeom prst="ellipse">
            <a:avLst/>
          </a:prstGeom>
          <a:solidFill>
            <a:srgbClr val="0F172A"/>
          </a:solidFill>
          <a:ln/>
          <a:effectLst>
            <a:outerShdw sx="100000" sy="100000" kx="0" ky="0" algn="bl" rotWithShape="0" blurRad="101600" dist="38100" dir="5400000">
              <a:srgbClr val="0F172A">
                <a:alpha val="18000"/>
              </a:srgbClr>
            </a:outerShdw>
          </a:effectLst>
        </p:spPr>
      </p:sp>
      <p:pic>
        <p:nvPicPr>
          <p:cNvPr id="61" name="Image 9" descr="/home/claude/civic-deck/icons/gauge.png">    </p:cNvPr>
          <p:cNvPicPr>
            <a:picLocks noChangeAspect="1"/>
          </p:cNvPicPr>
          <p:nvPr/>
        </p:nvPicPr>
        <p:blipFill>
          <a:blip r:embed="rId10"/>
          <a:stretch>
            <a:fillRect/>
          </a:stretch>
        </p:blipFill>
        <p:spPr>
          <a:xfrm>
            <a:off x="11029950" y="2590038"/>
            <a:ext cx="251460" cy="251460"/>
          </a:xfrm>
          <a:prstGeom prst="rect">
            <a:avLst/>
          </a:prstGeom>
        </p:spPr>
      </p:pic>
      <p:sp>
        <p:nvSpPr>
          <p:cNvPr id="62" name="Text 50"/>
          <p:cNvSpPr/>
          <p:nvPr/>
        </p:nvSpPr>
        <p:spPr>
          <a:xfrm>
            <a:off x="10607040" y="3044952"/>
            <a:ext cx="1097280" cy="594360"/>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Admin</a:t>
            </a:r>
            <a:endParaRPr lang="en-US" sz="900" dirty="0"/>
          </a:p>
          <a:p>
            <a:pPr algn="ctr" indent="0" marL="0">
              <a:lnSpc>
                <a:spcPct val="105000"/>
              </a:lnSpc>
              <a:buNone/>
            </a:pPr>
            <a:r>
              <a:rPr lang="en-US" sz="900" b="1" dirty="0">
                <a:solidFill>
                  <a:srgbClr val="0F172A"/>
                </a:solidFill>
                <a:latin typeface="Inter" pitchFamily="34" charset="0"/>
                <a:ea typeface="Inter" pitchFamily="34" charset="-122"/>
                <a:cs typeface="Inter" pitchFamily="34" charset="-120"/>
              </a:rPr>
              <a:t>Dashboard</a:t>
            </a:r>
            <a:endParaRPr lang="en-US" sz="900" dirty="0"/>
          </a:p>
        </p:txBody>
      </p:sp>
      <p:sp>
        <p:nvSpPr>
          <p:cNvPr id="63" name="Text 51"/>
          <p:cNvSpPr/>
          <p:nvPr/>
        </p:nvSpPr>
        <p:spPr>
          <a:xfrm>
            <a:off x="10671048" y="2039112"/>
            <a:ext cx="969264" cy="256032"/>
          </a:xfrm>
          <a:prstGeom prst="rect">
            <a:avLst/>
          </a:prstGeom>
          <a:noFill/>
          <a:ln/>
        </p:spPr>
        <p:txBody>
          <a:bodyPr wrap="square" lIns="0" tIns="0" rIns="0" bIns="0" rtlCol="0" anchor="ctr"/>
          <a:lstStyle/>
          <a:p>
            <a:pPr algn="ctr" indent="0" marL="0">
              <a:buNone/>
            </a:pPr>
            <a:r>
              <a:rPr lang="en-US" sz="1000" b="1" dirty="0">
                <a:solidFill>
                  <a:srgbClr val="94A3B8"/>
                </a:solidFill>
                <a:latin typeface="Space Grotesk" pitchFamily="34" charset="0"/>
                <a:ea typeface="Space Grotesk" pitchFamily="34" charset="-122"/>
                <a:cs typeface="Space Grotesk" pitchFamily="34" charset="-120"/>
              </a:rPr>
              <a:t>10</a:t>
            </a:r>
            <a:endParaRPr lang="en-US" sz="1000" dirty="0"/>
          </a:p>
        </p:txBody>
      </p:sp>
      <p:sp>
        <p:nvSpPr>
          <p:cNvPr id="64" name="Shape 52"/>
          <p:cNvSpPr/>
          <p:nvPr/>
        </p:nvSpPr>
        <p:spPr>
          <a:xfrm>
            <a:off x="548640" y="4297680"/>
            <a:ext cx="11091672" cy="1737360"/>
          </a:xfrm>
          <a:prstGeom prst="roundRect">
            <a:avLst>
              <a:gd name="adj" fmla="val 7368"/>
            </a:avLst>
          </a:prstGeom>
          <a:solidFill>
            <a:srgbClr val="0F172A"/>
          </a:solidFill>
          <a:ln/>
        </p:spPr>
      </p:sp>
      <p:sp>
        <p:nvSpPr>
          <p:cNvPr id="65" name="Shape 53"/>
          <p:cNvSpPr/>
          <p:nvPr/>
        </p:nvSpPr>
        <p:spPr>
          <a:xfrm>
            <a:off x="868680" y="4553712"/>
            <a:ext cx="109728" cy="109728"/>
          </a:xfrm>
          <a:prstGeom prst="ellipse">
            <a:avLst/>
          </a:prstGeom>
          <a:solidFill>
            <a:srgbClr val="2563EB"/>
          </a:solidFill>
          <a:ln/>
        </p:spPr>
      </p:sp>
      <p:sp>
        <p:nvSpPr>
          <p:cNvPr id="66" name="Text 54"/>
          <p:cNvSpPr/>
          <p:nvPr/>
        </p:nvSpPr>
        <p:spPr>
          <a:xfrm>
            <a:off x="1097280" y="4453128"/>
            <a:ext cx="2377440" cy="292608"/>
          </a:xfrm>
          <a:prstGeom prst="rect">
            <a:avLst/>
          </a:prstGeom>
          <a:noFill/>
          <a:ln/>
        </p:spPr>
        <p:txBody>
          <a:bodyPr wrap="square" lIns="0" tIns="0" rIns="0" bIns="0" rtlCol="0" anchor="ctr"/>
          <a:lstStyle/>
          <a:p>
            <a:pPr indent="0" marL="0">
              <a:buNone/>
            </a:pPr>
            <a:r>
              <a:rPr lang="en-US" sz="1200" b="1" dirty="0">
                <a:solidFill>
                  <a:srgbClr val="FFFFFF"/>
                </a:solidFill>
                <a:latin typeface="Poppins" pitchFamily="34" charset="0"/>
                <a:ea typeface="Poppins" pitchFamily="34" charset="-122"/>
                <a:cs typeface="Poppins" pitchFamily="34" charset="-120"/>
              </a:rPr>
              <a:t>Ingestion</a:t>
            </a:r>
            <a:endParaRPr lang="en-US" sz="1200" dirty="0"/>
          </a:p>
        </p:txBody>
      </p:sp>
      <p:sp>
        <p:nvSpPr>
          <p:cNvPr id="67" name="Text 55"/>
          <p:cNvSpPr/>
          <p:nvPr/>
        </p:nvSpPr>
        <p:spPr>
          <a:xfrm>
            <a:off x="868680" y="4800600"/>
            <a:ext cx="2468880" cy="1051560"/>
          </a:xfrm>
          <a:prstGeom prst="rect">
            <a:avLst/>
          </a:prstGeom>
          <a:noFill/>
          <a:ln/>
        </p:spPr>
        <p:txBody>
          <a:bodyPr wrap="square" lIns="0" tIns="0" rIns="0" bIns="0" rtlCol="0" anchor="ctr"/>
          <a:lstStyle/>
          <a:p>
            <a:pPr indent="0" marL="0">
              <a:lnSpc>
                <a:spcPct val="120000"/>
              </a:lnSpc>
              <a:buNone/>
            </a:pPr>
            <a:r>
              <a:rPr lang="en-US" sz="950" dirty="0">
                <a:solidFill>
                  <a:srgbClr val="CBD5E1"/>
                </a:solidFill>
                <a:latin typeface="Inter" pitchFamily="34" charset="0"/>
                <a:ea typeface="Inter" pitchFamily="34" charset="-122"/>
                <a:cs typeface="Inter" pitchFamily="34" charset="-120"/>
              </a:rPr>
              <a:t>Complaint captured, persisted, and handed to the GraphRAG engine.</a:t>
            </a:r>
            <a:endParaRPr lang="en-US" sz="950" dirty="0"/>
          </a:p>
        </p:txBody>
      </p:sp>
      <p:sp>
        <p:nvSpPr>
          <p:cNvPr id="68" name="Shape 56"/>
          <p:cNvSpPr/>
          <p:nvPr/>
        </p:nvSpPr>
        <p:spPr>
          <a:xfrm>
            <a:off x="3593592" y="4553712"/>
            <a:ext cx="109728" cy="109728"/>
          </a:xfrm>
          <a:prstGeom prst="ellipse">
            <a:avLst/>
          </a:prstGeom>
          <a:solidFill>
            <a:srgbClr val="2563EB"/>
          </a:solidFill>
          <a:ln/>
        </p:spPr>
      </p:sp>
      <p:sp>
        <p:nvSpPr>
          <p:cNvPr id="69" name="Text 57"/>
          <p:cNvSpPr/>
          <p:nvPr/>
        </p:nvSpPr>
        <p:spPr>
          <a:xfrm>
            <a:off x="3822192" y="4453128"/>
            <a:ext cx="2377440" cy="292608"/>
          </a:xfrm>
          <a:prstGeom prst="rect">
            <a:avLst/>
          </a:prstGeom>
          <a:noFill/>
          <a:ln/>
        </p:spPr>
        <p:txBody>
          <a:bodyPr wrap="square" lIns="0" tIns="0" rIns="0" bIns="0" rtlCol="0" anchor="ctr"/>
          <a:lstStyle/>
          <a:p>
            <a:pPr indent="0" marL="0">
              <a:buNone/>
            </a:pPr>
            <a:r>
              <a:rPr lang="en-US" sz="1200" b="1" dirty="0">
                <a:solidFill>
                  <a:srgbClr val="FFFFFF"/>
                </a:solidFill>
                <a:latin typeface="Poppins" pitchFamily="34" charset="0"/>
                <a:ea typeface="Poppins" pitchFamily="34" charset="-122"/>
                <a:cs typeface="Poppins" pitchFamily="34" charset="-120"/>
              </a:rPr>
              <a:t>Understanding</a:t>
            </a:r>
            <a:endParaRPr lang="en-US" sz="1200" dirty="0"/>
          </a:p>
        </p:txBody>
      </p:sp>
      <p:sp>
        <p:nvSpPr>
          <p:cNvPr id="70" name="Text 58"/>
          <p:cNvSpPr/>
          <p:nvPr/>
        </p:nvSpPr>
        <p:spPr>
          <a:xfrm>
            <a:off x="3593592" y="4800600"/>
            <a:ext cx="2468880" cy="1051560"/>
          </a:xfrm>
          <a:prstGeom prst="rect">
            <a:avLst/>
          </a:prstGeom>
          <a:noFill/>
          <a:ln/>
        </p:spPr>
        <p:txBody>
          <a:bodyPr wrap="square" lIns="0" tIns="0" rIns="0" bIns="0" rtlCol="0" anchor="ctr"/>
          <a:lstStyle/>
          <a:p>
            <a:pPr indent="0" marL="0">
              <a:lnSpc>
                <a:spcPct val="120000"/>
              </a:lnSpc>
              <a:buNone/>
            </a:pPr>
            <a:r>
              <a:rPr lang="en-US" sz="950" dirty="0">
                <a:solidFill>
                  <a:srgbClr val="CBD5E1"/>
                </a:solidFill>
                <a:latin typeface="Inter" pitchFamily="34" charset="0"/>
                <a:ea typeface="Inter" pitchFamily="34" charset="-122"/>
                <a:cs typeface="Inter" pitchFamily="34" charset="-120"/>
              </a:rPr>
              <a:t>LLM extraction + ontology normalization turn free text into structured entities.</a:t>
            </a:r>
            <a:endParaRPr lang="en-US" sz="950" dirty="0"/>
          </a:p>
        </p:txBody>
      </p:sp>
      <p:sp>
        <p:nvSpPr>
          <p:cNvPr id="71" name="Shape 59"/>
          <p:cNvSpPr/>
          <p:nvPr/>
        </p:nvSpPr>
        <p:spPr>
          <a:xfrm>
            <a:off x="6318504" y="4553712"/>
            <a:ext cx="109728" cy="109728"/>
          </a:xfrm>
          <a:prstGeom prst="ellipse">
            <a:avLst/>
          </a:prstGeom>
          <a:solidFill>
            <a:srgbClr val="10B981"/>
          </a:solidFill>
          <a:ln/>
        </p:spPr>
      </p:sp>
      <p:sp>
        <p:nvSpPr>
          <p:cNvPr id="72" name="Text 60"/>
          <p:cNvSpPr/>
          <p:nvPr/>
        </p:nvSpPr>
        <p:spPr>
          <a:xfrm>
            <a:off x="6547104" y="4453128"/>
            <a:ext cx="2377440" cy="292608"/>
          </a:xfrm>
          <a:prstGeom prst="rect">
            <a:avLst/>
          </a:prstGeom>
          <a:noFill/>
          <a:ln/>
        </p:spPr>
        <p:txBody>
          <a:bodyPr wrap="square" lIns="0" tIns="0" rIns="0" bIns="0" rtlCol="0" anchor="ctr"/>
          <a:lstStyle/>
          <a:p>
            <a:pPr indent="0" marL="0">
              <a:buNone/>
            </a:pPr>
            <a:r>
              <a:rPr lang="en-US" sz="1200" b="1" dirty="0">
                <a:solidFill>
                  <a:srgbClr val="FFFFFF"/>
                </a:solidFill>
                <a:latin typeface="Poppins" pitchFamily="34" charset="0"/>
                <a:ea typeface="Poppins" pitchFamily="34" charset="-122"/>
                <a:cs typeface="Poppins" pitchFamily="34" charset="-120"/>
              </a:rPr>
              <a:t>Reasoning</a:t>
            </a:r>
            <a:endParaRPr lang="en-US" sz="1200" dirty="0"/>
          </a:p>
        </p:txBody>
      </p:sp>
      <p:sp>
        <p:nvSpPr>
          <p:cNvPr id="73" name="Text 61"/>
          <p:cNvSpPr/>
          <p:nvPr/>
        </p:nvSpPr>
        <p:spPr>
          <a:xfrm>
            <a:off x="6318504" y="4800600"/>
            <a:ext cx="2468880" cy="1051560"/>
          </a:xfrm>
          <a:prstGeom prst="rect">
            <a:avLst/>
          </a:prstGeom>
          <a:noFill/>
          <a:ln/>
        </p:spPr>
        <p:txBody>
          <a:bodyPr wrap="square" lIns="0" tIns="0" rIns="0" bIns="0" rtlCol="0" anchor="ctr"/>
          <a:lstStyle/>
          <a:p>
            <a:pPr indent="0" marL="0">
              <a:lnSpc>
                <a:spcPct val="120000"/>
              </a:lnSpc>
              <a:buNone/>
            </a:pPr>
            <a:r>
              <a:rPr lang="en-US" sz="950" dirty="0">
                <a:solidFill>
                  <a:srgbClr val="CBD5E1"/>
                </a:solidFill>
                <a:latin typeface="Inter" pitchFamily="34" charset="0"/>
                <a:ea typeface="Inter" pitchFamily="34" charset="-122"/>
                <a:cs typeface="Inter" pitchFamily="34" charset="-120"/>
              </a:rPr>
              <a:t>Graph construction and traversal infer the correct owning department.</a:t>
            </a:r>
            <a:endParaRPr lang="en-US" sz="950" dirty="0"/>
          </a:p>
        </p:txBody>
      </p:sp>
      <p:sp>
        <p:nvSpPr>
          <p:cNvPr id="74" name="Shape 62"/>
          <p:cNvSpPr/>
          <p:nvPr/>
        </p:nvSpPr>
        <p:spPr>
          <a:xfrm>
            <a:off x="9043416" y="4553712"/>
            <a:ext cx="109728" cy="109728"/>
          </a:xfrm>
          <a:prstGeom prst="ellipse">
            <a:avLst/>
          </a:prstGeom>
          <a:solidFill>
            <a:srgbClr val="10B981"/>
          </a:solidFill>
          <a:ln/>
        </p:spPr>
      </p:sp>
      <p:sp>
        <p:nvSpPr>
          <p:cNvPr id="75" name="Text 63"/>
          <p:cNvSpPr/>
          <p:nvPr/>
        </p:nvSpPr>
        <p:spPr>
          <a:xfrm>
            <a:off x="9272016" y="4453128"/>
            <a:ext cx="2377440" cy="292608"/>
          </a:xfrm>
          <a:prstGeom prst="rect">
            <a:avLst/>
          </a:prstGeom>
          <a:noFill/>
          <a:ln/>
        </p:spPr>
        <p:txBody>
          <a:bodyPr wrap="square" lIns="0" tIns="0" rIns="0" bIns="0" rtlCol="0" anchor="ctr"/>
          <a:lstStyle/>
          <a:p>
            <a:pPr indent="0" marL="0">
              <a:buNone/>
            </a:pPr>
            <a:r>
              <a:rPr lang="en-US" sz="1200" b="1" dirty="0">
                <a:solidFill>
                  <a:srgbClr val="FFFFFF"/>
                </a:solidFill>
                <a:latin typeface="Poppins" pitchFamily="34" charset="0"/>
                <a:ea typeface="Poppins" pitchFamily="34" charset="-122"/>
                <a:cs typeface="Poppins" pitchFamily="34" charset="-120"/>
              </a:rPr>
              <a:t>Retrieval &amp; Delivery</a:t>
            </a:r>
            <a:endParaRPr lang="en-US" sz="1200" dirty="0"/>
          </a:p>
        </p:txBody>
      </p:sp>
      <p:sp>
        <p:nvSpPr>
          <p:cNvPr id="76" name="Text 64"/>
          <p:cNvSpPr/>
          <p:nvPr/>
        </p:nvSpPr>
        <p:spPr>
          <a:xfrm>
            <a:off x="9043416" y="4800600"/>
            <a:ext cx="2468880" cy="1051560"/>
          </a:xfrm>
          <a:prstGeom prst="rect">
            <a:avLst/>
          </a:prstGeom>
          <a:noFill/>
          <a:ln/>
        </p:spPr>
        <p:txBody>
          <a:bodyPr wrap="square" lIns="0" tIns="0" rIns="0" bIns="0" rtlCol="0" anchor="ctr"/>
          <a:lstStyle/>
          <a:p>
            <a:pPr indent="0" marL="0">
              <a:lnSpc>
                <a:spcPct val="120000"/>
              </a:lnSpc>
              <a:buNone/>
            </a:pPr>
            <a:r>
              <a:rPr lang="en-US" sz="950" dirty="0">
                <a:solidFill>
                  <a:srgbClr val="CBD5E1"/>
                </a:solidFill>
                <a:latin typeface="Inter" pitchFamily="34" charset="0"/>
                <a:ea typeface="Inter" pitchFamily="34" charset="-122"/>
                <a:cs typeface="Inter" pitchFamily="34" charset="-120"/>
              </a:rPr>
              <a:t>Vector search surfaces similar cases; results sync back for the admin team.</a:t>
            </a:r>
            <a:endParaRPr lang="en-US" sz="950" dirty="0"/>
          </a:p>
        </p:txBody>
      </p:sp>
      <p:sp>
        <p:nvSpPr>
          <p:cNvPr id="77" name="Text 65"/>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78" name="Text 66"/>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GraphRAG Pipeline</a:t>
            </a:r>
            <a:endParaRPr lang="en-US" sz="900" dirty="0"/>
          </a:p>
        </p:txBody>
      </p:sp>
      <p:sp>
        <p:nvSpPr>
          <p:cNvPr id="79" name="Text 67"/>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PRODUCT SURFACE</a:t>
            </a:r>
            <a:endParaRPr lang="en-US" sz="1200" dirty="0"/>
          </a:p>
        </p:txBody>
      </p:sp>
      <p:sp>
        <p:nvSpPr>
          <p:cNvPr id="3" name="Text 1"/>
          <p:cNvSpPr/>
          <p:nvPr/>
        </p:nvSpPr>
        <p:spPr>
          <a:xfrm>
            <a:off x="548640" y="777240"/>
            <a:ext cx="8229600" cy="822960"/>
          </a:xfrm>
          <a:prstGeom prst="rect">
            <a:avLst/>
          </a:prstGeom>
          <a:noFill/>
          <a:ln/>
        </p:spPr>
        <p:txBody>
          <a:bodyPr wrap="square" lIns="0" tIns="0" rIns="0" bIns="0" rtlCol="0" anchor="ctr"/>
          <a:lstStyle/>
          <a:p>
            <a:pPr algn="l" indent="0" marL="0">
              <a:lnSpc>
                <a:spcPct val="102000"/>
              </a:lnSpc>
              <a:buNone/>
            </a:pPr>
            <a:r>
              <a:rPr lang="en-US" sz="2800" b="1" dirty="0">
                <a:solidFill>
                  <a:srgbClr val="0F172A"/>
                </a:solidFill>
                <a:latin typeface="Poppins" pitchFamily="34" charset="0"/>
                <a:ea typeface="Poppins" pitchFamily="34" charset="-122"/>
                <a:cs typeface="Poppins" pitchFamily="34" charset="-120"/>
              </a:rPr>
              <a:t>Three surfaces, one intelligence layer</a:t>
            </a:r>
            <a:endParaRPr lang="en-US" sz="2800" dirty="0"/>
          </a:p>
        </p:txBody>
      </p:sp>
      <p:sp>
        <p:nvSpPr>
          <p:cNvPr id="4" name="Shape 2"/>
          <p:cNvSpPr/>
          <p:nvPr/>
        </p:nvSpPr>
        <p:spPr>
          <a:xfrm>
            <a:off x="548640" y="1691640"/>
            <a:ext cx="3611880" cy="4709160"/>
          </a:xfrm>
          <a:prstGeom prst="roundRect">
            <a:avLst>
              <a:gd name="adj" fmla="val 3544"/>
            </a:avLst>
          </a:prstGeom>
          <a:solidFill>
            <a:srgbClr val="F1F5F9"/>
          </a:solidFill>
          <a:ln/>
          <a:effectLst>
            <a:outerShdw sx="100000" sy="100000" kx="0" ky="0" algn="bl" rotWithShape="0" blurRad="127000" dist="38100" dir="5400000">
              <a:srgbClr val="0F172A">
                <a:alpha val="10000"/>
              </a:srgbClr>
            </a:outerShdw>
          </a:effectLst>
        </p:spPr>
      </p:sp>
      <p:sp>
        <p:nvSpPr>
          <p:cNvPr id="5" name="Shape 3"/>
          <p:cNvSpPr/>
          <p:nvPr/>
        </p:nvSpPr>
        <p:spPr>
          <a:xfrm>
            <a:off x="813816" y="1956816"/>
            <a:ext cx="603504" cy="603504"/>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6" name="Image 0" descr="/home/claude/civic-deck/icons/userCircle.png">    </p:cNvPr>
          <p:cNvPicPr>
            <a:picLocks noChangeAspect="1"/>
          </p:cNvPicPr>
          <p:nvPr/>
        </p:nvPicPr>
        <p:blipFill>
          <a:blip r:embed="rId1"/>
          <a:stretch>
            <a:fillRect/>
          </a:stretch>
        </p:blipFill>
        <p:spPr>
          <a:xfrm>
            <a:off x="964692" y="2107692"/>
            <a:ext cx="301752" cy="301752"/>
          </a:xfrm>
          <a:prstGeom prst="rect">
            <a:avLst/>
          </a:prstGeom>
        </p:spPr>
      </p:pic>
      <p:sp>
        <p:nvSpPr>
          <p:cNvPr id="7" name="Text 4"/>
          <p:cNvSpPr/>
          <p:nvPr/>
        </p:nvSpPr>
        <p:spPr>
          <a:xfrm>
            <a:off x="1554480" y="2002536"/>
            <a:ext cx="2423160" cy="548640"/>
          </a:xfrm>
          <a:prstGeom prst="rect">
            <a:avLst/>
          </a:prstGeom>
          <a:noFill/>
          <a:ln/>
        </p:spPr>
        <p:txBody>
          <a:bodyPr wrap="square" lIns="0" tIns="0" rIns="0" bIns="0" rtlCol="0" anchor="ctr"/>
          <a:lstStyle/>
          <a:p>
            <a:pPr indent="0" marL="0">
              <a:buNone/>
            </a:pPr>
            <a:r>
              <a:rPr lang="en-US" sz="1550" b="1" dirty="0">
                <a:solidFill>
                  <a:srgbClr val="0F172A"/>
                </a:solidFill>
                <a:latin typeface="Poppins" pitchFamily="34" charset="0"/>
                <a:ea typeface="Poppins" pitchFamily="34" charset="-122"/>
                <a:cs typeface="Poppins" pitchFamily="34" charset="-120"/>
              </a:rPr>
              <a:t>Citizen Portal</a:t>
            </a:r>
            <a:endParaRPr lang="en-US" sz="1550" dirty="0"/>
          </a:p>
        </p:txBody>
      </p:sp>
      <p:sp>
        <p:nvSpPr>
          <p:cNvPr id="8" name="Shape 5"/>
          <p:cNvSpPr/>
          <p:nvPr/>
        </p:nvSpPr>
        <p:spPr>
          <a:xfrm>
            <a:off x="841248" y="2798064"/>
            <a:ext cx="365760" cy="365760"/>
          </a:xfrm>
          <a:prstGeom prst="ellipse">
            <a:avLst/>
          </a:prstGeom>
          <a:solidFill>
            <a:srgbClr val="FFFFFF"/>
          </a:solidFill>
          <a:ln w="15875">
            <a:solidFill>
              <a:srgbClr val="2563EB"/>
            </a:solidFill>
            <a:prstDash val="solid"/>
          </a:ln>
        </p:spPr>
      </p:sp>
      <p:pic>
        <p:nvPicPr>
          <p:cNvPr id="9" name="Image 1" descr="/home/claude/civic-deck/icons/upload.png">    </p:cNvPr>
          <p:cNvPicPr>
            <a:picLocks noChangeAspect="1"/>
          </p:cNvPicPr>
          <p:nvPr/>
        </p:nvPicPr>
        <p:blipFill>
          <a:blip r:embed="rId2"/>
          <a:stretch>
            <a:fillRect/>
          </a:stretch>
        </p:blipFill>
        <p:spPr>
          <a:xfrm>
            <a:off x="923544" y="2880360"/>
            <a:ext cx="201168" cy="201168"/>
          </a:xfrm>
          <a:prstGeom prst="rect">
            <a:avLst/>
          </a:prstGeom>
        </p:spPr>
      </p:pic>
      <p:sp>
        <p:nvSpPr>
          <p:cNvPr id="10" name="Text 6"/>
          <p:cNvSpPr/>
          <p:nvPr/>
        </p:nvSpPr>
        <p:spPr>
          <a:xfrm>
            <a:off x="1335024" y="274320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Complaint submission</a:t>
            </a:r>
            <a:endParaRPr lang="en-US" sz="1150" dirty="0"/>
          </a:p>
        </p:txBody>
      </p:sp>
      <p:sp>
        <p:nvSpPr>
          <p:cNvPr id="11" name="Shape 7"/>
          <p:cNvSpPr/>
          <p:nvPr/>
        </p:nvSpPr>
        <p:spPr>
          <a:xfrm>
            <a:off x="841248" y="3438144"/>
            <a:ext cx="365760" cy="365760"/>
          </a:xfrm>
          <a:prstGeom prst="ellipse">
            <a:avLst/>
          </a:prstGeom>
          <a:solidFill>
            <a:srgbClr val="FFFFFF"/>
          </a:solidFill>
          <a:ln w="15875">
            <a:solidFill>
              <a:srgbClr val="2563EB"/>
            </a:solidFill>
            <a:prstDash val="solid"/>
          </a:ln>
        </p:spPr>
      </p:sp>
      <p:pic>
        <p:nvPicPr>
          <p:cNvPr id="12" name="Image 2" descr="/home/claude/civic-deck/icons/desktop.png">    </p:cNvPr>
          <p:cNvPicPr>
            <a:picLocks noChangeAspect="1"/>
          </p:cNvPicPr>
          <p:nvPr/>
        </p:nvPicPr>
        <p:blipFill>
          <a:blip r:embed="rId3"/>
          <a:stretch>
            <a:fillRect/>
          </a:stretch>
        </p:blipFill>
        <p:spPr>
          <a:xfrm>
            <a:off x="923544" y="3520440"/>
            <a:ext cx="201168" cy="201168"/>
          </a:xfrm>
          <a:prstGeom prst="rect">
            <a:avLst/>
          </a:prstGeom>
        </p:spPr>
      </p:pic>
      <p:sp>
        <p:nvSpPr>
          <p:cNvPr id="13" name="Text 8"/>
          <p:cNvSpPr/>
          <p:nvPr/>
        </p:nvSpPr>
        <p:spPr>
          <a:xfrm>
            <a:off x="1335024" y="338328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Image upload</a:t>
            </a:r>
            <a:endParaRPr lang="en-US" sz="1150" dirty="0"/>
          </a:p>
        </p:txBody>
      </p:sp>
      <p:sp>
        <p:nvSpPr>
          <p:cNvPr id="14" name="Shape 9"/>
          <p:cNvSpPr/>
          <p:nvPr/>
        </p:nvSpPr>
        <p:spPr>
          <a:xfrm>
            <a:off x="841248" y="4078224"/>
            <a:ext cx="365760" cy="365760"/>
          </a:xfrm>
          <a:prstGeom prst="ellipse">
            <a:avLst/>
          </a:prstGeom>
          <a:solidFill>
            <a:srgbClr val="FFFFFF"/>
          </a:solidFill>
          <a:ln w="15875">
            <a:solidFill>
              <a:srgbClr val="2563EB"/>
            </a:solidFill>
            <a:prstDash val="solid"/>
          </a:ln>
        </p:spPr>
      </p:sp>
      <p:pic>
        <p:nvPicPr>
          <p:cNvPr id="15" name="Image 3" descr="/home/claude/civic-deck/icons/key.png">    </p:cNvPr>
          <p:cNvPicPr>
            <a:picLocks noChangeAspect="1"/>
          </p:cNvPicPr>
          <p:nvPr/>
        </p:nvPicPr>
        <p:blipFill>
          <a:blip r:embed="rId4"/>
          <a:stretch>
            <a:fillRect/>
          </a:stretch>
        </p:blipFill>
        <p:spPr>
          <a:xfrm>
            <a:off x="923544" y="4160520"/>
            <a:ext cx="201168" cy="201168"/>
          </a:xfrm>
          <a:prstGeom prst="rect">
            <a:avLst/>
          </a:prstGeom>
        </p:spPr>
      </p:pic>
      <p:sp>
        <p:nvSpPr>
          <p:cNvPr id="16" name="Text 10"/>
          <p:cNvSpPr/>
          <p:nvPr/>
        </p:nvSpPr>
        <p:spPr>
          <a:xfrm>
            <a:off x="1335024" y="402336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Authentication</a:t>
            </a:r>
            <a:endParaRPr lang="en-US" sz="1150" dirty="0"/>
          </a:p>
        </p:txBody>
      </p:sp>
      <p:sp>
        <p:nvSpPr>
          <p:cNvPr id="17" name="Shape 11"/>
          <p:cNvSpPr/>
          <p:nvPr/>
        </p:nvSpPr>
        <p:spPr>
          <a:xfrm>
            <a:off x="841248" y="4718304"/>
            <a:ext cx="365760" cy="365760"/>
          </a:xfrm>
          <a:prstGeom prst="ellipse">
            <a:avLst/>
          </a:prstGeom>
          <a:solidFill>
            <a:srgbClr val="FFFFFF"/>
          </a:solidFill>
          <a:ln w="15875">
            <a:solidFill>
              <a:srgbClr val="2563EB"/>
            </a:solidFill>
            <a:prstDash val="solid"/>
          </a:ln>
        </p:spPr>
      </p:sp>
      <p:pic>
        <p:nvPicPr>
          <p:cNvPr id="18" name="Image 4" descr="/home/claude/civic-deck/icons/listCheck.png">    </p:cNvPr>
          <p:cNvPicPr>
            <a:picLocks noChangeAspect="1"/>
          </p:cNvPicPr>
          <p:nvPr/>
        </p:nvPicPr>
        <p:blipFill>
          <a:blip r:embed="rId5"/>
          <a:stretch>
            <a:fillRect/>
          </a:stretch>
        </p:blipFill>
        <p:spPr>
          <a:xfrm>
            <a:off x="923544" y="4800600"/>
            <a:ext cx="201168" cy="201168"/>
          </a:xfrm>
          <a:prstGeom prst="rect">
            <a:avLst/>
          </a:prstGeom>
        </p:spPr>
      </p:pic>
      <p:sp>
        <p:nvSpPr>
          <p:cNvPr id="19" name="Text 12"/>
          <p:cNvSpPr/>
          <p:nvPr/>
        </p:nvSpPr>
        <p:spPr>
          <a:xfrm>
            <a:off x="1335024" y="466344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Complaint tracking</a:t>
            </a:r>
            <a:endParaRPr lang="en-US" sz="1150" dirty="0"/>
          </a:p>
        </p:txBody>
      </p:sp>
      <p:sp>
        <p:nvSpPr>
          <p:cNvPr id="20" name="Shape 13"/>
          <p:cNvSpPr/>
          <p:nvPr/>
        </p:nvSpPr>
        <p:spPr>
          <a:xfrm>
            <a:off x="4379976" y="1691640"/>
            <a:ext cx="3611880" cy="4709160"/>
          </a:xfrm>
          <a:prstGeom prst="roundRect">
            <a:avLst>
              <a:gd name="adj" fmla="val 3544"/>
            </a:avLst>
          </a:prstGeom>
          <a:solidFill>
            <a:srgbClr val="F1F5F9"/>
          </a:solidFill>
          <a:ln/>
          <a:effectLst>
            <a:outerShdw sx="100000" sy="100000" kx="0" ky="0" algn="bl" rotWithShape="0" blurRad="127000" dist="38100" dir="5400000">
              <a:srgbClr val="0F172A">
                <a:alpha val="10000"/>
              </a:srgbClr>
            </a:outerShdw>
          </a:effectLst>
        </p:spPr>
      </p:sp>
      <p:sp>
        <p:nvSpPr>
          <p:cNvPr id="21" name="Shape 14"/>
          <p:cNvSpPr/>
          <p:nvPr/>
        </p:nvSpPr>
        <p:spPr>
          <a:xfrm>
            <a:off x="4645152" y="1956816"/>
            <a:ext cx="603504" cy="603504"/>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22" name="Image 5" descr="/home/claude/civic-deck/icons/robotBlue.png">    </p:cNvPr>
          <p:cNvPicPr>
            <a:picLocks noChangeAspect="1"/>
          </p:cNvPicPr>
          <p:nvPr/>
        </p:nvPicPr>
        <p:blipFill>
          <a:blip r:embed="rId6"/>
          <a:stretch>
            <a:fillRect/>
          </a:stretch>
        </p:blipFill>
        <p:spPr>
          <a:xfrm>
            <a:off x="4796028" y="2107692"/>
            <a:ext cx="301752" cy="301752"/>
          </a:xfrm>
          <a:prstGeom prst="rect">
            <a:avLst/>
          </a:prstGeom>
        </p:spPr>
      </p:pic>
      <p:sp>
        <p:nvSpPr>
          <p:cNvPr id="23" name="Text 15"/>
          <p:cNvSpPr/>
          <p:nvPr/>
        </p:nvSpPr>
        <p:spPr>
          <a:xfrm>
            <a:off x="5385816" y="2002536"/>
            <a:ext cx="2423160" cy="548640"/>
          </a:xfrm>
          <a:prstGeom prst="rect">
            <a:avLst/>
          </a:prstGeom>
          <a:noFill/>
          <a:ln/>
        </p:spPr>
        <p:txBody>
          <a:bodyPr wrap="square" lIns="0" tIns="0" rIns="0" bIns="0" rtlCol="0" anchor="ctr"/>
          <a:lstStyle/>
          <a:p>
            <a:pPr indent="0" marL="0">
              <a:buNone/>
            </a:pPr>
            <a:r>
              <a:rPr lang="en-US" sz="1550" b="1" dirty="0">
                <a:solidFill>
                  <a:srgbClr val="0F172A"/>
                </a:solidFill>
                <a:latin typeface="Poppins" pitchFamily="34" charset="0"/>
                <a:ea typeface="Poppins" pitchFamily="34" charset="-122"/>
                <a:cs typeface="Poppins" pitchFamily="34" charset="-120"/>
              </a:rPr>
              <a:t>AI Features</a:t>
            </a:r>
            <a:endParaRPr lang="en-US" sz="1550" dirty="0"/>
          </a:p>
        </p:txBody>
      </p:sp>
      <p:sp>
        <p:nvSpPr>
          <p:cNvPr id="24" name="Shape 16"/>
          <p:cNvSpPr/>
          <p:nvPr/>
        </p:nvSpPr>
        <p:spPr>
          <a:xfrm>
            <a:off x="4672584" y="2798064"/>
            <a:ext cx="365760" cy="365760"/>
          </a:xfrm>
          <a:prstGeom prst="ellipse">
            <a:avLst/>
          </a:prstGeom>
          <a:solidFill>
            <a:srgbClr val="FFFFFF"/>
          </a:solidFill>
          <a:ln w="15875">
            <a:solidFill>
              <a:srgbClr val="10B981"/>
            </a:solidFill>
            <a:prstDash val="solid"/>
          </a:ln>
        </p:spPr>
      </p:sp>
      <p:pic>
        <p:nvPicPr>
          <p:cNvPr id="25" name="Image 6" descr="/home/claude/civic-deck/icons/tags.png">    </p:cNvPr>
          <p:cNvPicPr>
            <a:picLocks noChangeAspect="1"/>
          </p:cNvPicPr>
          <p:nvPr/>
        </p:nvPicPr>
        <p:blipFill>
          <a:blip r:embed="rId7"/>
          <a:stretch>
            <a:fillRect/>
          </a:stretch>
        </p:blipFill>
        <p:spPr>
          <a:xfrm>
            <a:off x="4754880" y="2880360"/>
            <a:ext cx="201168" cy="201168"/>
          </a:xfrm>
          <a:prstGeom prst="rect">
            <a:avLst/>
          </a:prstGeom>
        </p:spPr>
      </p:pic>
      <p:sp>
        <p:nvSpPr>
          <p:cNvPr id="26" name="Text 17"/>
          <p:cNvSpPr/>
          <p:nvPr/>
        </p:nvSpPr>
        <p:spPr>
          <a:xfrm>
            <a:off x="5166360" y="274320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Entity extraction</a:t>
            </a:r>
            <a:endParaRPr lang="en-US" sz="1150" dirty="0"/>
          </a:p>
        </p:txBody>
      </p:sp>
      <p:sp>
        <p:nvSpPr>
          <p:cNvPr id="27" name="Shape 18"/>
          <p:cNvSpPr/>
          <p:nvPr/>
        </p:nvSpPr>
        <p:spPr>
          <a:xfrm>
            <a:off x="4672584" y="3438144"/>
            <a:ext cx="365760" cy="365760"/>
          </a:xfrm>
          <a:prstGeom prst="ellipse">
            <a:avLst/>
          </a:prstGeom>
          <a:solidFill>
            <a:srgbClr val="FFFFFF"/>
          </a:solidFill>
          <a:ln w="15875">
            <a:solidFill>
              <a:srgbClr val="10B981"/>
            </a:solidFill>
            <a:prstDash val="solid"/>
          </a:ln>
        </p:spPr>
      </p:sp>
      <p:pic>
        <p:nvPicPr>
          <p:cNvPr id="28" name="Image 7" descr="/home/claude/civic-deck/icons/shuffle.png">    </p:cNvPr>
          <p:cNvPicPr>
            <a:picLocks noChangeAspect="1"/>
          </p:cNvPicPr>
          <p:nvPr/>
        </p:nvPicPr>
        <p:blipFill>
          <a:blip r:embed="rId8"/>
          <a:stretch>
            <a:fillRect/>
          </a:stretch>
        </p:blipFill>
        <p:spPr>
          <a:xfrm>
            <a:off x="4754880" y="3520440"/>
            <a:ext cx="201168" cy="201168"/>
          </a:xfrm>
          <a:prstGeom prst="rect">
            <a:avLst/>
          </a:prstGeom>
        </p:spPr>
      </p:pic>
      <p:sp>
        <p:nvSpPr>
          <p:cNvPr id="29" name="Text 19"/>
          <p:cNvSpPr/>
          <p:nvPr/>
        </p:nvSpPr>
        <p:spPr>
          <a:xfrm>
            <a:off x="5166360" y="338328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Ontology normalization</a:t>
            </a:r>
            <a:endParaRPr lang="en-US" sz="1150" dirty="0"/>
          </a:p>
        </p:txBody>
      </p:sp>
      <p:sp>
        <p:nvSpPr>
          <p:cNvPr id="30" name="Shape 20"/>
          <p:cNvSpPr/>
          <p:nvPr/>
        </p:nvSpPr>
        <p:spPr>
          <a:xfrm>
            <a:off x="4672584" y="4078224"/>
            <a:ext cx="365760" cy="365760"/>
          </a:xfrm>
          <a:prstGeom prst="ellipse">
            <a:avLst/>
          </a:prstGeom>
          <a:solidFill>
            <a:srgbClr val="FFFFFF"/>
          </a:solidFill>
          <a:ln w="15875">
            <a:solidFill>
              <a:srgbClr val="10B981"/>
            </a:solidFill>
            <a:prstDash val="solid"/>
          </a:ln>
        </p:spPr>
      </p:sp>
      <p:pic>
        <p:nvPicPr>
          <p:cNvPr id="31" name="Image 8" descr="/home/claude/civic-deck/icons/route.png">    </p:cNvPr>
          <p:cNvPicPr>
            <a:picLocks noChangeAspect="1"/>
          </p:cNvPicPr>
          <p:nvPr/>
        </p:nvPicPr>
        <p:blipFill>
          <a:blip r:embed="rId9"/>
          <a:stretch>
            <a:fillRect/>
          </a:stretch>
        </p:blipFill>
        <p:spPr>
          <a:xfrm>
            <a:off x="4754880" y="4160520"/>
            <a:ext cx="201168" cy="201168"/>
          </a:xfrm>
          <a:prstGeom prst="rect">
            <a:avLst/>
          </a:prstGeom>
        </p:spPr>
      </p:pic>
      <p:sp>
        <p:nvSpPr>
          <p:cNvPr id="32" name="Text 21"/>
          <p:cNvSpPr/>
          <p:nvPr/>
        </p:nvSpPr>
        <p:spPr>
          <a:xfrm>
            <a:off x="5166360" y="402336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Semantic routing</a:t>
            </a:r>
            <a:endParaRPr lang="en-US" sz="1150" dirty="0"/>
          </a:p>
        </p:txBody>
      </p:sp>
      <p:sp>
        <p:nvSpPr>
          <p:cNvPr id="33" name="Shape 22"/>
          <p:cNvSpPr/>
          <p:nvPr/>
        </p:nvSpPr>
        <p:spPr>
          <a:xfrm>
            <a:off x="4672584" y="4718304"/>
            <a:ext cx="365760" cy="365760"/>
          </a:xfrm>
          <a:prstGeom prst="ellipse">
            <a:avLst/>
          </a:prstGeom>
          <a:solidFill>
            <a:srgbClr val="FFFFFF"/>
          </a:solidFill>
          <a:ln w="15875">
            <a:solidFill>
              <a:srgbClr val="10B981"/>
            </a:solidFill>
            <a:prstDash val="solid"/>
          </a:ln>
        </p:spPr>
      </p:sp>
      <p:pic>
        <p:nvPicPr>
          <p:cNvPr id="34" name="Image 9" descr="/home/claude/civic-deck/icons/sitemap.png">    </p:cNvPr>
          <p:cNvPicPr>
            <a:picLocks noChangeAspect="1"/>
          </p:cNvPicPr>
          <p:nvPr/>
        </p:nvPicPr>
        <p:blipFill>
          <a:blip r:embed="rId10"/>
          <a:stretch>
            <a:fillRect/>
          </a:stretch>
        </p:blipFill>
        <p:spPr>
          <a:xfrm>
            <a:off x="4754880" y="4800600"/>
            <a:ext cx="201168" cy="201168"/>
          </a:xfrm>
          <a:prstGeom prst="rect">
            <a:avLst/>
          </a:prstGeom>
        </p:spPr>
      </p:pic>
      <p:sp>
        <p:nvSpPr>
          <p:cNvPr id="35" name="Text 23"/>
          <p:cNvSpPr/>
          <p:nvPr/>
        </p:nvSpPr>
        <p:spPr>
          <a:xfrm>
            <a:off x="5166360" y="466344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Knowledge graph reasoning</a:t>
            </a:r>
            <a:endParaRPr lang="en-US" sz="1150" dirty="0"/>
          </a:p>
        </p:txBody>
      </p:sp>
      <p:sp>
        <p:nvSpPr>
          <p:cNvPr id="36" name="Shape 24"/>
          <p:cNvSpPr/>
          <p:nvPr/>
        </p:nvSpPr>
        <p:spPr>
          <a:xfrm>
            <a:off x="4672584" y="5358384"/>
            <a:ext cx="365760" cy="365760"/>
          </a:xfrm>
          <a:prstGeom prst="ellipse">
            <a:avLst/>
          </a:prstGeom>
          <a:solidFill>
            <a:srgbClr val="FFFFFF"/>
          </a:solidFill>
          <a:ln w="15875">
            <a:solidFill>
              <a:srgbClr val="10B981"/>
            </a:solidFill>
            <a:prstDash val="solid"/>
          </a:ln>
        </p:spPr>
      </p:sp>
      <p:pic>
        <p:nvPicPr>
          <p:cNvPr id="37" name="Image 10" descr="/home/claude/civic-deck/icons/magnify.png">    </p:cNvPr>
          <p:cNvPicPr>
            <a:picLocks noChangeAspect="1"/>
          </p:cNvPicPr>
          <p:nvPr/>
        </p:nvPicPr>
        <p:blipFill>
          <a:blip r:embed="rId11"/>
          <a:stretch>
            <a:fillRect/>
          </a:stretch>
        </p:blipFill>
        <p:spPr>
          <a:xfrm>
            <a:off x="4754880" y="5440680"/>
            <a:ext cx="201168" cy="201168"/>
          </a:xfrm>
          <a:prstGeom prst="rect">
            <a:avLst/>
          </a:prstGeom>
        </p:spPr>
      </p:pic>
      <p:sp>
        <p:nvSpPr>
          <p:cNvPr id="38" name="Text 25"/>
          <p:cNvSpPr/>
          <p:nvPr/>
        </p:nvSpPr>
        <p:spPr>
          <a:xfrm>
            <a:off x="5166360" y="530352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Similar complaint retrieval</a:t>
            </a:r>
            <a:endParaRPr lang="en-US" sz="1150" dirty="0"/>
          </a:p>
        </p:txBody>
      </p:sp>
      <p:sp>
        <p:nvSpPr>
          <p:cNvPr id="39" name="Shape 26"/>
          <p:cNvSpPr/>
          <p:nvPr/>
        </p:nvSpPr>
        <p:spPr>
          <a:xfrm>
            <a:off x="8211312" y="1691640"/>
            <a:ext cx="3611880" cy="4709160"/>
          </a:xfrm>
          <a:prstGeom prst="roundRect">
            <a:avLst>
              <a:gd name="adj" fmla="val 3544"/>
            </a:avLst>
          </a:prstGeom>
          <a:solidFill>
            <a:srgbClr val="F1F5F9"/>
          </a:solidFill>
          <a:ln/>
          <a:effectLst>
            <a:outerShdw sx="100000" sy="100000" kx="0" ky="0" algn="bl" rotWithShape="0" blurRad="127000" dist="38100" dir="5400000">
              <a:srgbClr val="0F172A">
                <a:alpha val="10000"/>
              </a:srgbClr>
            </a:outerShdw>
          </a:effectLst>
        </p:spPr>
      </p:sp>
      <p:sp>
        <p:nvSpPr>
          <p:cNvPr id="40" name="Shape 27"/>
          <p:cNvSpPr/>
          <p:nvPr/>
        </p:nvSpPr>
        <p:spPr>
          <a:xfrm>
            <a:off x="8476488" y="1956816"/>
            <a:ext cx="603504" cy="603504"/>
          </a:xfrm>
          <a:prstGeom prst="ellipse">
            <a:avLst/>
          </a:prstGeom>
          <a:solidFill>
            <a:srgbClr val="E2E8F0"/>
          </a:solidFill>
          <a:ln/>
          <a:effectLst>
            <a:outerShdw sx="100000" sy="100000" kx="0" ky="0" algn="bl" rotWithShape="0" blurRad="101600" dist="38100" dir="5400000">
              <a:srgbClr val="0F172A">
                <a:alpha val="18000"/>
              </a:srgbClr>
            </a:outerShdw>
          </a:effectLst>
        </p:spPr>
      </p:sp>
      <p:pic>
        <p:nvPicPr>
          <p:cNvPr id="41" name="Image 11" descr="/home/claude/civic-deck/icons/chartBar.png">    </p:cNvPr>
          <p:cNvPicPr>
            <a:picLocks noChangeAspect="1"/>
          </p:cNvPicPr>
          <p:nvPr/>
        </p:nvPicPr>
        <p:blipFill>
          <a:blip r:embed="rId12"/>
          <a:stretch>
            <a:fillRect/>
          </a:stretch>
        </p:blipFill>
        <p:spPr>
          <a:xfrm>
            <a:off x="8627364" y="2107692"/>
            <a:ext cx="301752" cy="301752"/>
          </a:xfrm>
          <a:prstGeom prst="rect">
            <a:avLst/>
          </a:prstGeom>
        </p:spPr>
      </p:pic>
      <p:sp>
        <p:nvSpPr>
          <p:cNvPr id="42" name="Text 28"/>
          <p:cNvSpPr/>
          <p:nvPr/>
        </p:nvSpPr>
        <p:spPr>
          <a:xfrm>
            <a:off x="9217152" y="2002536"/>
            <a:ext cx="2423160" cy="548640"/>
          </a:xfrm>
          <a:prstGeom prst="rect">
            <a:avLst/>
          </a:prstGeom>
          <a:noFill/>
          <a:ln/>
        </p:spPr>
        <p:txBody>
          <a:bodyPr wrap="square" lIns="0" tIns="0" rIns="0" bIns="0" rtlCol="0" anchor="ctr"/>
          <a:lstStyle/>
          <a:p>
            <a:pPr indent="0" marL="0">
              <a:buNone/>
            </a:pPr>
            <a:r>
              <a:rPr lang="en-US" sz="1550" b="1" dirty="0">
                <a:solidFill>
                  <a:srgbClr val="0F172A"/>
                </a:solidFill>
                <a:latin typeface="Poppins" pitchFamily="34" charset="0"/>
                <a:ea typeface="Poppins" pitchFamily="34" charset="-122"/>
                <a:cs typeface="Poppins" pitchFamily="34" charset="-120"/>
              </a:rPr>
              <a:t>Admin Dashboard</a:t>
            </a:r>
            <a:endParaRPr lang="en-US" sz="1550" dirty="0"/>
          </a:p>
        </p:txBody>
      </p:sp>
      <p:sp>
        <p:nvSpPr>
          <p:cNvPr id="43" name="Shape 29"/>
          <p:cNvSpPr/>
          <p:nvPr/>
        </p:nvSpPr>
        <p:spPr>
          <a:xfrm>
            <a:off x="8503920" y="2798064"/>
            <a:ext cx="365760" cy="365760"/>
          </a:xfrm>
          <a:prstGeom prst="ellipse">
            <a:avLst/>
          </a:prstGeom>
          <a:solidFill>
            <a:srgbClr val="FFFFFF"/>
          </a:solidFill>
          <a:ln w="15875">
            <a:solidFill>
              <a:srgbClr val="0F172A"/>
            </a:solidFill>
            <a:prstDash val="solid"/>
          </a:ln>
        </p:spPr>
      </p:sp>
      <p:pic>
        <p:nvPicPr>
          <p:cNvPr id="44" name="Image 12" descr="/home/claude/civic-deck/icons/gauge.png">    </p:cNvPr>
          <p:cNvPicPr>
            <a:picLocks noChangeAspect="1"/>
          </p:cNvPicPr>
          <p:nvPr/>
        </p:nvPicPr>
        <p:blipFill>
          <a:blip r:embed="rId13"/>
          <a:stretch>
            <a:fillRect/>
          </a:stretch>
        </p:blipFill>
        <p:spPr>
          <a:xfrm>
            <a:off x="8586216" y="2880360"/>
            <a:ext cx="201168" cy="201168"/>
          </a:xfrm>
          <a:prstGeom prst="rect">
            <a:avLst/>
          </a:prstGeom>
        </p:spPr>
      </p:pic>
      <p:sp>
        <p:nvSpPr>
          <p:cNvPr id="45" name="Text 30"/>
          <p:cNvSpPr/>
          <p:nvPr/>
        </p:nvSpPr>
        <p:spPr>
          <a:xfrm>
            <a:off x="8997696" y="274320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Live complaints</a:t>
            </a:r>
            <a:endParaRPr lang="en-US" sz="1150" dirty="0"/>
          </a:p>
        </p:txBody>
      </p:sp>
      <p:sp>
        <p:nvSpPr>
          <p:cNvPr id="46" name="Shape 31"/>
          <p:cNvSpPr/>
          <p:nvPr/>
        </p:nvSpPr>
        <p:spPr>
          <a:xfrm>
            <a:off x="8503920" y="3438144"/>
            <a:ext cx="365760" cy="365760"/>
          </a:xfrm>
          <a:prstGeom prst="ellipse">
            <a:avLst/>
          </a:prstGeom>
          <a:solidFill>
            <a:srgbClr val="FFFFFF"/>
          </a:solidFill>
          <a:ln w="15875">
            <a:solidFill>
              <a:srgbClr val="0F172A"/>
            </a:solidFill>
            <a:prstDash val="solid"/>
          </a:ln>
        </p:spPr>
      </p:sp>
      <p:pic>
        <p:nvPicPr>
          <p:cNvPr id="47" name="Image 13" descr="/home/claude/civic-deck/icons/listCheck.png">    </p:cNvPr>
          <p:cNvPicPr>
            <a:picLocks noChangeAspect="1"/>
          </p:cNvPicPr>
          <p:nvPr/>
        </p:nvPicPr>
        <p:blipFill>
          <a:blip r:embed="rId14"/>
          <a:stretch>
            <a:fillRect/>
          </a:stretch>
        </p:blipFill>
        <p:spPr>
          <a:xfrm>
            <a:off x="8586216" y="3520440"/>
            <a:ext cx="201168" cy="201168"/>
          </a:xfrm>
          <a:prstGeom prst="rect">
            <a:avLst/>
          </a:prstGeom>
        </p:spPr>
      </p:pic>
      <p:sp>
        <p:nvSpPr>
          <p:cNvPr id="48" name="Text 32"/>
          <p:cNvSpPr/>
          <p:nvPr/>
        </p:nvSpPr>
        <p:spPr>
          <a:xfrm>
            <a:off x="8997696" y="338328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Complaint details</a:t>
            </a:r>
            <a:endParaRPr lang="en-US" sz="1150" dirty="0"/>
          </a:p>
        </p:txBody>
      </p:sp>
      <p:sp>
        <p:nvSpPr>
          <p:cNvPr id="49" name="Shape 33"/>
          <p:cNvSpPr/>
          <p:nvPr/>
        </p:nvSpPr>
        <p:spPr>
          <a:xfrm>
            <a:off x="8503920" y="4078224"/>
            <a:ext cx="365760" cy="365760"/>
          </a:xfrm>
          <a:prstGeom prst="ellipse">
            <a:avLst/>
          </a:prstGeom>
          <a:solidFill>
            <a:srgbClr val="FFFFFF"/>
          </a:solidFill>
          <a:ln w="15875">
            <a:solidFill>
              <a:srgbClr val="0F172A"/>
            </a:solidFill>
            <a:prstDash val="solid"/>
          </a:ln>
        </p:spPr>
      </p:sp>
      <p:pic>
        <p:nvPicPr>
          <p:cNvPr id="50" name="Image 14" descr="/home/claude/civic-deck/icons/building.png">    </p:cNvPr>
          <p:cNvPicPr>
            <a:picLocks noChangeAspect="1"/>
          </p:cNvPicPr>
          <p:nvPr/>
        </p:nvPicPr>
        <p:blipFill>
          <a:blip r:embed="rId15"/>
          <a:stretch>
            <a:fillRect/>
          </a:stretch>
        </p:blipFill>
        <p:spPr>
          <a:xfrm>
            <a:off x="8586216" y="4160520"/>
            <a:ext cx="201168" cy="201168"/>
          </a:xfrm>
          <a:prstGeom prst="rect">
            <a:avLst/>
          </a:prstGeom>
        </p:spPr>
      </p:pic>
      <p:sp>
        <p:nvSpPr>
          <p:cNvPr id="51" name="Text 34"/>
          <p:cNvSpPr/>
          <p:nvPr/>
        </p:nvSpPr>
        <p:spPr>
          <a:xfrm>
            <a:off x="8997696" y="402336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Department statistics</a:t>
            </a:r>
            <a:endParaRPr lang="en-US" sz="1150" dirty="0"/>
          </a:p>
        </p:txBody>
      </p:sp>
      <p:sp>
        <p:nvSpPr>
          <p:cNvPr id="52" name="Shape 35"/>
          <p:cNvSpPr/>
          <p:nvPr/>
        </p:nvSpPr>
        <p:spPr>
          <a:xfrm>
            <a:off x="8503920" y="4718304"/>
            <a:ext cx="365760" cy="365760"/>
          </a:xfrm>
          <a:prstGeom prst="ellipse">
            <a:avLst/>
          </a:prstGeom>
          <a:solidFill>
            <a:srgbClr val="FFFFFF"/>
          </a:solidFill>
          <a:ln w="15875">
            <a:solidFill>
              <a:srgbClr val="0F172A"/>
            </a:solidFill>
            <a:prstDash val="solid"/>
          </a:ln>
        </p:spPr>
      </p:sp>
      <p:pic>
        <p:nvPicPr>
          <p:cNvPr id="53" name="Image 15" descr="/home/claude/civic-deck/icons/chartLine.png">    </p:cNvPr>
          <p:cNvPicPr>
            <a:picLocks noChangeAspect="1"/>
          </p:cNvPicPr>
          <p:nvPr/>
        </p:nvPicPr>
        <p:blipFill>
          <a:blip r:embed="rId16"/>
          <a:stretch>
            <a:fillRect/>
          </a:stretch>
        </p:blipFill>
        <p:spPr>
          <a:xfrm>
            <a:off x="8586216" y="4800600"/>
            <a:ext cx="201168" cy="201168"/>
          </a:xfrm>
          <a:prstGeom prst="rect">
            <a:avLst/>
          </a:prstGeom>
        </p:spPr>
      </p:pic>
      <p:sp>
        <p:nvSpPr>
          <p:cNvPr id="54" name="Text 36"/>
          <p:cNvSpPr/>
          <p:nvPr/>
        </p:nvSpPr>
        <p:spPr>
          <a:xfrm>
            <a:off x="8997696" y="466344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Analytics</a:t>
            </a:r>
            <a:endParaRPr lang="en-US" sz="1150" dirty="0"/>
          </a:p>
        </p:txBody>
      </p:sp>
      <p:sp>
        <p:nvSpPr>
          <p:cNvPr id="55" name="Shape 37"/>
          <p:cNvSpPr/>
          <p:nvPr/>
        </p:nvSpPr>
        <p:spPr>
          <a:xfrm>
            <a:off x="8503920" y="5358384"/>
            <a:ext cx="365760" cy="365760"/>
          </a:xfrm>
          <a:prstGeom prst="ellipse">
            <a:avLst/>
          </a:prstGeom>
          <a:solidFill>
            <a:srgbClr val="FFFFFF"/>
          </a:solidFill>
          <a:ln w="15875">
            <a:solidFill>
              <a:srgbClr val="0F172A"/>
            </a:solidFill>
            <a:prstDash val="solid"/>
          </a:ln>
        </p:spPr>
      </p:sp>
      <p:pic>
        <p:nvPicPr>
          <p:cNvPr id="56" name="Image 16" descr="/home/claude/civic-deck/icons/checkCircleG.png">    </p:cNvPr>
          <p:cNvPicPr>
            <a:picLocks noChangeAspect="1"/>
          </p:cNvPicPr>
          <p:nvPr/>
        </p:nvPicPr>
        <p:blipFill>
          <a:blip r:embed="rId17"/>
          <a:stretch>
            <a:fillRect/>
          </a:stretch>
        </p:blipFill>
        <p:spPr>
          <a:xfrm>
            <a:off x="8586216" y="5440680"/>
            <a:ext cx="201168" cy="201168"/>
          </a:xfrm>
          <a:prstGeom prst="rect">
            <a:avLst/>
          </a:prstGeom>
        </p:spPr>
      </p:pic>
      <p:sp>
        <p:nvSpPr>
          <p:cNvPr id="57" name="Text 38"/>
          <p:cNvSpPr/>
          <p:nvPr/>
        </p:nvSpPr>
        <p:spPr>
          <a:xfrm>
            <a:off x="8997696" y="530352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Status management</a:t>
            </a:r>
            <a:endParaRPr lang="en-US" sz="1150" dirty="0"/>
          </a:p>
        </p:txBody>
      </p:sp>
      <p:sp>
        <p:nvSpPr>
          <p:cNvPr id="58" name="Shape 39"/>
          <p:cNvSpPr/>
          <p:nvPr/>
        </p:nvSpPr>
        <p:spPr>
          <a:xfrm>
            <a:off x="8503920" y="5998464"/>
            <a:ext cx="365760" cy="365760"/>
          </a:xfrm>
          <a:prstGeom prst="ellipse">
            <a:avLst/>
          </a:prstGeom>
          <a:solidFill>
            <a:srgbClr val="FFFFFF"/>
          </a:solidFill>
          <a:ln w="15875">
            <a:solidFill>
              <a:srgbClr val="0F172A"/>
            </a:solidFill>
            <a:prstDash val="solid"/>
          </a:ln>
        </p:spPr>
      </p:sp>
      <p:pic>
        <p:nvPicPr>
          <p:cNvPr id="59" name="Image 17" descr="/home/claude/civic-deck/icons/shuffle.png">    </p:cNvPr>
          <p:cNvPicPr>
            <a:picLocks noChangeAspect="1"/>
          </p:cNvPicPr>
          <p:nvPr/>
        </p:nvPicPr>
        <p:blipFill>
          <a:blip r:embed="rId18"/>
          <a:stretch>
            <a:fillRect/>
          </a:stretch>
        </p:blipFill>
        <p:spPr>
          <a:xfrm>
            <a:off x="8586216" y="6080760"/>
            <a:ext cx="201168" cy="201168"/>
          </a:xfrm>
          <a:prstGeom prst="rect">
            <a:avLst/>
          </a:prstGeom>
        </p:spPr>
      </p:pic>
      <p:sp>
        <p:nvSpPr>
          <p:cNvPr id="60" name="Text 40"/>
          <p:cNvSpPr/>
          <p:nvPr/>
        </p:nvSpPr>
        <p:spPr>
          <a:xfrm>
            <a:off x="8997696" y="5943600"/>
            <a:ext cx="2560320" cy="475488"/>
          </a:xfrm>
          <a:prstGeom prst="rect">
            <a:avLst/>
          </a:prstGeom>
          <a:noFill/>
          <a:ln/>
        </p:spPr>
        <p:txBody>
          <a:bodyPr wrap="square" lIns="0" tIns="0" rIns="0" bIns="0" rtlCol="0" anchor="ctr"/>
          <a:lstStyle/>
          <a:p>
            <a:pPr indent="0" marL="0">
              <a:buNone/>
            </a:pPr>
            <a:r>
              <a:rPr lang="en-US" sz="1150" dirty="0">
                <a:solidFill>
                  <a:srgbClr val="0F172A"/>
                </a:solidFill>
                <a:latin typeface="Inter" pitchFamily="34" charset="0"/>
                <a:ea typeface="Inter" pitchFamily="34" charset="-122"/>
                <a:cs typeface="Inter" pitchFamily="34" charset="-120"/>
              </a:rPr>
              <a:t>Department reassignment</a:t>
            </a:r>
            <a:endParaRPr lang="en-US" sz="1150" dirty="0"/>
          </a:p>
        </p:txBody>
      </p:sp>
      <p:sp>
        <p:nvSpPr>
          <p:cNvPr id="61" name="Text 41"/>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62" name="Text 42"/>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Core Features</a:t>
            </a:r>
            <a:endParaRPr lang="en-US" sz="900" dirty="0"/>
          </a:p>
        </p:txBody>
      </p:sp>
      <p:sp>
        <p:nvSpPr>
          <p:cNvPr id="63" name="Text 43"/>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SYSTEM DESIGN</a:t>
            </a:r>
            <a:endParaRPr lang="en-US" sz="1200" dirty="0"/>
          </a:p>
        </p:txBody>
      </p:sp>
      <p:sp>
        <p:nvSpPr>
          <p:cNvPr id="3" name="Text 1"/>
          <p:cNvSpPr/>
          <p:nvPr/>
        </p:nvSpPr>
        <p:spPr>
          <a:xfrm>
            <a:off x="548640" y="621792"/>
            <a:ext cx="8229600" cy="502920"/>
          </a:xfrm>
          <a:prstGeom prst="rect">
            <a:avLst/>
          </a:prstGeom>
          <a:noFill/>
          <a:ln/>
        </p:spPr>
        <p:txBody>
          <a:bodyPr wrap="square" lIns="0" tIns="0" rIns="0" bIns="0" rtlCol="0" anchor="ctr"/>
          <a:lstStyle/>
          <a:p>
            <a:pPr algn="l" indent="0" marL="0">
              <a:lnSpc>
                <a:spcPct val="102000"/>
              </a:lnSpc>
              <a:buNone/>
            </a:pPr>
            <a:r>
              <a:rPr lang="en-US" sz="2600" b="1" dirty="0">
                <a:solidFill>
                  <a:srgbClr val="0F172A"/>
                </a:solidFill>
                <a:latin typeface="Poppins" pitchFamily="34" charset="0"/>
                <a:ea typeface="Poppins" pitchFamily="34" charset="-122"/>
                <a:cs typeface="Poppins" pitchFamily="34" charset="-120"/>
              </a:rPr>
              <a:t>GraphRAG system architecture</a:t>
            </a:r>
            <a:endParaRPr lang="en-US" sz="2600" dirty="0"/>
          </a:p>
        </p:txBody>
      </p:sp>
      <p:sp>
        <p:nvSpPr>
          <p:cNvPr id="4" name="Shape 2"/>
          <p:cNvSpPr/>
          <p:nvPr/>
        </p:nvSpPr>
        <p:spPr>
          <a:xfrm>
            <a:off x="548640" y="1371600"/>
            <a:ext cx="2331720" cy="777240"/>
          </a:xfrm>
          <a:prstGeom prst="roundRect">
            <a:avLst>
              <a:gd name="adj" fmla="val 11765"/>
            </a:avLst>
          </a:prstGeom>
          <a:solidFill>
            <a:srgbClr val="FFFFFF"/>
          </a:solidFill>
          <a:ln w="12700">
            <a:solidFill>
              <a:srgbClr val="E2E8F0"/>
            </a:solidFill>
            <a:prstDash val="solid"/>
          </a:ln>
          <a:effectLst>
            <a:outerShdw sx="100000" sy="100000" kx="0" ky="0" algn="bl" rotWithShape="0" blurRad="127000" dist="38100" dir="5400000">
              <a:srgbClr val="0F172A">
                <a:alpha val="10000"/>
              </a:srgbClr>
            </a:outerShdw>
          </a:effectLst>
        </p:spPr>
      </p:sp>
      <p:sp>
        <p:nvSpPr>
          <p:cNvPr id="5" name="Shape 3"/>
          <p:cNvSpPr/>
          <p:nvPr/>
        </p:nvSpPr>
        <p:spPr>
          <a:xfrm>
            <a:off x="832104" y="1540764"/>
            <a:ext cx="438912" cy="438912"/>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6" name="Image 0" descr="/home/claude/civic-deck/icons/userCircle.png">    </p:cNvPr>
          <p:cNvPicPr>
            <a:picLocks noChangeAspect="1"/>
          </p:cNvPicPr>
          <p:nvPr/>
        </p:nvPicPr>
        <p:blipFill>
          <a:blip r:embed="rId1"/>
          <a:stretch>
            <a:fillRect/>
          </a:stretch>
        </p:blipFill>
        <p:spPr>
          <a:xfrm>
            <a:off x="930859" y="1639519"/>
            <a:ext cx="241402" cy="241402"/>
          </a:xfrm>
          <a:prstGeom prst="rect">
            <a:avLst/>
          </a:prstGeom>
        </p:spPr>
      </p:pic>
      <p:sp>
        <p:nvSpPr>
          <p:cNvPr id="7" name="Text 4"/>
          <p:cNvSpPr/>
          <p:nvPr/>
        </p:nvSpPr>
        <p:spPr>
          <a:xfrm>
            <a:off x="1417320" y="1371600"/>
            <a:ext cx="1325880" cy="777240"/>
          </a:xfrm>
          <a:prstGeom prst="rect">
            <a:avLst/>
          </a:prstGeom>
          <a:noFill/>
          <a:ln/>
        </p:spPr>
        <p:txBody>
          <a:bodyPr wrap="square" lIns="0" tIns="0" rIns="0" bIns="0" rtlCol="0" anchor="ctr"/>
          <a:lstStyle/>
          <a:p>
            <a:pPr indent="0" marL="0">
              <a:buNone/>
            </a:pPr>
            <a:r>
              <a:rPr lang="en-US" sz="1250" b="1" dirty="0">
                <a:solidFill>
                  <a:srgbClr val="0F172A"/>
                </a:solidFill>
                <a:latin typeface="Poppins" pitchFamily="34" charset="0"/>
                <a:ea typeface="Poppins" pitchFamily="34" charset="-122"/>
                <a:cs typeface="Poppins" pitchFamily="34" charset="-120"/>
              </a:rPr>
              <a:t>Citizen Portal</a:t>
            </a:r>
            <a:endParaRPr lang="en-US" sz="1250" dirty="0"/>
          </a:p>
        </p:txBody>
      </p:sp>
      <p:sp>
        <p:nvSpPr>
          <p:cNvPr id="8" name="Shape 5"/>
          <p:cNvSpPr/>
          <p:nvPr/>
        </p:nvSpPr>
        <p:spPr>
          <a:xfrm>
            <a:off x="2968600" y="1677924"/>
            <a:ext cx="411785" cy="164592"/>
          </a:xfrm>
          <a:prstGeom prst="rightArrow">
            <a:avLst/>
          </a:prstGeom>
          <a:solidFill>
            <a:srgbClr val="94A3B8"/>
          </a:solidFill>
          <a:ln/>
        </p:spPr>
      </p:sp>
      <p:sp>
        <p:nvSpPr>
          <p:cNvPr id="9" name="Shape 6"/>
          <p:cNvSpPr/>
          <p:nvPr/>
        </p:nvSpPr>
        <p:spPr>
          <a:xfrm>
            <a:off x="3468624" y="1371600"/>
            <a:ext cx="2331720" cy="777240"/>
          </a:xfrm>
          <a:prstGeom prst="roundRect">
            <a:avLst>
              <a:gd name="adj" fmla="val 11765"/>
            </a:avLst>
          </a:prstGeom>
          <a:solidFill>
            <a:srgbClr val="FFFFFF"/>
          </a:solidFill>
          <a:ln w="12700">
            <a:solidFill>
              <a:srgbClr val="E2E8F0"/>
            </a:solidFill>
            <a:prstDash val="solid"/>
          </a:ln>
          <a:effectLst>
            <a:outerShdw sx="100000" sy="100000" kx="0" ky="0" algn="bl" rotWithShape="0" blurRad="127000" dist="38100" dir="5400000">
              <a:srgbClr val="0F172A">
                <a:alpha val="10000"/>
              </a:srgbClr>
            </a:outerShdw>
          </a:effectLst>
        </p:spPr>
      </p:sp>
      <p:sp>
        <p:nvSpPr>
          <p:cNvPr id="10" name="Shape 7"/>
          <p:cNvSpPr/>
          <p:nvPr/>
        </p:nvSpPr>
        <p:spPr>
          <a:xfrm>
            <a:off x="3752088" y="1540764"/>
            <a:ext cx="438912" cy="438912"/>
          </a:xfrm>
          <a:prstGeom prst="ellipse">
            <a:avLst/>
          </a:prstGeom>
          <a:solidFill>
            <a:srgbClr val="E2E8F0"/>
          </a:solidFill>
          <a:ln/>
          <a:effectLst>
            <a:outerShdw sx="100000" sy="100000" kx="0" ky="0" algn="bl" rotWithShape="0" blurRad="101600" dist="38100" dir="5400000">
              <a:srgbClr val="0F172A">
                <a:alpha val="18000"/>
              </a:srgbClr>
            </a:outerShdw>
          </a:effectLst>
        </p:spPr>
      </p:sp>
      <p:pic>
        <p:nvPicPr>
          <p:cNvPr id="11" name="Image 1" descr="/home/claude/civic-deck/icons/nextjs.png">    </p:cNvPr>
          <p:cNvPicPr>
            <a:picLocks noChangeAspect="1"/>
          </p:cNvPicPr>
          <p:nvPr/>
        </p:nvPicPr>
        <p:blipFill>
          <a:blip r:embed="rId2"/>
          <a:stretch>
            <a:fillRect/>
          </a:stretch>
        </p:blipFill>
        <p:spPr>
          <a:xfrm>
            <a:off x="3850843" y="1639519"/>
            <a:ext cx="241402" cy="241402"/>
          </a:xfrm>
          <a:prstGeom prst="rect">
            <a:avLst/>
          </a:prstGeom>
        </p:spPr>
      </p:pic>
      <p:sp>
        <p:nvSpPr>
          <p:cNvPr id="12" name="Text 8"/>
          <p:cNvSpPr/>
          <p:nvPr/>
        </p:nvSpPr>
        <p:spPr>
          <a:xfrm>
            <a:off x="4337304" y="1371600"/>
            <a:ext cx="1325880" cy="777240"/>
          </a:xfrm>
          <a:prstGeom prst="rect">
            <a:avLst/>
          </a:prstGeom>
          <a:noFill/>
          <a:ln/>
        </p:spPr>
        <p:txBody>
          <a:bodyPr wrap="square" lIns="0" tIns="0" rIns="0" bIns="0" rtlCol="0" anchor="ctr"/>
          <a:lstStyle/>
          <a:p>
            <a:pPr indent="0" marL="0">
              <a:buNone/>
            </a:pPr>
            <a:r>
              <a:rPr lang="en-US" sz="1250" b="1" dirty="0">
                <a:solidFill>
                  <a:srgbClr val="0F172A"/>
                </a:solidFill>
                <a:latin typeface="Poppins" pitchFamily="34" charset="0"/>
                <a:ea typeface="Poppins" pitchFamily="34" charset="-122"/>
                <a:cs typeface="Poppins" pitchFamily="34" charset="-120"/>
              </a:rPr>
              <a:t>Next.js</a:t>
            </a:r>
            <a:endParaRPr lang="en-US" sz="1250" dirty="0"/>
          </a:p>
        </p:txBody>
      </p:sp>
      <p:sp>
        <p:nvSpPr>
          <p:cNvPr id="13" name="Shape 9"/>
          <p:cNvSpPr/>
          <p:nvPr/>
        </p:nvSpPr>
        <p:spPr>
          <a:xfrm>
            <a:off x="5888584" y="1677924"/>
            <a:ext cx="411785" cy="164592"/>
          </a:xfrm>
          <a:prstGeom prst="rightArrow">
            <a:avLst/>
          </a:prstGeom>
          <a:solidFill>
            <a:srgbClr val="94A3B8"/>
          </a:solidFill>
          <a:ln/>
        </p:spPr>
      </p:sp>
      <p:sp>
        <p:nvSpPr>
          <p:cNvPr id="14" name="Shape 10"/>
          <p:cNvSpPr/>
          <p:nvPr/>
        </p:nvSpPr>
        <p:spPr>
          <a:xfrm>
            <a:off x="6388608" y="1371600"/>
            <a:ext cx="2331720" cy="777240"/>
          </a:xfrm>
          <a:prstGeom prst="roundRect">
            <a:avLst>
              <a:gd name="adj" fmla="val 11765"/>
            </a:avLst>
          </a:prstGeom>
          <a:solidFill>
            <a:srgbClr val="FFFFFF"/>
          </a:solidFill>
          <a:ln w="12700">
            <a:solidFill>
              <a:srgbClr val="E2E8F0"/>
            </a:solidFill>
            <a:prstDash val="solid"/>
          </a:ln>
          <a:effectLst>
            <a:outerShdw sx="100000" sy="100000" kx="0" ky="0" algn="bl" rotWithShape="0" blurRad="127000" dist="38100" dir="5400000">
              <a:srgbClr val="0F172A">
                <a:alpha val="10000"/>
              </a:srgbClr>
            </a:outerShdw>
          </a:effectLst>
        </p:spPr>
      </p:sp>
      <p:sp>
        <p:nvSpPr>
          <p:cNvPr id="15" name="Shape 11"/>
          <p:cNvSpPr/>
          <p:nvPr/>
        </p:nvSpPr>
        <p:spPr>
          <a:xfrm>
            <a:off x="6672072" y="1540764"/>
            <a:ext cx="438912" cy="438912"/>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16" name="Image 2" descr="/home/claude/civic-deck/icons/postgres.png">    </p:cNvPr>
          <p:cNvPicPr>
            <a:picLocks noChangeAspect="1"/>
          </p:cNvPicPr>
          <p:nvPr/>
        </p:nvPicPr>
        <p:blipFill>
          <a:blip r:embed="rId3"/>
          <a:stretch>
            <a:fillRect/>
          </a:stretch>
        </p:blipFill>
        <p:spPr>
          <a:xfrm>
            <a:off x="6770827" y="1639519"/>
            <a:ext cx="241402" cy="241402"/>
          </a:xfrm>
          <a:prstGeom prst="rect">
            <a:avLst/>
          </a:prstGeom>
        </p:spPr>
      </p:pic>
      <p:sp>
        <p:nvSpPr>
          <p:cNvPr id="17" name="Text 12"/>
          <p:cNvSpPr/>
          <p:nvPr/>
        </p:nvSpPr>
        <p:spPr>
          <a:xfrm>
            <a:off x="7257288" y="1371600"/>
            <a:ext cx="1325880" cy="777240"/>
          </a:xfrm>
          <a:prstGeom prst="rect">
            <a:avLst/>
          </a:prstGeom>
          <a:noFill/>
          <a:ln/>
        </p:spPr>
        <p:txBody>
          <a:bodyPr wrap="square" lIns="0" tIns="0" rIns="0" bIns="0" rtlCol="0" anchor="ctr"/>
          <a:lstStyle/>
          <a:p>
            <a:pPr indent="0" marL="0">
              <a:buNone/>
            </a:pPr>
            <a:r>
              <a:rPr lang="en-US" sz="1250" b="1" dirty="0">
                <a:solidFill>
                  <a:srgbClr val="0F172A"/>
                </a:solidFill>
                <a:latin typeface="Poppins" pitchFamily="34" charset="0"/>
                <a:ea typeface="Poppins" pitchFamily="34" charset="-122"/>
                <a:cs typeface="Poppins" pitchFamily="34" charset="-120"/>
              </a:rPr>
              <a:t>PostgreSQL</a:t>
            </a:r>
            <a:endParaRPr lang="en-US" sz="1250" dirty="0"/>
          </a:p>
        </p:txBody>
      </p:sp>
      <p:sp>
        <p:nvSpPr>
          <p:cNvPr id="18" name="Shape 13"/>
          <p:cNvSpPr/>
          <p:nvPr/>
        </p:nvSpPr>
        <p:spPr>
          <a:xfrm>
            <a:off x="8808568" y="1677924"/>
            <a:ext cx="411785" cy="164592"/>
          </a:xfrm>
          <a:prstGeom prst="rightArrow">
            <a:avLst/>
          </a:prstGeom>
          <a:solidFill>
            <a:srgbClr val="94A3B8"/>
          </a:solidFill>
          <a:ln/>
        </p:spPr>
      </p:sp>
      <p:sp>
        <p:nvSpPr>
          <p:cNvPr id="19" name="Shape 14"/>
          <p:cNvSpPr/>
          <p:nvPr/>
        </p:nvSpPr>
        <p:spPr>
          <a:xfrm>
            <a:off x="9308592" y="1371600"/>
            <a:ext cx="2331720" cy="777240"/>
          </a:xfrm>
          <a:prstGeom prst="roundRect">
            <a:avLst>
              <a:gd name="adj" fmla="val 11765"/>
            </a:avLst>
          </a:prstGeom>
          <a:solidFill>
            <a:srgbClr val="FFFFFF"/>
          </a:solidFill>
          <a:ln w="12700">
            <a:solidFill>
              <a:srgbClr val="E2E8F0"/>
            </a:solidFill>
            <a:prstDash val="solid"/>
          </a:ln>
          <a:effectLst>
            <a:outerShdw sx="100000" sy="100000" kx="0" ky="0" algn="bl" rotWithShape="0" blurRad="127000" dist="38100" dir="5400000">
              <a:srgbClr val="0F172A">
                <a:alpha val="10000"/>
              </a:srgbClr>
            </a:outerShdw>
          </a:effectLst>
        </p:spPr>
      </p:sp>
      <p:sp>
        <p:nvSpPr>
          <p:cNvPr id="20" name="Shape 15"/>
          <p:cNvSpPr/>
          <p:nvPr/>
        </p:nvSpPr>
        <p:spPr>
          <a:xfrm>
            <a:off x="9592056" y="1540764"/>
            <a:ext cx="438912" cy="438912"/>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21" name="Image 3" descr="/home/claude/civic-deck/icons/fastapi.png">    </p:cNvPr>
          <p:cNvPicPr>
            <a:picLocks noChangeAspect="1"/>
          </p:cNvPicPr>
          <p:nvPr/>
        </p:nvPicPr>
        <p:blipFill>
          <a:blip r:embed="rId4"/>
          <a:stretch>
            <a:fillRect/>
          </a:stretch>
        </p:blipFill>
        <p:spPr>
          <a:xfrm>
            <a:off x="9690811" y="1639519"/>
            <a:ext cx="241402" cy="241402"/>
          </a:xfrm>
          <a:prstGeom prst="rect">
            <a:avLst/>
          </a:prstGeom>
        </p:spPr>
      </p:pic>
      <p:sp>
        <p:nvSpPr>
          <p:cNvPr id="22" name="Text 16"/>
          <p:cNvSpPr/>
          <p:nvPr/>
        </p:nvSpPr>
        <p:spPr>
          <a:xfrm>
            <a:off x="10177272" y="1371600"/>
            <a:ext cx="1325880" cy="777240"/>
          </a:xfrm>
          <a:prstGeom prst="rect">
            <a:avLst/>
          </a:prstGeom>
          <a:noFill/>
          <a:ln/>
        </p:spPr>
        <p:txBody>
          <a:bodyPr wrap="square" lIns="0" tIns="0" rIns="0" bIns="0" rtlCol="0" anchor="ctr"/>
          <a:lstStyle/>
          <a:p>
            <a:pPr indent="0" marL="0">
              <a:buNone/>
            </a:pPr>
            <a:r>
              <a:rPr lang="en-US" sz="1250" b="1" dirty="0">
                <a:solidFill>
                  <a:srgbClr val="0F172A"/>
                </a:solidFill>
                <a:latin typeface="Poppins" pitchFamily="34" charset="0"/>
                <a:ea typeface="Poppins" pitchFamily="34" charset="-122"/>
                <a:cs typeface="Poppins" pitchFamily="34" charset="-120"/>
              </a:rPr>
              <a:t>FastAPI</a:t>
            </a:r>
            <a:endParaRPr lang="en-US" sz="1250" dirty="0"/>
          </a:p>
        </p:txBody>
      </p:sp>
      <p:sp>
        <p:nvSpPr>
          <p:cNvPr id="23" name="Shape 17"/>
          <p:cNvSpPr/>
          <p:nvPr/>
        </p:nvSpPr>
        <p:spPr>
          <a:xfrm>
            <a:off x="548640" y="2514600"/>
            <a:ext cx="11091672" cy="3246120"/>
          </a:xfrm>
          <a:prstGeom prst="roundRect">
            <a:avLst>
              <a:gd name="adj" fmla="val 4507"/>
            </a:avLst>
          </a:prstGeom>
          <a:solidFill>
            <a:srgbClr val="0F172A"/>
          </a:solidFill>
          <a:ln/>
        </p:spPr>
      </p:sp>
      <p:sp>
        <p:nvSpPr>
          <p:cNvPr id="24" name="Text 18"/>
          <p:cNvSpPr/>
          <p:nvPr/>
        </p:nvSpPr>
        <p:spPr>
          <a:xfrm>
            <a:off x="868680" y="2734056"/>
            <a:ext cx="4572000" cy="292608"/>
          </a:xfrm>
          <a:prstGeom prst="rect">
            <a:avLst/>
          </a:prstGeom>
          <a:noFill/>
          <a:ln/>
        </p:spPr>
        <p:txBody>
          <a:bodyPr wrap="square" lIns="0" tIns="0" rIns="0" bIns="0" rtlCol="0" anchor="ctr"/>
          <a:lstStyle/>
          <a:p>
            <a:pPr indent="0" marL="0">
              <a:buNone/>
            </a:pPr>
            <a:r>
              <a:rPr lang="en-US" sz="1200" b="1" spc="200" kern="0" dirty="0">
                <a:solidFill>
                  <a:srgbClr val="60A5FA"/>
                </a:solidFill>
                <a:latin typeface="Inter" pitchFamily="34" charset="0"/>
                <a:ea typeface="Inter" pitchFamily="34" charset="-122"/>
                <a:cs typeface="Inter" pitchFamily="34" charset="-120"/>
              </a:rPr>
              <a:t>GRAPHRAG ENGINE</a:t>
            </a:r>
            <a:endParaRPr lang="en-US" sz="1200" dirty="0"/>
          </a:p>
        </p:txBody>
      </p:sp>
      <p:sp>
        <p:nvSpPr>
          <p:cNvPr id="25" name="Text 19"/>
          <p:cNvSpPr/>
          <p:nvPr/>
        </p:nvSpPr>
        <p:spPr>
          <a:xfrm>
            <a:off x="868680" y="3026664"/>
            <a:ext cx="7315200" cy="274320"/>
          </a:xfrm>
          <a:prstGeom prst="rect">
            <a:avLst/>
          </a:prstGeom>
          <a:noFill/>
          <a:ln/>
        </p:spPr>
        <p:txBody>
          <a:bodyPr wrap="square" lIns="0" tIns="0" rIns="0" bIns="0" rtlCol="0" anchor="ctr"/>
          <a:lstStyle/>
          <a:p>
            <a:pPr indent="0" marL="0">
              <a:buNone/>
            </a:pPr>
            <a:r>
              <a:rPr lang="en-US" sz="1050" dirty="0">
                <a:solidFill>
                  <a:srgbClr val="94A3B8"/>
                </a:solidFill>
                <a:latin typeface="Inter" pitchFamily="34" charset="0"/>
                <a:ea typeface="Inter" pitchFamily="34" charset="-122"/>
                <a:cs typeface="Inter" pitchFamily="34" charset="-120"/>
              </a:rPr>
              <a:t>The reasoning core — every complaint passes through all five stages below.</a:t>
            </a:r>
            <a:endParaRPr lang="en-US" sz="1050" dirty="0"/>
          </a:p>
        </p:txBody>
      </p:sp>
      <p:sp>
        <p:nvSpPr>
          <p:cNvPr id="26" name="Shape 20"/>
          <p:cNvSpPr/>
          <p:nvPr/>
        </p:nvSpPr>
        <p:spPr>
          <a:xfrm>
            <a:off x="868680" y="3474720"/>
            <a:ext cx="1965960" cy="1920240"/>
          </a:xfrm>
          <a:prstGeom prst="roundRect">
            <a:avLst>
              <a:gd name="adj" fmla="val 5714"/>
            </a:avLst>
          </a:prstGeom>
          <a:solidFill>
            <a:srgbClr val="132043"/>
          </a:solidFill>
          <a:ln/>
        </p:spPr>
      </p:sp>
      <p:sp>
        <p:nvSpPr>
          <p:cNvPr id="27" name="Shape 21"/>
          <p:cNvSpPr/>
          <p:nvPr/>
        </p:nvSpPr>
        <p:spPr>
          <a:xfrm>
            <a:off x="1595628" y="3675888"/>
            <a:ext cx="512064" cy="512064"/>
          </a:xfrm>
          <a:prstGeom prst="ellipse">
            <a:avLst/>
          </a:prstGeom>
          <a:solidFill>
            <a:srgbClr val="1E3A5F"/>
          </a:solidFill>
          <a:ln/>
          <a:effectLst>
            <a:outerShdw sx="100000" sy="100000" kx="0" ky="0" algn="bl" rotWithShape="0" blurRad="101600" dist="38100" dir="5400000">
              <a:srgbClr val="0F172A">
                <a:alpha val="18000"/>
              </a:srgbClr>
            </a:outerShdw>
          </a:effectLst>
        </p:spPr>
      </p:sp>
      <p:pic>
        <p:nvPicPr>
          <p:cNvPr id="28" name="Image 4" descr="/home/claude/civic-deck/icons/brain.png">    </p:cNvPr>
          <p:cNvPicPr>
            <a:picLocks noChangeAspect="1"/>
          </p:cNvPicPr>
          <p:nvPr/>
        </p:nvPicPr>
        <p:blipFill>
          <a:blip r:embed="rId5"/>
          <a:stretch>
            <a:fillRect/>
          </a:stretch>
        </p:blipFill>
        <p:spPr>
          <a:xfrm>
            <a:off x="1718523" y="3798783"/>
            <a:ext cx="266273" cy="266273"/>
          </a:xfrm>
          <a:prstGeom prst="rect">
            <a:avLst/>
          </a:prstGeom>
        </p:spPr>
      </p:pic>
      <p:sp>
        <p:nvSpPr>
          <p:cNvPr id="29" name="Text 22"/>
          <p:cNvSpPr/>
          <p:nvPr/>
        </p:nvSpPr>
        <p:spPr>
          <a:xfrm>
            <a:off x="978408" y="4297680"/>
            <a:ext cx="174650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oppins" pitchFamily="34" charset="0"/>
                <a:ea typeface="Poppins" pitchFamily="34" charset="-122"/>
                <a:cs typeface="Poppins" pitchFamily="34" charset="-120"/>
              </a:rPr>
              <a:t>Qwen 3</a:t>
            </a:r>
            <a:endParaRPr lang="en-US" sz="1150" dirty="0"/>
          </a:p>
        </p:txBody>
      </p:sp>
      <p:sp>
        <p:nvSpPr>
          <p:cNvPr id="30" name="Text 23"/>
          <p:cNvSpPr/>
          <p:nvPr/>
        </p:nvSpPr>
        <p:spPr>
          <a:xfrm>
            <a:off x="996696" y="4645152"/>
            <a:ext cx="1709928" cy="685800"/>
          </a:xfrm>
          <a:prstGeom prst="rect">
            <a:avLst/>
          </a:prstGeom>
          <a:noFill/>
          <a:ln/>
        </p:spPr>
        <p:txBody>
          <a:bodyPr wrap="square" lIns="0" tIns="0" rIns="0" bIns="0" rtlCol="0" anchor="ctr"/>
          <a:lstStyle/>
          <a:p>
            <a:pPr algn="ctr" indent="0" marL="0">
              <a:lnSpc>
                <a:spcPct val="115000"/>
              </a:lnSpc>
              <a:buNone/>
            </a:pPr>
            <a:r>
              <a:rPr lang="en-US" sz="870" dirty="0">
                <a:solidFill>
                  <a:srgbClr val="CBD5E1"/>
                </a:solidFill>
                <a:latin typeface="Inter" pitchFamily="34" charset="0"/>
                <a:ea typeface="Inter" pitchFamily="34" charset="-122"/>
                <a:cs typeface="Inter" pitchFamily="34" charset="-120"/>
              </a:rPr>
              <a:t>Entity + intent extraction from raw complaint text.</a:t>
            </a:r>
            <a:endParaRPr lang="en-US" sz="870" dirty="0"/>
          </a:p>
        </p:txBody>
      </p:sp>
      <p:sp>
        <p:nvSpPr>
          <p:cNvPr id="31" name="Shape 24"/>
          <p:cNvSpPr/>
          <p:nvPr/>
        </p:nvSpPr>
        <p:spPr>
          <a:xfrm>
            <a:off x="2849499" y="4352544"/>
            <a:ext cx="118872" cy="164592"/>
          </a:xfrm>
          <a:prstGeom prst="rightArrow">
            <a:avLst/>
          </a:prstGeom>
          <a:solidFill>
            <a:srgbClr val="3B82F6"/>
          </a:solidFill>
          <a:ln/>
        </p:spPr>
      </p:sp>
      <p:sp>
        <p:nvSpPr>
          <p:cNvPr id="32" name="Shape 25"/>
          <p:cNvSpPr/>
          <p:nvPr/>
        </p:nvSpPr>
        <p:spPr>
          <a:xfrm>
            <a:off x="2983230" y="3474720"/>
            <a:ext cx="1965960" cy="1920240"/>
          </a:xfrm>
          <a:prstGeom prst="roundRect">
            <a:avLst>
              <a:gd name="adj" fmla="val 5714"/>
            </a:avLst>
          </a:prstGeom>
          <a:solidFill>
            <a:srgbClr val="132043"/>
          </a:solidFill>
          <a:ln/>
        </p:spPr>
      </p:sp>
      <p:sp>
        <p:nvSpPr>
          <p:cNvPr id="33" name="Shape 26"/>
          <p:cNvSpPr/>
          <p:nvPr/>
        </p:nvSpPr>
        <p:spPr>
          <a:xfrm>
            <a:off x="3710178" y="3675888"/>
            <a:ext cx="512064" cy="512064"/>
          </a:xfrm>
          <a:prstGeom prst="ellipse">
            <a:avLst/>
          </a:prstGeom>
          <a:solidFill>
            <a:srgbClr val="1E3A5F"/>
          </a:solidFill>
          <a:ln/>
          <a:effectLst>
            <a:outerShdw sx="100000" sy="100000" kx="0" ky="0" algn="bl" rotWithShape="0" blurRad="101600" dist="38100" dir="5400000">
              <a:srgbClr val="0F172A">
                <a:alpha val="18000"/>
              </a:srgbClr>
            </a:outerShdw>
          </a:effectLst>
        </p:spPr>
      </p:sp>
      <p:pic>
        <p:nvPicPr>
          <p:cNvPr id="34" name="Image 5" descr="/home/claude/civic-deck/icons/listCheck.png">    </p:cNvPr>
          <p:cNvPicPr>
            <a:picLocks noChangeAspect="1"/>
          </p:cNvPicPr>
          <p:nvPr/>
        </p:nvPicPr>
        <p:blipFill>
          <a:blip r:embed="rId6"/>
          <a:stretch>
            <a:fillRect/>
          </a:stretch>
        </p:blipFill>
        <p:spPr>
          <a:xfrm>
            <a:off x="3833073" y="3798783"/>
            <a:ext cx="266273" cy="266273"/>
          </a:xfrm>
          <a:prstGeom prst="rect">
            <a:avLst/>
          </a:prstGeom>
        </p:spPr>
      </p:pic>
      <p:sp>
        <p:nvSpPr>
          <p:cNvPr id="35" name="Text 27"/>
          <p:cNvSpPr/>
          <p:nvPr/>
        </p:nvSpPr>
        <p:spPr>
          <a:xfrm>
            <a:off x="3092958" y="4297680"/>
            <a:ext cx="174650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oppins" pitchFamily="34" charset="0"/>
                <a:ea typeface="Poppins" pitchFamily="34" charset="-122"/>
                <a:cs typeface="Poppins" pitchFamily="34" charset="-120"/>
              </a:rPr>
              <a:t>Ontology Normalizer</a:t>
            </a:r>
            <a:endParaRPr lang="en-US" sz="1150" dirty="0"/>
          </a:p>
        </p:txBody>
      </p:sp>
      <p:sp>
        <p:nvSpPr>
          <p:cNvPr id="36" name="Text 28"/>
          <p:cNvSpPr/>
          <p:nvPr/>
        </p:nvSpPr>
        <p:spPr>
          <a:xfrm>
            <a:off x="3111246" y="4645152"/>
            <a:ext cx="1709928" cy="685800"/>
          </a:xfrm>
          <a:prstGeom prst="rect">
            <a:avLst/>
          </a:prstGeom>
          <a:noFill/>
          <a:ln/>
        </p:spPr>
        <p:txBody>
          <a:bodyPr wrap="square" lIns="0" tIns="0" rIns="0" bIns="0" rtlCol="0" anchor="ctr"/>
          <a:lstStyle/>
          <a:p>
            <a:pPr algn="ctr" indent="0" marL="0">
              <a:lnSpc>
                <a:spcPct val="115000"/>
              </a:lnSpc>
              <a:buNone/>
            </a:pPr>
            <a:r>
              <a:rPr lang="en-US" sz="870" dirty="0">
                <a:solidFill>
                  <a:srgbClr val="CBD5E1"/>
                </a:solidFill>
                <a:latin typeface="Inter" pitchFamily="34" charset="0"/>
                <a:ea typeface="Inter" pitchFamily="34" charset="-122"/>
                <a:cs typeface="Inter" pitchFamily="34" charset="-120"/>
              </a:rPr>
              <a:t>Maps extracted entities onto the 23-department schema.</a:t>
            </a:r>
            <a:endParaRPr lang="en-US" sz="870" dirty="0"/>
          </a:p>
        </p:txBody>
      </p:sp>
      <p:sp>
        <p:nvSpPr>
          <p:cNvPr id="37" name="Shape 29"/>
          <p:cNvSpPr/>
          <p:nvPr/>
        </p:nvSpPr>
        <p:spPr>
          <a:xfrm>
            <a:off x="4964049" y="4352544"/>
            <a:ext cx="118872" cy="164592"/>
          </a:xfrm>
          <a:prstGeom prst="rightArrow">
            <a:avLst/>
          </a:prstGeom>
          <a:solidFill>
            <a:srgbClr val="3B82F6"/>
          </a:solidFill>
          <a:ln/>
        </p:spPr>
      </p:sp>
      <p:sp>
        <p:nvSpPr>
          <p:cNvPr id="38" name="Shape 30"/>
          <p:cNvSpPr/>
          <p:nvPr/>
        </p:nvSpPr>
        <p:spPr>
          <a:xfrm>
            <a:off x="5097780" y="3474720"/>
            <a:ext cx="1965960" cy="1920240"/>
          </a:xfrm>
          <a:prstGeom prst="roundRect">
            <a:avLst>
              <a:gd name="adj" fmla="val 5714"/>
            </a:avLst>
          </a:prstGeom>
          <a:solidFill>
            <a:srgbClr val="132043"/>
          </a:solidFill>
          <a:ln/>
        </p:spPr>
      </p:sp>
      <p:sp>
        <p:nvSpPr>
          <p:cNvPr id="39" name="Shape 31"/>
          <p:cNvSpPr/>
          <p:nvPr/>
        </p:nvSpPr>
        <p:spPr>
          <a:xfrm>
            <a:off x="5824728" y="3675888"/>
            <a:ext cx="512064" cy="512064"/>
          </a:xfrm>
          <a:prstGeom prst="ellipse">
            <a:avLst/>
          </a:prstGeom>
          <a:solidFill>
            <a:srgbClr val="1E3A5F"/>
          </a:solidFill>
          <a:ln/>
          <a:effectLst>
            <a:outerShdw sx="100000" sy="100000" kx="0" ky="0" algn="bl" rotWithShape="0" blurRad="101600" dist="38100" dir="5400000">
              <a:srgbClr val="0F172A">
                <a:alpha val="18000"/>
              </a:srgbClr>
            </a:outerShdw>
          </a:effectLst>
        </p:spPr>
      </p:sp>
      <p:pic>
        <p:nvPicPr>
          <p:cNvPr id="40" name="Image 6" descr="/home/claude/civic-deck/icons/sitemap.png">    </p:cNvPr>
          <p:cNvPicPr>
            <a:picLocks noChangeAspect="1"/>
          </p:cNvPicPr>
          <p:nvPr/>
        </p:nvPicPr>
        <p:blipFill>
          <a:blip r:embed="rId7"/>
          <a:stretch>
            <a:fillRect/>
          </a:stretch>
        </p:blipFill>
        <p:spPr>
          <a:xfrm>
            <a:off x="5947623" y="3798783"/>
            <a:ext cx="266273" cy="266273"/>
          </a:xfrm>
          <a:prstGeom prst="rect">
            <a:avLst/>
          </a:prstGeom>
        </p:spPr>
      </p:pic>
      <p:sp>
        <p:nvSpPr>
          <p:cNvPr id="41" name="Text 32"/>
          <p:cNvSpPr/>
          <p:nvPr/>
        </p:nvSpPr>
        <p:spPr>
          <a:xfrm>
            <a:off x="5207508" y="4297680"/>
            <a:ext cx="174650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oppins" pitchFamily="34" charset="0"/>
                <a:ea typeface="Poppins" pitchFamily="34" charset="-122"/>
                <a:cs typeface="Poppins" pitchFamily="34" charset="-120"/>
              </a:rPr>
              <a:t>Neo4j</a:t>
            </a:r>
            <a:endParaRPr lang="en-US" sz="1150" dirty="0"/>
          </a:p>
        </p:txBody>
      </p:sp>
      <p:sp>
        <p:nvSpPr>
          <p:cNvPr id="42" name="Text 33"/>
          <p:cNvSpPr/>
          <p:nvPr/>
        </p:nvSpPr>
        <p:spPr>
          <a:xfrm>
            <a:off x="5225796" y="4645152"/>
            <a:ext cx="1709928" cy="685800"/>
          </a:xfrm>
          <a:prstGeom prst="rect">
            <a:avLst/>
          </a:prstGeom>
          <a:noFill/>
          <a:ln/>
        </p:spPr>
        <p:txBody>
          <a:bodyPr wrap="square" lIns="0" tIns="0" rIns="0" bIns="0" rtlCol="0" anchor="ctr"/>
          <a:lstStyle/>
          <a:p>
            <a:pPr algn="ctr" indent="0" marL="0">
              <a:lnSpc>
                <a:spcPct val="115000"/>
              </a:lnSpc>
              <a:buNone/>
            </a:pPr>
            <a:r>
              <a:rPr lang="en-US" sz="870" dirty="0">
                <a:solidFill>
                  <a:srgbClr val="CBD5E1"/>
                </a:solidFill>
                <a:latin typeface="Inter" pitchFamily="34" charset="0"/>
                <a:ea typeface="Inter" pitchFamily="34" charset="-122"/>
                <a:cs typeface="Inter" pitchFamily="34" charset="-120"/>
              </a:rPr>
              <a:t>Graph construction + traversal for department inference.</a:t>
            </a:r>
            <a:endParaRPr lang="en-US" sz="870" dirty="0"/>
          </a:p>
        </p:txBody>
      </p:sp>
      <p:sp>
        <p:nvSpPr>
          <p:cNvPr id="43" name="Shape 34"/>
          <p:cNvSpPr/>
          <p:nvPr/>
        </p:nvSpPr>
        <p:spPr>
          <a:xfrm>
            <a:off x="7078599" y="4352544"/>
            <a:ext cx="118872" cy="164592"/>
          </a:xfrm>
          <a:prstGeom prst="rightArrow">
            <a:avLst/>
          </a:prstGeom>
          <a:solidFill>
            <a:srgbClr val="3B82F6"/>
          </a:solidFill>
          <a:ln/>
        </p:spPr>
      </p:sp>
      <p:sp>
        <p:nvSpPr>
          <p:cNvPr id="44" name="Shape 35"/>
          <p:cNvSpPr/>
          <p:nvPr/>
        </p:nvSpPr>
        <p:spPr>
          <a:xfrm>
            <a:off x="7212330" y="3474720"/>
            <a:ext cx="1965960" cy="1920240"/>
          </a:xfrm>
          <a:prstGeom prst="roundRect">
            <a:avLst>
              <a:gd name="adj" fmla="val 5714"/>
            </a:avLst>
          </a:prstGeom>
          <a:solidFill>
            <a:srgbClr val="132043"/>
          </a:solidFill>
          <a:ln/>
        </p:spPr>
      </p:sp>
      <p:sp>
        <p:nvSpPr>
          <p:cNvPr id="45" name="Shape 36"/>
          <p:cNvSpPr/>
          <p:nvPr/>
        </p:nvSpPr>
        <p:spPr>
          <a:xfrm>
            <a:off x="7939278" y="3675888"/>
            <a:ext cx="512064" cy="512064"/>
          </a:xfrm>
          <a:prstGeom prst="ellipse">
            <a:avLst/>
          </a:prstGeom>
          <a:solidFill>
            <a:srgbClr val="1E3A5F"/>
          </a:solidFill>
          <a:ln/>
          <a:effectLst>
            <a:outerShdw sx="100000" sy="100000" kx="0" ky="0" algn="bl" rotWithShape="0" blurRad="101600" dist="38100" dir="5400000">
              <a:srgbClr val="0F172A">
                <a:alpha val="18000"/>
              </a:srgbClr>
            </a:outerShdw>
          </a:effectLst>
        </p:spPr>
      </p:sp>
      <p:pic>
        <p:nvPicPr>
          <p:cNvPr id="46" name="Image 7" descr="/home/claude/civic-deck/icons/vector.png">    </p:cNvPr>
          <p:cNvPicPr>
            <a:picLocks noChangeAspect="1"/>
          </p:cNvPicPr>
          <p:nvPr/>
        </p:nvPicPr>
        <p:blipFill>
          <a:blip r:embed="rId8"/>
          <a:stretch>
            <a:fillRect/>
          </a:stretch>
        </p:blipFill>
        <p:spPr>
          <a:xfrm>
            <a:off x="8062173" y="3798783"/>
            <a:ext cx="266273" cy="266273"/>
          </a:xfrm>
          <a:prstGeom prst="rect">
            <a:avLst/>
          </a:prstGeom>
        </p:spPr>
      </p:pic>
      <p:sp>
        <p:nvSpPr>
          <p:cNvPr id="47" name="Text 37"/>
          <p:cNvSpPr/>
          <p:nvPr/>
        </p:nvSpPr>
        <p:spPr>
          <a:xfrm>
            <a:off x="7322058" y="4297680"/>
            <a:ext cx="174650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oppins" pitchFamily="34" charset="0"/>
                <a:ea typeface="Poppins" pitchFamily="34" charset="-122"/>
                <a:cs typeface="Poppins" pitchFamily="34" charset="-120"/>
              </a:rPr>
              <a:t>BGE-M3 to Qdrant</a:t>
            </a:r>
            <a:endParaRPr lang="en-US" sz="1150" dirty="0"/>
          </a:p>
        </p:txBody>
      </p:sp>
      <p:sp>
        <p:nvSpPr>
          <p:cNvPr id="48" name="Text 38"/>
          <p:cNvSpPr/>
          <p:nvPr/>
        </p:nvSpPr>
        <p:spPr>
          <a:xfrm>
            <a:off x="7340346" y="4645152"/>
            <a:ext cx="1709928" cy="685800"/>
          </a:xfrm>
          <a:prstGeom prst="rect">
            <a:avLst/>
          </a:prstGeom>
          <a:noFill/>
          <a:ln/>
        </p:spPr>
        <p:txBody>
          <a:bodyPr wrap="square" lIns="0" tIns="0" rIns="0" bIns="0" rtlCol="0" anchor="ctr"/>
          <a:lstStyle/>
          <a:p>
            <a:pPr algn="ctr" indent="0" marL="0">
              <a:lnSpc>
                <a:spcPct val="115000"/>
              </a:lnSpc>
              <a:buNone/>
            </a:pPr>
            <a:r>
              <a:rPr lang="en-US" sz="870" dirty="0">
                <a:solidFill>
                  <a:srgbClr val="CBD5E1"/>
                </a:solidFill>
                <a:latin typeface="Inter" pitchFamily="34" charset="0"/>
                <a:ea typeface="Inter" pitchFamily="34" charset="-122"/>
                <a:cs typeface="Inter" pitchFamily="34" charset="-120"/>
              </a:rPr>
              <a:t>Embeds and semantically retrieves similar past complaints.</a:t>
            </a:r>
            <a:endParaRPr lang="en-US" sz="870" dirty="0"/>
          </a:p>
        </p:txBody>
      </p:sp>
      <p:sp>
        <p:nvSpPr>
          <p:cNvPr id="49" name="Shape 39"/>
          <p:cNvSpPr/>
          <p:nvPr/>
        </p:nvSpPr>
        <p:spPr>
          <a:xfrm>
            <a:off x="9193149" y="4352544"/>
            <a:ext cx="118872" cy="164592"/>
          </a:xfrm>
          <a:prstGeom prst="rightArrow">
            <a:avLst/>
          </a:prstGeom>
          <a:solidFill>
            <a:srgbClr val="3B82F6"/>
          </a:solidFill>
          <a:ln/>
        </p:spPr>
      </p:sp>
      <p:sp>
        <p:nvSpPr>
          <p:cNvPr id="50" name="Shape 40"/>
          <p:cNvSpPr/>
          <p:nvPr/>
        </p:nvSpPr>
        <p:spPr>
          <a:xfrm>
            <a:off x="9326880" y="3474720"/>
            <a:ext cx="1965960" cy="1920240"/>
          </a:xfrm>
          <a:prstGeom prst="roundRect">
            <a:avLst>
              <a:gd name="adj" fmla="val 5714"/>
            </a:avLst>
          </a:prstGeom>
          <a:solidFill>
            <a:srgbClr val="132043"/>
          </a:solidFill>
          <a:ln/>
        </p:spPr>
      </p:sp>
      <p:sp>
        <p:nvSpPr>
          <p:cNvPr id="51" name="Shape 41"/>
          <p:cNvSpPr/>
          <p:nvPr/>
        </p:nvSpPr>
        <p:spPr>
          <a:xfrm>
            <a:off x="10053828" y="3675888"/>
            <a:ext cx="512064" cy="512064"/>
          </a:xfrm>
          <a:prstGeom prst="ellipse">
            <a:avLst/>
          </a:prstGeom>
          <a:solidFill>
            <a:srgbClr val="1E3A5F"/>
          </a:solidFill>
          <a:ln/>
          <a:effectLst>
            <a:outerShdw sx="100000" sy="100000" kx="0" ky="0" algn="bl" rotWithShape="0" blurRad="101600" dist="38100" dir="5400000">
              <a:srgbClr val="0F172A">
                <a:alpha val="18000"/>
              </a:srgbClr>
            </a:outerShdw>
          </a:effectLst>
        </p:spPr>
      </p:sp>
      <p:pic>
        <p:nvPicPr>
          <p:cNvPr id="52" name="Image 8" descr="/home/claude/civic-deck/icons/route.png">    </p:cNvPr>
          <p:cNvPicPr>
            <a:picLocks noChangeAspect="1"/>
          </p:cNvPicPr>
          <p:nvPr/>
        </p:nvPicPr>
        <p:blipFill>
          <a:blip r:embed="rId9"/>
          <a:stretch>
            <a:fillRect/>
          </a:stretch>
        </p:blipFill>
        <p:spPr>
          <a:xfrm>
            <a:off x="10176723" y="3798783"/>
            <a:ext cx="266273" cy="266273"/>
          </a:xfrm>
          <a:prstGeom prst="rect">
            <a:avLst/>
          </a:prstGeom>
        </p:spPr>
      </p:pic>
      <p:sp>
        <p:nvSpPr>
          <p:cNvPr id="53" name="Text 42"/>
          <p:cNvSpPr/>
          <p:nvPr/>
        </p:nvSpPr>
        <p:spPr>
          <a:xfrm>
            <a:off x="9436608" y="4297680"/>
            <a:ext cx="174650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oppins" pitchFamily="34" charset="0"/>
                <a:ea typeface="Poppins" pitchFamily="34" charset="-122"/>
                <a:cs typeface="Poppins" pitchFamily="34" charset="-120"/>
              </a:rPr>
              <a:t>Routing Result</a:t>
            </a:r>
            <a:endParaRPr lang="en-US" sz="1150" dirty="0"/>
          </a:p>
        </p:txBody>
      </p:sp>
      <p:sp>
        <p:nvSpPr>
          <p:cNvPr id="54" name="Text 43"/>
          <p:cNvSpPr/>
          <p:nvPr/>
        </p:nvSpPr>
        <p:spPr>
          <a:xfrm>
            <a:off x="9454896" y="4645152"/>
            <a:ext cx="1709928" cy="685800"/>
          </a:xfrm>
          <a:prstGeom prst="rect">
            <a:avLst/>
          </a:prstGeom>
          <a:noFill/>
          <a:ln/>
        </p:spPr>
        <p:txBody>
          <a:bodyPr wrap="square" lIns="0" tIns="0" rIns="0" bIns="0" rtlCol="0" anchor="ctr"/>
          <a:lstStyle/>
          <a:p>
            <a:pPr algn="ctr" indent="0" marL="0">
              <a:lnSpc>
                <a:spcPct val="115000"/>
              </a:lnSpc>
              <a:buNone/>
            </a:pPr>
            <a:r>
              <a:rPr lang="en-US" sz="870" dirty="0">
                <a:solidFill>
                  <a:srgbClr val="CBD5E1"/>
                </a:solidFill>
                <a:latin typeface="Inter" pitchFamily="34" charset="0"/>
                <a:ea typeface="Inter" pitchFamily="34" charset="-122"/>
                <a:cs typeface="Inter" pitchFamily="34" charset="-120"/>
              </a:rPr>
              <a:t>Confidence-scored department assignment, ready to persist.</a:t>
            </a:r>
            <a:endParaRPr lang="en-US" sz="870" dirty="0"/>
          </a:p>
        </p:txBody>
      </p:sp>
      <p:sp>
        <p:nvSpPr>
          <p:cNvPr id="55" name="Shape 44"/>
          <p:cNvSpPr/>
          <p:nvPr/>
        </p:nvSpPr>
        <p:spPr>
          <a:xfrm>
            <a:off x="2825496" y="5989320"/>
            <a:ext cx="384048" cy="384048"/>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56" name="Image 9" descr="/home/claude/civic-deck/icons/database.png">    </p:cNvPr>
          <p:cNvPicPr>
            <a:picLocks noChangeAspect="1"/>
          </p:cNvPicPr>
          <p:nvPr/>
        </p:nvPicPr>
        <p:blipFill>
          <a:blip r:embed="rId10"/>
          <a:stretch>
            <a:fillRect/>
          </a:stretch>
        </p:blipFill>
        <p:spPr>
          <a:xfrm>
            <a:off x="2911907" y="6075731"/>
            <a:ext cx="211226" cy="211226"/>
          </a:xfrm>
          <a:prstGeom prst="rect">
            <a:avLst/>
          </a:prstGeom>
        </p:spPr>
      </p:pic>
      <p:sp>
        <p:nvSpPr>
          <p:cNvPr id="57" name="Text 45"/>
          <p:cNvSpPr/>
          <p:nvPr/>
        </p:nvSpPr>
        <p:spPr>
          <a:xfrm>
            <a:off x="3310128" y="6016752"/>
            <a:ext cx="2377440" cy="329184"/>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Synced to PostgreSQL</a:t>
            </a:r>
            <a:endParaRPr lang="en-US" sz="1100" dirty="0"/>
          </a:p>
        </p:txBody>
      </p:sp>
      <p:sp>
        <p:nvSpPr>
          <p:cNvPr id="58" name="Shape 46"/>
          <p:cNvSpPr/>
          <p:nvPr/>
        </p:nvSpPr>
        <p:spPr>
          <a:xfrm>
            <a:off x="5669280" y="6099048"/>
            <a:ext cx="457200" cy="164592"/>
          </a:xfrm>
          <a:prstGeom prst="rightArrow">
            <a:avLst/>
          </a:prstGeom>
          <a:solidFill>
            <a:srgbClr val="94A3B8"/>
          </a:solidFill>
          <a:ln/>
        </p:spPr>
      </p:sp>
      <p:sp>
        <p:nvSpPr>
          <p:cNvPr id="59" name="Shape 47"/>
          <p:cNvSpPr/>
          <p:nvPr/>
        </p:nvSpPr>
        <p:spPr>
          <a:xfrm>
            <a:off x="6025896" y="5989320"/>
            <a:ext cx="384048" cy="38404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60" name="Image 10" descr="/home/claude/civic-deck/icons/gauge.png">    </p:cNvPr>
          <p:cNvPicPr>
            <a:picLocks noChangeAspect="1"/>
          </p:cNvPicPr>
          <p:nvPr/>
        </p:nvPicPr>
        <p:blipFill>
          <a:blip r:embed="rId11"/>
          <a:stretch>
            <a:fillRect/>
          </a:stretch>
        </p:blipFill>
        <p:spPr>
          <a:xfrm>
            <a:off x="6112307" y="6075731"/>
            <a:ext cx="211226" cy="211226"/>
          </a:xfrm>
          <a:prstGeom prst="rect">
            <a:avLst/>
          </a:prstGeom>
        </p:spPr>
      </p:pic>
      <p:sp>
        <p:nvSpPr>
          <p:cNvPr id="61" name="Text 48"/>
          <p:cNvSpPr/>
          <p:nvPr/>
        </p:nvSpPr>
        <p:spPr>
          <a:xfrm>
            <a:off x="6510528" y="6016752"/>
            <a:ext cx="2377440" cy="329184"/>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Admin Dashboard</a:t>
            </a:r>
            <a:endParaRPr lang="en-US" sz="1100" dirty="0"/>
          </a:p>
        </p:txBody>
      </p:sp>
      <p:sp>
        <p:nvSpPr>
          <p:cNvPr id="62" name="Text 49"/>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63" name="Text 50"/>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System Architecture</a:t>
            </a:r>
            <a:endParaRPr lang="en-US" sz="900" dirty="0"/>
          </a:p>
        </p:txBody>
      </p:sp>
      <p:sp>
        <p:nvSpPr>
          <p:cNvPr id="64" name="Text 51"/>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KNOWLEDGE GRAPH</a:t>
            </a:r>
            <a:endParaRPr lang="en-US" sz="1200" dirty="0"/>
          </a:p>
        </p:txBody>
      </p:sp>
      <p:sp>
        <p:nvSpPr>
          <p:cNvPr id="3" name="Text 1"/>
          <p:cNvSpPr/>
          <p:nvPr/>
        </p:nvSpPr>
        <p:spPr>
          <a:xfrm>
            <a:off x="548640" y="777240"/>
            <a:ext cx="6035040" cy="868680"/>
          </a:xfrm>
          <a:prstGeom prst="rect">
            <a:avLst/>
          </a:prstGeom>
          <a:noFill/>
          <a:ln/>
        </p:spPr>
        <p:txBody>
          <a:bodyPr wrap="square" lIns="0" tIns="0" rIns="0" bIns="0" rtlCol="0" anchor="ctr"/>
          <a:lstStyle/>
          <a:p>
            <a:pPr algn="l" indent="0" marL="0">
              <a:lnSpc>
                <a:spcPct val="102000"/>
              </a:lnSpc>
              <a:buNone/>
            </a:pPr>
            <a:r>
              <a:rPr lang="en-US" sz="2700" b="1" dirty="0">
                <a:solidFill>
                  <a:srgbClr val="0F172A"/>
                </a:solidFill>
                <a:latin typeface="Poppins" pitchFamily="34" charset="0"/>
                <a:ea typeface="Poppins" pitchFamily="34" charset="-122"/>
                <a:cs typeface="Poppins" pitchFamily="34" charset="-120"/>
              </a:rPr>
              <a:t>A 23-department municipal ontology</a:t>
            </a:r>
            <a:endParaRPr lang="en-US" sz="2700" dirty="0"/>
          </a:p>
        </p:txBody>
      </p:sp>
      <p:sp>
        <p:nvSpPr>
          <p:cNvPr id="4" name="Text 2"/>
          <p:cNvSpPr/>
          <p:nvPr/>
        </p:nvSpPr>
        <p:spPr>
          <a:xfrm>
            <a:off x="548640" y="1600200"/>
            <a:ext cx="5029200" cy="914400"/>
          </a:xfrm>
          <a:prstGeom prst="rect">
            <a:avLst/>
          </a:prstGeom>
          <a:noFill/>
          <a:ln/>
        </p:spPr>
        <p:txBody>
          <a:bodyPr wrap="square" lIns="0" tIns="0" rIns="0" bIns="0" rtlCol="0" anchor="t"/>
          <a:lstStyle/>
          <a:p>
            <a:pPr algn="l" indent="0" marL="0">
              <a:lnSpc>
                <a:spcPct val="125000"/>
              </a:lnSpc>
              <a:buNone/>
            </a:pPr>
            <a:r>
              <a:rPr lang="en-US" sz="1200" dirty="0">
                <a:solidFill>
                  <a:srgbClr val="64748B"/>
                </a:solidFill>
                <a:latin typeface="Inter" pitchFamily="34" charset="0"/>
                <a:ea typeface="Inter" pitchFamily="34" charset="-122"/>
                <a:cs typeface="Inter" pitchFamily="34" charset="-120"/>
              </a:rPr>
              <a:t>Every complaint entity is normalized onto a shared Neo4j ontology of departments, assets, and jurisdictions — the graph that makes routing explainable.</a:t>
            </a:r>
            <a:endParaRPr lang="en-US" sz="1200" dirty="0"/>
          </a:p>
        </p:txBody>
      </p:sp>
      <p:sp>
        <p:nvSpPr>
          <p:cNvPr id="5" name="Text 3"/>
          <p:cNvSpPr/>
          <p:nvPr/>
        </p:nvSpPr>
        <p:spPr>
          <a:xfrm>
            <a:off x="548640" y="2743200"/>
            <a:ext cx="1371600" cy="548640"/>
          </a:xfrm>
          <a:prstGeom prst="rect">
            <a:avLst/>
          </a:prstGeom>
          <a:noFill/>
          <a:ln/>
        </p:spPr>
        <p:txBody>
          <a:bodyPr wrap="square" lIns="0" tIns="0" rIns="0" bIns="0" rtlCol="0" anchor="ctr"/>
          <a:lstStyle/>
          <a:p>
            <a:pPr indent="0" marL="0">
              <a:buNone/>
            </a:pPr>
            <a:r>
              <a:rPr lang="en-US" sz="3000" b="1" dirty="0">
                <a:solidFill>
                  <a:srgbClr val="10B981"/>
                </a:solidFill>
                <a:latin typeface="Space Grotesk" pitchFamily="34" charset="0"/>
                <a:ea typeface="Space Grotesk" pitchFamily="34" charset="-122"/>
                <a:cs typeface="Space Grotesk" pitchFamily="34" charset="-120"/>
              </a:rPr>
              <a:t>23</a:t>
            </a:r>
            <a:endParaRPr lang="en-US" sz="3000" dirty="0"/>
          </a:p>
        </p:txBody>
      </p:sp>
      <p:sp>
        <p:nvSpPr>
          <p:cNvPr id="6" name="Text 4"/>
          <p:cNvSpPr/>
          <p:nvPr/>
        </p:nvSpPr>
        <p:spPr>
          <a:xfrm>
            <a:off x="1965960" y="2834640"/>
            <a:ext cx="3200400" cy="457200"/>
          </a:xfrm>
          <a:prstGeom prst="rect">
            <a:avLst/>
          </a:prstGeom>
          <a:noFill/>
          <a:ln/>
        </p:spPr>
        <p:txBody>
          <a:bodyPr wrap="square" lIns="0" tIns="0" rIns="0" bIns="0" rtlCol="0" anchor="ctr"/>
          <a:lstStyle/>
          <a:p>
            <a:pPr indent="0" marL="0">
              <a:buNone/>
            </a:pPr>
            <a:r>
              <a:rPr lang="en-US" sz="1150" dirty="0">
                <a:solidFill>
                  <a:srgbClr val="64748B"/>
                </a:solidFill>
                <a:latin typeface="Inter" pitchFamily="34" charset="0"/>
                <a:ea typeface="Inter" pitchFamily="34" charset="-122"/>
                <a:cs typeface="Inter" pitchFamily="34" charset="-120"/>
              </a:rPr>
              <a:t>Departments modeled</a:t>
            </a:r>
            <a:endParaRPr lang="en-US" sz="1150" dirty="0"/>
          </a:p>
        </p:txBody>
      </p:sp>
      <p:sp>
        <p:nvSpPr>
          <p:cNvPr id="7" name="Text 5"/>
          <p:cNvSpPr/>
          <p:nvPr/>
        </p:nvSpPr>
        <p:spPr>
          <a:xfrm>
            <a:off x="548640" y="3611880"/>
            <a:ext cx="1371600" cy="548640"/>
          </a:xfrm>
          <a:prstGeom prst="rect">
            <a:avLst/>
          </a:prstGeom>
          <a:noFill/>
          <a:ln/>
        </p:spPr>
        <p:txBody>
          <a:bodyPr wrap="square" lIns="0" tIns="0" rIns="0" bIns="0" rtlCol="0" anchor="ctr"/>
          <a:lstStyle/>
          <a:p>
            <a:pPr indent="0" marL="0">
              <a:buNone/>
            </a:pPr>
            <a:r>
              <a:rPr lang="en-US" sz="3000" b="1" dirty="0">
                <a:solidFill>
                  <a:srgbClr val="10B981"/>
                </a:solidFill>
                <a:latin typeface="Space Grotesk" pitchFamily="34" charset="0"/>
                <a:ea typeface="Space Grotesk" pitchFamily="34" charset="-122"/>
                <a:cs typeface="Space Grotesk" pitchFamily="34" charset="-120"/>
              </a:rPr>
              <a:t>3</a:t>
            </a:r>
            <a:endParaRPr lang="en-US" sz="3000" dirty="0"/>
          </a:p>
        </p:txBody>
      </p:sp>
      <p:sp>
        <p:nvSpPr>
          <p:cNvPr id="8" name="Text 6"/>
          <p:cNvSpPr/>
          <p:nvPr/>
        </p:nvSpPr>
        <p:spPr>
          <a:xfrm>
            <a:off x="1965960" y="3703320"/>
            <a:ext cx="3200400" cy="457200"/>
          </a:xfrm>
          <a:prstGeom prst="rect">
            <a:avLst/>
          </a:prstGeom>
          <a:noFill/>
          <a:ln/>
        </p:spPr>
        <p:txBody>
          <a:bodyPr wrap="square" lIns="0" tIns="0" rIns="0" bIns="0" rtlCol="0" anchor="ctr"/>
          <a:lstStyle/>
          <a:p>
            <a:pPr indent="0" marL="0">
              <a:buNone/>
            </a:pPr>
            <a:r>
              <a:rPr lang="en-US" sz="1150" dirty="0">
                <a:solidFill>
                  <a:srgbClr val="64748B"/>
                </a:solidFill>
                <a:latin typeface="Inter" pitchFamily="34" charset="0"/>
                <a:ea typeface="Inter" pitchFamily="34" charset="-122"/>
                <a:cs typeface="Inter" pitchFamily="34" charset="-120"/>
              </a:rPr>
              <a:t>Relationship types</a:t>
            </a:r>
            <a:endParaRPr lang="en-US" sz="1150" dirty="0"/>
          </a:p>
        </p:txBody>
      </p:sp>
      <p:sp>
        <p:nvSpPr>
          <p:cNvPr id="9" name="Text 7"/>
          <p:cNvSpPr/>
          <p:nvPr/>
        </p:nvSpPr>
        <p:spPr>
          <a:xfrm>
            <a:off x="548640" y="4480560"/>
            <a:ext cx="1371600" cy="548640"/>
          </a:xfrm>
          <a:prstGeom prst="rect">
            <a:avLst/>
          </a:prstGeom>
          <a:noFill/>
          <a:ln/>
        </p:spPr>
        <p:txBody>
          <a:bodyPr wrap="square" lIns="0" tIns="0" rIns="0" bIns="0" rtlCol="0" anchor="ctr"/>
          <a:lstStyle/>
          <a:p>
            <a:pPr indent="0" marL="0">
              <a:buNone/>
            </a:pPr>
            <a:r>
              <a:rPr lang="en-US" sz="3000" b="1" dirty="0">
                <a:solidFill>
                  <a:srgbClr val="10B981"/>
                </a:solidFill>
                <a:latin typeface="Space Grotesk" pitchFamily="34" charset="0"/>
                <a:ea typeface="Space Grotesk" pitchFamily="34" charset="-122"/>
                <a:cs typeface="Space Grotesk" pitchFamily="34" charset="-120"/>
              </a:rPr>
              <a:t>100%</a:t>
            </a:r>
            <a:endParaRPr lang="en-US" sz="3000" dirty="0"/>
          </a:p>
        </p:txBody>
      </p:sp>
      <p:sp>
        <p:nvSpPr>
          <p:cNvPr id="10" name="Text 8"/>
          <p:cNvSpPr/>
          <p:nvPr/>
        </p:nvSpPr>
        <p:spPr>
          <a:xfrm>
            <a:off x="1965960" y="4572000"/>
            <a:ext cx="3200400" cy="457200"/>
          </a:xfrm>
          <a:prstGeom prst="rect">
            <a:avLst/>
          </a:prstGeom>
          <a:noFill/>
          <a:ln/>
        </p:spPr>
        <p:txBody>
          <a:bodyPr wrap="square" lIns="0" tIns="0" rIns="0" bIns="0" rtlCol="0" anchor="ctr"/>
          <a:lstStyle/>
          <a:p>
            <a:pPr indent="0" marL="0">
              <a:buNone/>
            </a:pPr>
            <a:r>
              <a:rPr lang="en-US" sz="1150" dirty="0">
                <a:solidFill>
                  <a:srgbClr val="64748B"/>
                </a:solidFill>
                <a:latin typeface="Inter" pitchFamily="34" charset="0"/>
                <a:ea typeface="Inter" pitchFamily="34" charset="-122"/>
                <a:cs typeface="Inter" pitchFamily="34" charset="-120"/>
              </a:rPr>
              <a:t>Explainable routes</a:t>
            </a:r>
            <a:endParaRPr lang="en-US" sz="1150" dirty="0"/>
          </a:p>
        </p:txBody>
      </p:sp>
      <p:sp>
        <p:nvSpPr>
          <p:cNvPr id="11" name="Shape 9"/>
          <p:cNvSpPr/>
          <p:nvPr/>
        </p:nvSpPr>
        <p:spPr>
          <a:xfrm flipV="1">
            <a:off x="8275320" y="1645920"/>
            <a:ext cx="9144" cy="2057400"/>
          </a:xfrm>
          <a:prstGeom prst="line">
            <a:avLst/>
          </a:prstGeom>
          <a:noFill/>
          <a:ln w="15875">
            <a:solidFill>
              <a:srgbClr val="CBD5E1"/>
            </a:solidFill>
            <a:prstDash val="solid"/>
          </a:ln>
        </p:spPr>
      </p:sp>
      <p:sp>
        <p:nvSpPr>
          <p:cNvPr id="12" name="Shape 10"/>
          <p:cNvSpPr/>
          <p:nvPr/>
        </p:nvSpPr>
        <p:spPr>
          <a:xfrm flipV="1">
            <a:off x="8275320" y="2127260"/>
            <a:ext cx="1322471" cy="1576060"/>
          </a:xfrm>
          <a:prstGeom prst="line">
            <a:avLst/>
          </a:prstGeom>
          <a:noFill/>
          <a:ln w="15875">
            <a:solidFill>
              <a:srgbClr val="CBD5E1"/>
            </a:solidFill>
            <a:prstDash val="solid"/>
          </a:ln>
        </p:spPr>
      </p:sp>
      <p:sp>
        <p:nvSpPr>
          <p:cNvPr id="13" name="Shape 11"/>
          <p:cNvSpPr/>
          <p:nvPr/>
        </p:nvSpPr>
        <p:spPr>
          <a:xfrm flipV="1">
            <a:off x="8275320" y="3346056"/>
            <a:ext cx="2026143" cy="357264"/>
          </a:xfrm>
          <a:prstGeom prst="line">
            <a:avLst/>
          </a:prstGeom>
          <a:noFill/>
          <a:ln w="15875">
            <a:solidFill>
              <a:srgbClr val="CBD5E1"/>
            </a:solidFill>
            <a:prstDash val="solid"/>
          </a:ln>
        </p:spPr>
      </p:sp>
      <p:sp>
        <p:nvSpPr>
          <p:cNvPr id="14" name="Shape 12"/>
          <p:cNvSpPr/>
          <p:nvPr/>
        </p:nvSpPr>
        <p:spPr>
          <a:xfrm>
            <a:off x="8275320" y="3703320"/>
            <a:ext cx="1781761" cy="1028700"/>
          </a:xfrm>
          <a:prstGeom prst="line">
            <a:avLst/>
          </a:prstGeom>
          <a:noFill/>
          <a:ln w="15875">
            <a:solidFill>
              <a:srgbClr val="CBD5E1"/>
            </a:solidFill>
            <a:prstDash val="solid"/>
          </a:ln>
        </p:spPr>
      </p:sp>
      <p:sp>
        <p:nvSpPr>
          <p:cNvPr id="15" name="Shape 13"/>
          <p:cNvSpPr/>
          <p:nvPr/>
        </p:nvSpPr>
        <p:spPr>
          <a:xfrm>
            <a:off x="8275320" y="3703320"/>
            <a:ext cx="703672" cy="1933324"/>
          </a:xfrm>
          <a:prstGeom prst="line">
            <a:avLst/>
          </a:prstGeom>
          <a:noFill/>
          <a:ln w="15875">
            <a:solidFill>
              <a:srgbClr val="CBD5E1"/>
            </a:solidFill>
            <a:prstDash val="solid"/>
          </a:ln>
        </p:spPr>
      </p:sp>
      <p:sp>
        <p:nvSpPr>
          <p:cNvPr id="16" name="Shape 14"/>
          <p:cNvSpPr/>
          <p:nvPr/>
        </p:nvSpPr>
        <p:spPr>
          <a:xfrm>
            <a:off x="7571648" y="3703320"/>
            <a:ext cx="703672" cy="1933324"/>
          </a:xfrm>
          <a:prstGeom prst="line">
            <a:avLst/>
          </a:prstGeom>
          <a:noFill/>
          <a:ln w="15875">
            <a:solidFill>
              <a:srgbClr val="CBD5E1"/>
            </a:solidFill>
            <a:prstDash val="solid"/>
          </a:ln>
        </p:spPr>
      </p:sp>
      <p:sp>
        <p:nvSpPr>
          <p:cNvPr id="17" name="Shape 15"/>
          <p:cNvSpPr/>
          <p:nvPr/>
        </p:nvSpPr>
        <p:spPr>
          <a:xfrm>
            <a:off x="6493559" y="3703320"/>
            <a:ext cx="1781761" cy="1028700"/>
          </a:xfrm>
          <a:prstGeom prst="line">
            <a:avLst/>
          </a:prstGeom>
          <a:noFill/>
          <a:ln w="15875">
            <a:solidFill>
              <a:srgbClr val="CBD5E1"/>
            </a:solidFill>
            <a:prstDash val="solid"/>
          </a:ln>
        </p:spPr>
      </p:sp>
      <p:sp>
        <p:nvSpPr>
          <p:cNvPr id="18" name="Shape 16"/>
          <p:cNvSpPr/>
          <p:nvPr/>
        </p:nvSpPr>
        <p:spPr>
          <a:xfrm flipV="1">
            <a:off x="6249177" y="3346056"/>
            <a:ext cx="2026143" cy="357264"/>
          </a:xfrm>
          <a:prstGeom prst="line">
            <a:avLst/>
          </a:prstGeom>
          <a:noFill/>
          <a:ln w="15875">
            <a:solidFill>
              <a:srgbClr val="CBD5E1"/>
            </a:solidFill>
            <a:prstDash val="solid"/>
          </a:ln>
        </p:spPr>
      </p:sp>
      <p:sp>
        <p:nvSpPr>
          <p:cNvPr id="19" name="Shape 17"/>
          <p:cNvSpPr/>
          <p:nvPr/>
        </p:nvSpPr>
        <p:spPr>
          <a:xfrm flipV="1">
            <a:off x="6952849" y="2127260"/>
            <a:ext cx="1322471" cy="1576060"/>
          </a:xfrm>
          <a:prstGeom prst="line">
            <a:avLst/>
          </a:prstGeom>
          <a:noFill/>
          <a:ln w="15875">
            <a:solidFill>
              <a:srgbClr val="CBD5E1"/>
            </a:solidFill>
            <a:prstDash val="solid"/>
          </a:ln>
        </p:spPr>
      </p:sp>
      <p:sp>
        <p:nvSpPr>
          <p:cNvPr id="20" name="Shape 18"/>
          <p:cNvSpPr/>
          <p:nvPr/>
        </p:nvSpPr>
        <p:spPr>
          <a:xfrm>
            <a:off x="7840980" y="3268980"/>
            <a:ext cx="868680" cy="868680"/>
          </a:xfrm>
          <a:prstGeom prst="ellipse">
            <a:avLst/>
          </a:prstGeom>
          <a:solidFill>
            <a:srgbClr val="0F172A"/>
          </a:solidFill>
          <a:ln/>
          <a:effectLst>
            <a:outerShdw sx="100000" sy="100000" kx="0" ky="0" algn="bl" rotWithShape="0" blurRad="101600" dist="38100" dir="5400000">
              <a:srgbClr val="0F172A">
                <a:alpha val="18000"/>
              </a:srgbClr>
            </a:outerShdw>
          </a:effectLst>
        </p:spPr>
      </p:sp>
      <p:pic>
        <p:nvPicPr>
          <p:cNvPr id="21" name="Image 0" descr="/home/claude/civic-deck/icons/sitemap.png">    </p:cNvPr>
          <p:cNvPicPr>
            <a:picLocks noChangeAspect="1"/>
          </p:cNvPicPr>
          <p:nvPr/>
        </p:nvPicPr>
        <p:blipFill>
          <a:blip r:embed="rId1"/>
          <a:stretch>
            <a:fillRect/>
          </a:stretch>
        </p:blipFill>
        <p:spPr>
          <a:xfrm>
            <a:off x="8075524" y="3503524"/>
            <a:ext cx="399593" cy="399593"/>
          </a:xfrm>
          <a:prstGeom prst="rect">
            <a:avLst/>
          </a:prstGeom>
        </p:spPr>
      </p:pic>
      <p:sp>
        <p:nvSpPr>
          <p:cNvPr id="22" name="Text 19"/>
          <p:cNvSpPr/>
          <p:nvPr/>
        </p:nvSpPr>
        <p:spPr>
          <a:xfrm>
            <a:off x="7498080" y="4270248"/>
            <a:ext cx="1554480" cy="457200"/>
          </a:xfrm>
          <a:prstGeom prst="rect">
            <a:avLst/>
          </a:prstGeom>
          <a:noFill/>
          <a:ln/>
        </p:spPr>
        <p:txBody>
          <a:bodyPr wrap="square" lIns="0" tIns="0" rIns="0" bIns="0" rtlCol="0" anchor="ctr"/>
          <a:lstStyle/>
          <a:p>
            <a:pPr algn="ctr" indent="0" marL="0">
              <a:lnSpc>
                <a:spcPct val="105000"/>
              </a:lnSpc>
              <a:buNone/>
            </a:pPr>
            <a:r>
              <a:rPr lang="en-US" sz="1000" b="1" dirty="0">
                <a:solidFill>
                  <a:srgbClr val="0F172A"/>
                </a:solidFill>
                <a:latin typeface="Poppins" pitchFamily="34" charset="0"/>
                <a:ea typeface="Poppins" pitchFamily="34" charset="-122"/>
                <a:cs typeface="Poppins" pitchFamily="34" charset="-120"/>
              </a:rPr>
              <a:t>Complaint</a:t>
            </a:r>
            <a:endParaRPr lang="en-US" sz="1000" dirty="0"/>
          </a:p>
          <a:p>
            <a:pPr algn="ctr" indent="0" marL="0">
              <a:lnSpc>
                <a:spcPct val="105000"/>
              </a:lnSpc>
              <a:buNone/>
            </a:pPr>
            <a:r>
              <a:rPr lang="en-US" sz="1000" b="1" dirty="0">
                <a:solidFill>
                  <a:srgbClr val="0F172A"/>
                </a:solidFill>
                <a:latin typeface="Poppins" pitchFamily="34" charset="0"/>
                <a:ea typeface="Poppins" pitchFamily="34" charset="-122"/>
                <a:cs typeface="Poppins" pitchFamily="34" charset="-120"/>
              </a:rPr>
              <a:t>Ontology</a:t>
            </a:r>
            <a:endParaRPr lang="en-US" sz="1000" dirty="0"/>
          </a:p>
        </p:txBody>
      </p:sp>
      <p:sp>
        <p:nvSpPr>
          <p:cNvPr id="23" name="Shape 20"/>
          <p:cNvSpPr/>
          <p:nvPr/>
        </p:nvSpPr>
        <p:spPr>
          <a:xfrm>
            <a:off x="7991856" y="1362456"/>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24" name="Image 1" descr="/home/claude/civic-deck/icons/hospital.png">    </p:cNvPr>
          <p:cNvPicPr>
            <a:picLocks noChangeAspect="1"/>
          </p:cNvPicPr>
          <p:nvPr/>
        </p:nvPicPr>
        <p:blipFill>
          <a:blip r:embed="rId2"/>
          <a:stretch>
            <a:fillRect/>
          </a:stretch>
        </p:blipFill>
        <p:spPr>
          <a:xfrm>
            <a:off x="8133588" y="1504188"/>
            <a:ext cx="283464" cy="283464"/>
          </a:xfrm>
          <a:prstGeom prst="rect">
            <a:avLst/>
          </a:prstGeom>
        </p:spPr>
      </p:pic>
      <p:sp>
        <p:nvSpPr>
          <p:cNvPr id="25" name="Text 21"/>
          <p:cNvSpPr/>
          <p:nvPr/>
        </p:nvSpPr>
        <p:spPr>
          <a:xfrm>
            <a:off x="7589520" y="1975104"/>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Public Health</a:t>
            </a:r>
            <a:endParaRPr lang="en-US" sz="870" dirty="0"/>
          </a:p>
        </p:txBody>
      </p:sp>
      <p:sp>
        <p:nvSpPr>
          <p:cNvPr id="26" name="Shape 22"/>
          <p:cNvSpPr/>
          <p:nvPr/>
        </p:nvSpPr>
        <p:spPr>
          <a:xfrm>
            <a:off x="9314327" y="1843796"/>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27" name="Image 2" descr="/home/claude/civic-deck/icons/bolt2.png">    </p:cNvPr>
          <p:cNvPicPr>
            <a:picLocks noChangeAspect="1"/>
          </p:cNvPicPr>
          <p:nvPr/>
        </p:nvPicPr>
        <p:blipFill>
          <a:blip r:embed="rId3"/>
          <a:stretch>
            <a:fillRect/>
          </a:stretch>
        </p:blipFill>
        <p:spPr>
          <a:xfrm>
            <a:off x="9456059" y="1985528"/>
            <a:ext cx="283464" cy="283464"/>
          </a:xfrm>
          <a:prstGeom prst="rect">
            <a:avLst/>
          </a:prstGeom>
        </p:spPr>
      </p:pic>
      <p:sp>
        <p:nvSpPr>
          <p:cNvPr id="28" name="Text 23"/>
          <p:cNvSpPr/>
          <p:nvPr/>
        </p:nvSpPr>
        <p:spPr>
          <a:xfrm>
            <a:off x="8911991" y="2456444"/>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Electricity</a:t>
            </a:r>
            <a:endParaRPr lang="en-US" sz="870" dirty="0"/>
          </a:p>
        </p:txBody>
      </p:sp>
      <p:sp>
        <p:nvSpPr>
          <p:cNvPr id="29" name="Shape 24"/>
          <p:cNvSpPr/>
          <p:nvPr/>
        </p:nvSpPr>
        <p:spPr>
          <a:xfrm>
            <a:off x="10017999" y="3062592"/>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30" name="Image 3" descr="/home/claude/civic-deck/icons/road.png">    </p:cNvPr>
          <p:cNvPicPr>
            <a:picLocks noChangeAspect="1"/>
          </p:cNvPicPr>
          <p:nvPr/>
        </p:nvPicPr>
        <p:blipFill>
          <a:blip r:embed="rId4"/>
          <a:stretch>
            <a:fillRect/>
          </a:stretch>
        </p:blipFill>
        <p:spPr>
          <a:xfrm>
            <a:off x="10159731" y="3204324"/>
            <a:ext cx="283464" cy="283464"/>
          </a:xfrm>
          <a:prstGeom prst="rect">
            <a:avLst/>
          </a:prstGeom>
        </p:spPr>
      </p:pic>
      <p:sp>
        <p:nvSpPr>
          <p:cNvPr id="31" name="Text 25"/>
          <p:cNvSpPr/>
          <p:nvPr/>
        </p:nvSpPr>
        <p:spPr>
          <a:xfrm>
            <a:off x="9615663" y="3675240"/>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Transport</a:t>
            </a:r>
            <a:endParaRPr lang="en-US" sz="870" dirty="0"/>
          </a:p>
        </p:txBody>
      </p:sp>
      <p:sp>
        <p:nvSpPr>
          <p:cNvPr id="32" name="Shape 26"/>
          <p:cNvSpPr/>
          <p:nvPr/>
        </p:nvSpPr>
        <p:spPr>
          <a:xfrm>
            <a:off x="9773617" y="4448556"/>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33" name="Image 4" descr="/home/claude/civic-deck/icons/tree.png">    </p:cNvPr>
          <p:cNvPicPr>
            <a:picLocks noChangeAspect="1"/>
          </p:cNvPicPr>
          <p:nvPr/>
        </p:nvPicPr>
        <p:blipFill>
          <a:blip r:embed="rId5"/>
          <a:stretch>
            <a:fillRect/>
          </a:stretch>
        </p:blipFill>
        <p:spPr>
          <a:xfrm>
            <a:off x="9915349" y="4590288"/>
            <a:ext cx="283464" cy="283464"/>
          </a:xfrm>
          <a:prstGeom prst="rect">
            <a:avLst/>
          </a:prstGeom>
        </p:spPr>
      </p:pic>
      <p:sp>
        <p:nvSpPr>
          <p:cNvPr id="34" name="Text 27"/>
          <p:cNvSpPr/>
          <p:nvPr/>
        </p:nvSpPr>
        <p:spPr>
          <a:xfrm>
            <a:off x="9371281" y="5061204"/>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Horticulture</a:t>
            </a:r>
            <a:endParaRPr lang="en-US" sz="870" dirty="0"/>
          </a:p>
        </p:txBody>
      </p:sp>
      <p:sp>
        <p:nvSpPr>
          <p:cNvPr id="35" name="Shape 28"/>
          <p:cNvSpPr/>
          <p:nvPr/>
        </p:nvSpPr>
        <p:spPr>
          <a:xfrm>
            <a:off x="8695528" y="5353180"/>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36" name="Image 5" descr="/home/claude/civic-deck/icons/shieldHalved.png">    </p:cNvPr>
          <p:cNvPicPr>
            <a:picLocks noChangeAspect="1"/>
          </p:cNvPicPr>
          <p:nvPr/>
        </p:nvPicPr>
        <p:blipFill>
          <a:blip r:embed="rId6"/>
          <a:stretch>
            <a:fillRect/>
          </a:stretch>
        </p:blipFill>
        <p:spPr>
          <a:xfrm>
            <a:off x="8837260" y="5494912"/>
            <a:ext cx="283464" cy="283464"/>
          </a:xfrm>
          <a:prstGeom prst="rect">
            <a:avLst/>
          </a:prstGeom>
        </p:spPr>
      </p:pic>
      <p:sp>
        <p:nvSpPr>
          <p:cNvPr id="37" name="Text 29"/>
          <p:cNvSpPr/>
          <p:nvPr/>
        </p:nvSpPr>
        <p:spPr>
          <a:xfrm>
            <a:off x="8293192" y="5965828"/>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Police</a:t>
            </a:r>
            <a:endParaRPr lang="en-US" sz="870" dirty="0"/>
          </a:p>
        </p:txBody>
      </p:sp>
      <p:sp>
        <p:nvSpPr>
          <p:cNvPr id="38" name="Shape 30"/>
          <p:cNvSpPr/>
          <p:nvPr/>
        </p:nvSpPr>
        <p:spPr>
          <a:xfrm>
            <a:off x="7288184" y="5353180"/>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39" name="Image 6" descr="/home/claude/civic-deck/icons/bus.png">    </p:cNvPr>
          <p:cNvPicPr>
            <a:picLocks noChangeAspect="1"/>
          </p:cNvPicPr>
          <p:nvPr/>
        </p:nvPicPr>
        <p:blipFill>
          <a:blip r:embed="rId7"/>
          <a:stretch>
            <a:fillRect/>
          </a:stretch>
        </p:blipFill>
        <p:spPr>
          <a:xfrm>
            <a:off x="7429916" y="5494912"/>
            <a:ext cx="283464" cy="283464"/>
          </a:xfrm>
          <a:prstGeom prst="rect">
            <a:avLst/>
          </a:prstGeom>
        </p:spPr>
      </p:pic>
      <p:sp>
        <p:nvSpPr>
          <p:cNvPr id="40" name="Text 31"/>
          <p:cNvSpPr/>
          <p:nvPr/>
        </p:nvSpPr>
        <p:spPr>
          <a:xfrm>
            <a:off x="6885848" y="5965828"/>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Municipal Corp.</a:t>
            </a:r>
            <a:endParaRPr lang="en-US" sz="870" dirty="0"/>
          </a:p>
        </p:txBody>
      </p:sp>
      <p:sp>
        <p:nvSpPr>
          <p:cNvPr id="41" name="Shape 32"/>
          <p:cNvSpPr/>
          <p:nvPr/>
        </p:nvSpPr>
        <p:spPr>
          <a:xfrm>
            <a:off x="6210095" y="4448556"/>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42" name="Image 7" descr="/home/claude/civic-deck/icons/leaf.png">    </p:cNvPr>
          <p:cNvPicPr>
            <a:picLocks noChangeAspect="1"/>
          </p:cNvPicPr>
          <p:nvPr/>
        </p:nvPicPr>
        <p:blipFill>
          <a:blip r:embed="rId8"/>
          <a:stretch>
            <a:fillRect/>
          </a:stretch>
        </p:blipFill>
        <p:spPr>
          <a:xfrm>
            <a:off x="6351827" y="4590288"/>
            <a:ext cx="283464" cy="283464"/>
          </a:xfrm>
          <a:prstGeom prst="rect">
            <a:avLst/>
          </a:prstGeom>
        </p:spPr>
      </p:pic>
      <p:sp>
        <p:nvSpPr>
          <p:cNvPr id="43" name="Text 33"/>
          <p:cNvSpPr/>
          <p:nvPr/>
        </p:nvSpPr>
        <p:spPr>
          <a:xfrm>
            <a:off x="5807759" y="5061204"/>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Environment</a:t>
            </a:r>
            <a:endParaRPr lang="en-US" sz="870" dirty="0"/>
          </a:p>
        </p:txBody>
      </p:sp>
      <p:sp>
        <p:nvSpPr>
          <p:cNvPr id="44" name="Shape 34"/>
          <p:cNvSpPr/>
          <p:nvPr/>
        </p:nvSpPr>
        <p:spPr>
          <a:xfrm>
            <a:off x="5965713" y="3062592"/>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45" name="Image 8" descr="/home/claude/civic-deck/icons/landmark.png">    </p:cNvPr>
          <p:cNvPicPr>
            <a:picLocks noChangeAspect="1"/>
          </p:cNvPicPr>
          <p:nvPr/>
        </p:nvPicPr>
        <p:blipFill>
          <a:blip r:embed="rId9"/>
          <a:stretch>
            <a:fillRect/>
          </a:stretch>
        </p:blipFill>
        <p:spPr>
          <a:xfrm>
            <a:off x="6107445" y="3204324"/>
            <a:ext cx="283464" cy="283464"/>
          </a:xfrm>
          <a:prstGeom prst="rect">
            <a:avLst/>
          </a:prstGeom>
        </p:spPr>
      </p:pic>
      <p:sp>
        <p:nvSpPr>
          <p:cNvPr id="46" name="Text 35"/>
          <p:cNvSpPr/>
          <p:nvPr/>
        </p:nvSpPr>
        <p:spPr>
          <a:xfrm>
            <a:off x="5563377" y="3675240"/>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Estate Office</a:t>
            </a:r>
            <a:endParaRPr lang="en-US" sz="870" dirty="0"/>
          </a:p>
        </p:txBody>
      </p:sp>
      <p:sp>
        <p:nvSpPr>
          <p:cNvPr id="47" name="Shape 36"/>
          <p:cNvSpPr/>
          <p:nvPr/>
        </p:nvSpPr>
        <p:spPr>
          <a:xfrm>
            <a:off x="6669385" y="1843796"/>
            <a:ext cx="566928" cy="566928"/>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48" name="Image 9" descr="/home/claude/civic-deck/icons/mapLocation.png">    </p:cNvPr>
          <p:cNvPicPr>
            <a:picLocks noChangeAspect="1"/>
          </p:cNvPicPr>
          <p:nvPr/>
        </p:nvPicPr>
        <p:blipFill>
          <a:blip r:embed="rId10"/>
          <a:stretch>
            <a:fillRect/>
          </a:stretch>
        </p:blipFill>
        <p:spPr>
          <a:xfrm>
            <a:off x="6811117" y="1985528"/>
            <a:ext cx="283464" cy="283464"/>
          </a:xfrm>
          <a:prstGeom prst="rect">
            <a:avLst/>
          </a:prstGeom>
        </p:spPr>
      </p:pic>
      <p:sp>
        <p:nvSpPr>
          <p:cNvPr id="49" name="Text 37"/>
          <p:cNvSpPr/>
          <p:nvPr/>
        </p:nvSpPr>
        <p:spPr>
          <a:xfrm>
            <a:off x="6267049" y="2456444"/>
            <a:ext cx="1371600" cy="365760"/>
          </a:xfrm>
          <a:prstGeom prst="rect">
            <a:avLst/>
          </a:prstGeom>
          <a:noFill/>
          <a:ln/>
        </p:spPr>
        <p:txBody>
          <a:bodyPr wrap="square" lIns="0" tIns="0" rIns="0" bIns="0" rtlCol="0" anchor="ctr"/>
          <a:lstStyle/>
          <a:p>
            <a:pPr algn="ctr" indent="0" marL="0">
              <a:lnSpc>
                <a:spcPct val="100000"/>
              </a:lnSpc>
              <a:buNone/>
            </a:pPr>
            <a:r>
              <a:rPr lang="en-US" sz="870" b="1" dirty="0">
                <a:solidFill>
                  <a:srgbClr val="0F172A"/>
                </a:solidFill>
                <a:latin typeface="Inter" pitchFamily="34" charset="0"/>
                <a:ea typeface="Inter" pitchFamily="34" charset="-122"/>
                <a:cs typeface="Inter" pitchFamily="34" charset="-120"/>
              </a:rPr>
              <a:t>Tourism</a:t>
            </a:r>
            <a:endParaRPr lang="en-US" sz="870" dirty="0"/>
          </a:p>
        </p:txBody>
      </p:sp>
      <p:sp>
        <p:nvSpPr>
          <p:cNvPr id="50" name="Text 38"/>
          <p:cNvSpPr/>
          <p:nvPr/>
        </p:nvSpPr>
        <p:spPr>
          <a:xfrm>
            <a:off x="6263640" y="6263640"/>
            <a:ext cx="4023360" cy="274320"/>
          </a:xfrm>
          <a:prstGeom prst="rect">
            <a:avLst/>
          </a:prstGeom>
          <a:noFill/>
          <a:ln/>
        </p:spPr>
        <p:txBody>
          <a:bodyPr wrap="square" lIns="0" tIns="0" rIns="0" bIns="0" rtlCol="0" anchor="ctr"/>
          <a:lstStyle/>
          <a:p>
            <a:pPr algn="ctr" indent="0" marL="0">
              <a:buNone/>
            </a:pPr>
            <a:r>
              <a:rPr lang="en-US" sz="950" i="1" dirty="0">
                <a:solidFill>
                  <a:srgbClr val="64748B"/>
                </a:solidFill>
                <a:latin typeface="Inter" pitchFamily="34" charset="0"/>
                <a:ea typeface="Inter" pitchFamily="34" charset="-122"/>
                <a:cs typeface="Inter" pitchFamily="34" charset="-120"/>
              </a:rPr>
              <a:t>+ 14 more departments including Engineering &amp; Public Works</a:t>
            </a:r>
            <a:endParaRPr lang="en-US" sz="950" dirty="0"/>
          </a:p>
        </p:txBody>
      </p:sp>
      <p:sp>
        <p:nvSpPr>
          <p:cNvPr id="51" name="Text 39"/>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52" name="Text 40"/>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Ontology</a:t>
            </a:r>
            <a:endParaRPr lang="en-US" sz="900" dirty="0"/>
          </a:p>
        </p:txBody>
      </p:sp>
      <p:sp>
        <p:nvSpPr>
          <p:cNvPr id="53" name="Text 41"/>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DESIGN DECISION</a:t>
            </a:r>
            <a:endParaRPr lang="en-US" sz="1200" dirty="0"/>
          </a:p>
        </p:txBody>
      </p:sp>
      <p:sp>
        <p:nvSpPr>
          <p:cNvPr id="3" name="Text 1"/>
          <p:cNvSpPr/>
          <p:nvPr/>
        </p:nvSpPr>
        <p:spPr>
          <a:xfrm>
            <a:off x="548640" y="777240"/>
            <a:ext cx="8229600" cy="822960"/>
          </a:xfrm>
          <a:prstGeom prst="rect">
            <a:avLst/>
          </a:prstGeom>
          <a:noFill/>
          <a:ln/>
        </p:spPr>
        <p:txBody>
          <a:bodyPr wrap="square" lIns="0" tIns="0" rIns="0" bIns="0" rtlCol="0" anchor="ctr"/>
          <a:lstStyle/>
          <a:p>
            <a:pPr algn="l" indent="0" marL="0">
              <a:lnSpc>
                <a:spcPct val="102000"/>
              </a:lnSpc>
              <a:buNone/>
            </a:pPr>
            <a:r>
              <a:rPr lang="en-US" sz="2800" b="1" dirty="0">
                <a:solidFill>
                  <a:srgbClr val="0F172A"/>
                </a:solidFill>
                <a:latin typeface="Poppins" pitchFamily="34" charset="0"/>
                <a:ea typeface="Poppins" pitchFamily="34" charset="-122"/>
                <a:cs typeface="Poppins" pitchFamily="34" charset="-120"/>
              </a:rPr>
              <a:t>Why GraphRAG, not traditional RAG</a:t>
            </a:r>
            <a:endParaRPr lang="en-US" sz="2800" dirty="0"/>
          </a:p>
        </p:txBody>
      </p:sp>
      <p:sp>
        <p:nvSpPr>
          <p:cNvPr id="4" name="Text 2"/>
          <p:cNvSpPr/>
          <p:nvPr/>
        </p:nvSpPr>
        <p:spPr>
          <a:xfrm>
            <a:off x="548640" y="1371600"/>
            <a:ext cx="9601200" cy="365760"/>
          </a:xfrm>
          <a:prstGeom prst="rect">
            <a:avLst/>
          </a:prstGeom>
          <a:noFill/>
          <a:ln/>
        </p:spPr>
        <p:txBody>
          <a:bodyPr wrap="square" lIns="0" tIns="0" rIns="0" bIns="0" rtlCol="0" anchor="t"/>
          <a:lstStyle/>
          <a:p>
            <a:pPr algn="l" indent="0" marL="0">
              <a:lnSpc>
                <a:spcPct val="125000"/>
              </a:lnSpc>
              <a:buNone/>
            </a:pPr>
            <a:r>
              <a:rPr lang="en-US" sz="1250" dirty="0">
                <a:solidFill>
                  <a:srgbClr val="64748B"/>
                </a:solidFill>
                <a:latin typeface="Inter" pitchFamily="34" charset="0"/>
                <a:ea typeface="Inter" pitchFamily="34" charset="-122"/>
                <a:cs typeface="Inter" pitchFamily="34" charset="-120"/>
              </a:rPr>
              <a:t>The core engineering trade-off of this project: flat vector retrieval alone cannot infer department ownership.</a:t>
            </a:r>
            <a:endParaRPr lang="en-US" sz="1250" dirty="0"/>
          </a:p>
        </p:txBody>
      </p:sp>
      <p:sp>
        <p:nvSpPr>
          <p:cNvPr id="5" name="Shape 3"/>
          <p:cNvSpPr/>
          <p:nvPr/>
        </p:nvSpPr>
        <p:spPr>
          <a:xfrm>
            <a:off x="548640" y="1463040"/>
            <a:ext cx="11091672" cy="457200"/>
          </a:xfrm>
          <a:prstGeom prst="roundRect">
            <a:avLst>
              <a:gd name="adj" fmla="val 12000"/>
            </a:avLst>
          </a:prstGeom>
          <a:solidFill>
            <a:srgbClr val="F8FAFC"/>
          </a:solidFill>
          <a:ln/>
        </p:spPr>
      </p:sp>
      <p:sp>
        <p:nvSpPr>
          <p:cNvPr id="6" name="Text 4"/>
          <p:cNvSpPr/>
          <p:nvPr/>
        </p:nvSpPr>
        <p:spPr>
          <a:xfrm>
            <a:off x="548640" y="1463040"/>
            <a:ext cx="2834640" cy="457200"/>
          </a:xfrm>
          <a:prstGeom prst="rect">
            <a:avLst/>
          </a:prstGeom>
          <a:noFill/>
          <a:ln/>
        </p:spPr>
        <p:txBody>
          <a:bodyPr wrap="square" rtlCol="0" anchor="ctr"/>
          <a:lstStyle/>
          <a:p>
            <a:pPr indent="0" marL="0">
              <a:buNone/>
            </a:pPr>
            <a:endParaRPr lang="en-US" dirty="0"/>
          </a:p>
        </p:txBody>
      </p:sp>
      <p:sp>
        <p:nvSpPr>
          <p:cNvPr id="7" name="Text 5"/>
          <p:cNvSpPr/>
          <p:nvPr/>
        </p:nvSpPr>
        <p:spPr>
          <a:xfrm>
            <a:off x="3383280" y="1463040"/>
            <a:ext cx="4023360" cy="457200"/>
          </a:xfrm>
          <a:prstGeom prst="rect">
            <a:avLst/>
          </a:prstGeom>
          <a:noFill/>
          <a:ln/>
        </p:spPr>
        <p:txBody>
          <a:bodyPr wrap="square" lIns="0" tIns="0" rIns="0" bIns="0" rtlCol="0" anchor="ctr"/>
          <a:lstStyle/>
          <a:p>
            <a:pPr algn="ctr" indent="0" marL="0">
              <a:buNone/>
            </a:pPr>
            <a:r>
              <a:rPr lang="en-US" sz="1300" b="1" dirty="0">
                <a:solidFill>
                  <a:srgbClr val="64748B"/>
                </a:solidFill>
                <a:latin typeface="Poppins" pitchFamily="34" charset="0"/>
                <a:ea typeface="Poppins" pitchFamily="34" charset="-122"/>
                <a:cs typeface="Poppins" pitchFamily="34" charset="-120"/>
              </a:rPr>
              <a:t>Traditional RAG</a:t>
            </a:r>
            <a:endParaRPr lang="en-US" sz="1300" dirty="0"/>
          </a:p>
        </p:txBody>
      </p:sp>
      <p:sp>
        <p:nvSpPr>
          <p:cNvPr id="8" name="Text 6"/>
          <p:cNvSpPr/>
          <p:nvPr/>
        </p:nvSpPr>
        <p:spPr>
          <a:xfrm>
            <a:off x="7406640" y="1463040"/>
            <a:ext cx="4023360" cy="457200"/>
          </a:xfrm>
          <a:prstGeom prst="rect">
            <a:avLst/>
          </a:prstGeom>
          <a:noFill/>
          <a:ln/>
        </p:spPr>
        <p:txBody>
          <a:bodyPr wrap="square" lIns="0" tIns="0" rIns="0" bIns="0" rtlCol="0" anchor="ctr"/>
          <a:lstStyle/>
          <a:p>
            <a:pPr algn="ctr" indent="0" marL="0">
              <a:buNone/>
            </a:pPr>
            <a:r>
              <a:rPr lang="en-US" sz="1300" b="1" dirty="0">
                <a:solidFill>
                  <a:srgbClr val="10B981"/>
                </a:solidFill>
                <a:latin typeface="Poppins" pitchFamily="34" charset="0"/>
                <a:ea typeface="Poppins" pitchFamily="34" charset="-122"/>
                <a:cs typeface="Poppins" pitchFamily="34" charset="-120"/>
              </a:rPr>
              <a:t>GraphRAG (this project)</a:t>
            </a:r>
            <a:endParaRPr lang="en-US" sz="1300" dirty="0"/>
          </a:p>
        </p:txBody>
      </p:sp>
      <p:sp>
        <p:nvSpPr>
          <p:cNvPr id="9" name="Shape 7"/>
          <p:cNvSpPr/>
          <p:nvPr/>
        </p:nvSpPr>
        <p:spPr>
          <a:xfrm>
            <a:off x="548640" y="1965960"/>
            <a:ext cx="11091672" cy="566928"/>
          </a:xfrm>
          <a:prstGeom prst="rect">
            <a:avLst/>
          </a:prstGeom>
          <a:solidFill>
            <a:srgbClr val="F8FAFC"/>
          </a:solidFill>
          <a:ln/>
        </p:spPr>
      </p:sp>
      <p:sp>
        <p:nvSpPr>
          <p:cNvPr id="10" name="Text 8"/>
          <p:cNvSpPr/>
          <p:nvPr/>
        </p:nvSpPr>
        <p:spPr>
          <a:xfrm>
            <a:off x="777240" y="1965960"/>
            <a:ext cx="2606040" cy="566928"/>
          </a:xfrm>
          <a:prstGeom prst="rect">
            <a:avLst/>
          </a:prstGeom>
          <a:noFill/>
          <a:ln/>
        </p:spPr>
        <p:txBody>
          <a:bodyPr wrap="square" lIns="0" tIns="0" rIns="0" bIns="0" rtlCol="0" anchor="ctr"/>
          <a:lstStyle/>
          <a:p>
            <a:pPr indent="0" marL="0">
              <a:buNone/>
            </a:pPr>
            <a:r>
              <a:rPr lang="en-US" sz="1150" b="1" dirty="0">
                <a:solidFill>
                  <a:srgbClr val="0F172A"/>
                </a:solidFill>
                <a:latin typeface="Inter" pitchFamily="34" charset="0"/>
                <a:ea typeface="Inter" pitchFamily="34" charset="-122"/>
                <a:cs typeface="Inter" pitchFamily="34" charset="-120"/>
              </a:rPr>
              <a:t>Retrieval basis</a:t>
            </a:r>
            <a:endParaRPr lang="en-US" sz="1150" dirty="0"/>
          </a:p>
        </p:txBody>
      </p:sp>
      <p:pic>
        <p:nvPicPr>
          <p:cNvPr id="11" name="Image 0" descr="/home/claude/civic-deck/icons/xmark.png">    </p:cNvPr>
          <p:cNvPicPr>
            <a:picLocks noChangeAspect="1"/>
          </p:cNvPicPr>
          <p:nvPr/>
        </p:nvPicPr>
        <p:blipFill>
          <a:blip r:embed="rId1"/>
          <a:stretch>
            <a:fillRect/>
          </a:stretch>
        </p:blipFill>
        <p:spPr>
          <a:xfrm>
            <a:off x="3611880" y="2121408"/>
            <a:ext cx="256032" cy="256032"/>
          </a:xfrm>
          <a:prstGeom prst="rect">
            <a:avLst/>
          </a:prstGeom>
        </p:spPr>
      </p:pic>
      <p:sp>
        <p:nvSpPr>
          <p:cNvPr id="12" name="Text 9"/>
          <p:cNvSpPr/>
          <p:nvPr/>
        </p:nvSpPr>
        <p:spPr>
          <a:xfrm>
            <a:off x="3977640" y="1965960"/>
            <a:ext cx="3291840" cy="566928"/>
          </a:xfrm>
          <a:prstGeom prst="rect">
            <a:avLst/>
          </a:prstGeom>
          <a:noFill/>
          <a:ln/>
        </p:spPr>
        <p:txBody>
          <a:bodyPr wrap="square" lIns="0" tIns="0" rIns="0" bIns="0" rtlCol="0" anchor="ctr"/>
          <a:lstStyle/>
          <a:p>
            <a:pPr indent="0" marL="0">
              <a:buNone/>
            </a:pPr>
            <a:r>
              <a:rPr lang="en-US" sz="1050" dirty="0">
                <a:solidFill>
                  <a:srgbClr val="64748B"/>
                </a:solidFill>
                <a:latin typeface="Inter" pitchFamily="34" charset="0"/>
                <a:ea typeface="Inter" pitchFamily="34" charset="-122"/>
                <a:cs typeface="Inter" pitchFamily="34" charset="-120"/>
              </a:rPr>
              <a:t>Keyword-based similarity</a:t>
            </a:r>
            <a:endParaRPr lang="en-US" sz="1050" dirty="0"/>
          </a:p>
        </p:txBody>
      </p:sp>
      <p:sp>
        <p:nvSpPr>
          <p:cNvPr id="13" name="Shape 10"/>
          <p:cNvSpPr/>
          <p:nvPr/>
        </p:nvSpPr>
        <p:spPr>
          <a:xfrm>
            <a:off x="7406640" y="1965960"/>
            <a:ext cx="4023360" cy="566928"/>
          </a:xfrm>
          <a:prstGeom prst="rect">
            <a:avLst/>
          </a:prstGeom>
          <a:solidFill>
            <a:srgbClr val="ECFDF5"/>
          </a:solidFill>
          <a:ln/>
        </p:spPr>
      </p:sp>
      <p:pic>
        <p:nvPicPr>
          <p:cNvPr id="14" name="Image 1" descr="/home/claude/civic-deck/icons/check.png">    </p:cNvPr>
          <p:cNvPicPr>
            <a:picLocks noChangeAspect="1"/>
          </p:cNvPicPr>
          <p:nvPr/>
        </p:nvPicPr>
        <p:blipFill>
          <a:blip r:embed="rId2"/>
          <a:stretch>
            <a:fillRect/>
          </a:stretch>
        </p:blipFill>
        <p:spPr>
          <a:xfrm>
            <a:off x="7635240" y="2121408"/>
            <a:ext cx="256032" cy="256032"/>
          </a:xfrm>
          <a:prstGeom prst="rect">
            <a:avLst/>
          </a:prstGeom>
        </p:spPr>
      </p:pic>
      <p:sp>
        <p:nvSpPr>
          <p:cNvPr id="15" name="Text 11"/>
          <p:cNvSpPr/>
          <p:nvPr/>
        </p:nvSpPr>
        <p:spPr>
          <a:xfrm>
            <a:off x="8001000" y="1965960"/>
            <a:ext cx="3291840" cy="566928"/>
          </a:xfrm>
          <a:prstGeom prst="rect">
            <a:avLst/>
          </a:prstGeom>
          <a:noFill/>
          <a:ln/>
        </p:spPr>
        <p:txBody>
          <a:bodyPr wrap="square" lIns="0" tIns="0" rIns="0" bIns="0" rtlCol="0" anchor="ctr"/>
          <a:lstStyle/>
          <a:p>
            <a:pPr indent="0" marL="0">
              <a:buNone/>
            </a:pPr>
            <a:r>
              <a:rPr lang="en-US" sz="1050" b="1" dirty="0">
                <a:solidFill>
                  <a:srgbClr val="065F46"/>
                </a:solidFill>
                <a:latin typeface="Inter" pitchFamily="34" charset="0"/>
                <a:ea typeface="Inter" pitchFamily="34" charset="-122"/>
                <a:cs typeface="Inter" pitchFamily="34" charset="-120"/>
              </a:rPr>
              <a:t>Knowledge-graph reasoning</a:t>
            </a:r>
            <a:endParaRPr lang="en-US" sz="1050" dirty="0"/>
          </a:p>
        </p:txBody>
      </p:sp>
      <p:sp>
        <p:nvSpPr>
          <p:cNvPr id="16" name="Text 12"/>
          <p:cNvSpPr/>
          <p:nvPr/>
        </p:nvSpPr>
        <p:spPr>
          <a:xfrm>
            <a:off x="777240" y="2532888"/>
            <a:ext cx="2606040" cy="566928"/>
          </a:xfrm>
          <a:prstGeom prst="rect">
            <a:avLst/>
          </a:prstGeom>
          <a:noFill/>
          <a:ln/>
        </p:spPr>
        <p:txBody>
          <a:bodyPr wrap="square" lIns="0" tIns="0" rIns="0" bIns="0" rtlCol="0" anchor="ctr"/>
          <a:lstStyle/>
          <a:p>
            <a:pPr indent="0" marL="0">
              <a:buNone/>
            </a:pPr>
            <a:r>
              <a:rPr lang="en-US" sz="1150" b="1" dirty="0">
                <a:solidFill>
                  <a:srgbClr val="0F172A"/>
                </a:solidFill>
                <a:latin typeface="Inter" pitchFamily="34" charset="0"/>
                <a:ea typeface="Inter" pitchFamily="34" charset="-122"/>
                <a:cs typeface="Inter" pitchFamily="34" charset="-120"/>
              </a:rPr>
              <a:t>Relationships</a:t>
            </a:r>
            <a:endParaRPr lang="en-US" sz="1150" dirty="0"/>
          </a:p>
        </p:txBody>
      </p:sp>
      <p:pic>
        <p:nvPicPr>
          <p:cNvPr id="17" name="Image 2" descr="/home/claude/civic-deck/icons/xmark.png">    </p:cNvPr>
          <p:cNvPicPr>
            <a:picLocks noChangeAspect="1"/>
          </p:cNvPicPr>
          <p:nvPr/>
        </p:nvPicPr>
        <p:blipFill>
          <a:blip r:embed="rId3"/>
          <a:stretch>
            <a:fillRect/>
          </a:stretch>
        </p:blipFill>
        <p:spPr>
          <a:xfrm>
            <a:off x="3611880" y="2688336"/>
            <a:ext cx="256032" cy="256032"/>
          </a:xfrm>
          <a:prstGeom prst="rect">
            <a:avLst/>
          </a:prstGeom>
        </p:spPr>
      </p:pic>
      <p:sp>
        <p:nvSpPr>
          <p:cNvPr id="18" name="Text 13"/>
          <p:cNvSpPr/>
          <p:nvPr/>
        </p:nvSpPr>
        <p:spPr>
          <a:xfrm>
            <a:off x="3977640" y="2532888"/>
            <a:ext cx="3291840" cy="566928"/>
          </a:xfrm>
          <a:prstGeom prst="rect">
            <a:avLst/>
          </a:prstGeom>
          <a:noFill/>
          <a:ln/>
        </p:spPr>
        <p:txBody>
          <a:bodyPr wrap="square" lIns="0" tIns="0" rIns="0" bIns="0" rtlCol="0" anchor="ctr"/>
          <a:lstStyle/>
          <a:p>
            <a:pPr indent="0" marL="0">
              <a:buNone/>
            </a:pPr>
            <a:r>
              <a:rPr lang="en-US" sz="1050" dirty="0">
                <a:solidFill>
                  <a:srgbClr val="64748B"/>
                </a:solidFill>
                <a:latin typeface="Inter" pitchFamily="34" charset="0"/>
                <a:ea typeface="Inter" pitchFamily="34" charset="-122"/>
                <a:cs typeface="Inter" pitchFamily="34" charset="-120"/>
              </a:rPr>
              <a:t>Limited / none</a:t>
            </a:r>
            <a:endParaRPr lang="en-US" sz="1050" dirty="0"/>
          </a:p>
        </p:txBody>
      </p:sp>
      <p:sp>
        <p:nvSpPr>
          <p:cNvPr id="19" name="Shape 14"/>
          <p:cNvSpPr/>
          <p:nvPr/>
        </p:nvSpPr>
        <p:spPr>
          <a:xfrm>
            <a:off x="7406640" y="2532888"/>
            <a:ext cx="4023360" cy="566928"/>
          </a:xfrm>
          <a:prstGeom prst="rect">
            <a:avLst/>
          </a:prstGeom>
          <a:solidFill>
            <a:srgbClr val="F0FDF9"/>
          </a:solidFill>
          <a:ln/>
        </p:spPr>
      </p:sp>
      <p:pic>
        <p:nvPicPr>
          <p:cNvPr id="20" name="Image 3" descr="/home/claude/civic-deck/icons/check.png">    </p:cNvPr>
          <p:cNvPicPr>
            <a:picLocks noChangeAspect="1"/>
          </p:cNvPicPr>
          <p:nvPr/>
        </p:nvPicPr>
        <p:blipFill>
          <a:blip r:embed="rId4"/>
          <a:stretch>
            <a:fillRect/>
          </a:stretch>
        </p:blipFill>
        <p:spPr>
          <a:xfrm>
            <a:off x="7635240" y="2688336"/>
            <a:ext cx="256032" cy="256032"/>
          </a:xfrm>
          <a:prstGeom prst="rect">
            <a:avLst/>
          </a:prstGeom>
        </p:spPr>
      </p:pic>
      <p:sp>
        <p:nvSpPr>
          <p:cNvPr id="21" name="Text 15"/>
          <p:cNvSpPr/>
          <p:nvPr/>
        </p:nvSpPr>
        <p:spPr>
          <a:xfrm>
            <a:off x="8001000" y="2532888"/>
            <a:ext cx="3291840" cy="566928"/>
          </a:xfrm>
          <a:prstGeom prst="rect">
            <a:avLst/>
          </a:prstGeom>
          <a:noFill/>
          <a:ln/>
        </p:spPr>
        <p:txBody>
          <a:bodyPr wrap="square" lIns="0" tIns="0" rIns="0" bIns="0" rtlCol="0" anchor="ctr"/>
          <a:lstStyle/>
          <a:p>
            <a:pPr indent="0" marL="0">
              <a:buNone/>
            </a:pPr>
            <a:r>
              <a:rPr lang="en-US" sz="1050" b="1" dirty="0">
                <a:solidFill>
                  <a:srgbClr val="065F46"/>
                </a:solidFill>
                <a:latin typeface="Inter" pitchFamily="34" charset="0"/>
                <a:ea typeface="Inter" pitchFamily="34" charset="-122"/>
                <a:cs typeface="Inter" pitchFamily="34" charset="-120"/>
              </a:rPr>
              <a:t>Explicit entity relationships</a:t>
            </a:r>
            <a:endParaRPr lang="en-US" sz="1050" dirty="0"/>
          </a:p>
        </p:txBody>
      </p:sp>
      <p:sp>
        <p:nvSpPr>
          <p:cNvPr id="22" name="Shape 16"/>
          <p:cNvSpPr/>
          <p:nvPr/>
        </p:nvSpPr>
        <p:spPr>
          <a:xfrm>
            <a:off x="548640" y="3099816"/>
            <a:ext cx="11091672" cy="566928"/>
          </a:xfrm>
          <a:prstGeom prst="rect">
            <a:avLst/>
          </a:prstGeom>
          <a:solidFill>
            <a:srgbClr val="F8FAFC"/>
          </a:solidFill>
          <a:ln/>
        </p:spPr>
      </p:sp>
      <p:sp>
        <p:nvSpPr>
          <p:cNvPr id="23" name="Text 17"/>
          <p:cNvSpPr/>
          <p:nvPr/>
        </p:nvSpPr>
        <p:spPr>
          <a:xfrm>
            <a:off x="777240" y="3099816"/>
            <a:ext cx="2606040" cy="566928"/>
          </a:xfrm>
          <a:prstGeom prst="rect">
            <a:avLst/>
          </a:prstGeom>
          <a:noFill/>
          <a:ln/>
        </p:spPr>
        <p:txBody>
          <a:bodyPr wrap="square" lIns="0" tIns="0" rIns="0" bIns="0" rtlCol="0" anchor="ctr"/>
          <a:lstStyle/>
          <a:p>
            <a:pPr indent="0" marL="0">
              <a:buNone/>
            </a:pPr>
            <a:r>
              <a:rPr lang="en-US" sz="1150" b="1" dirty="0">
                <a:solidFill>
                  <a:srgbClr val="0F172A"/>
                </a:solidFill>
                <a:latin typeface="Inter" pitchFamily="34" charset="0"/>
                <a:ea typeface="Inter" pitchFamily="34" charset="-122"/>
                <a:cs typeface="Inter" pitchFamily="34" charset="-120"/>
              </a:rPr>
              <a:t>Department inference</a:t>
            </a:r>
            <a:endParaRPr lang="en-US" sz="1150" dirty="0"/>
          </a:p>
        </p:txBody>
      </p:sp>
      <p:pic>
        <p:nvPicPr>
          <p:cNvPr id="24" name="Image 4" descr="/home/claude/civic-deck/icons/xmark.png">    </p:cNvPr>
          <p:cNvPicPr>
            <a:picLocks noChangeAspect="1"/>
          </p:cNvPicPr>
          <p:nvPr/>
        </p:nvPicPr>
        <p:blipFill>
          <a:blip r:embed="rId5"/>
          <a:stretch>
            <a:fillRect/>
          </a:stretch>
        </p:blipFill>
        <p:spPr>
          <a:xfrm>
            <a:off x="3611880" y="3255264"/>
            <a:ext cx="256032" cy="256032"/>
          </a:xfrm>
          <a:prstGeom prst="rect">
            <a:avLst/>
          </a:prstGeom>
        </p:spPr>
      </p:pic>
      <p:sp>
        <p:nvSpPr>
          <p:cNvPr id="25" name="Text 18"/>
          <p:cNvSpPr/>
          <p:nvPr/>
        </p:nvSpPr>
        <p:spPr>
          <a:xfrm>
            <a:off x="3977640" y="3099816"/>
            <a:ext cx="3291840" cy="566928"/>
          </a:xfrm>
          <a:prstGeom prst="rect">
            <a:avLst/>
          </a:prstGeom>
          <a:noFill/>
          <a:ln/>
        </p:spPr>
        <p:txBody>
          <a:bodyPr wrap="square" lIns="0" tIns="0" rIns="0" bIns="0" rtlCol="0" anchor="ctr"/>
          <a:lstStyle/>
          <a:p>
            <a:pPr indent="0" marL="0">
              <a:buNone/>
            </a:pPr>
            <a:r>
              <a:rPr lang="en-US" sz="1050" dirty="0">
                <a:solidFill>
                  <a:srgbClr val="64748B"/>
                </a:solidFill>
                <a:latin typeface="Inter" pitchFamily="34" charset="0"/>
                <a:ea typeface="Inter" pitchFamily="34" charset="-122"/>
                <a:cs typeface="Inter" pitchFamily="34" charset="-120"/>
              </a:rPr>
              <a:t>Poor — no ownership model</a:t>
            </a:r>
            <a:endParaRPr lang="en-US" sz="1050" dirty="0"/>
          </a:p>
        </p:txBody>
      </p:sp>
      <p:sp>
        <p:nvSpPr>
          <p:cNvPr id="26" name="Shape 19"/>
          <p:cNvSpPr/>
          <p:nvPr/>
        </p:nvSpPr>
        <p:spPr>
          <a:xfrm>
            <a:off x="7406640" y="3099816"/>
            <a:ext cx="4023360" cy="566928"/>
          </a:xfrm>
          <a:prstGeom prst="rect">
            <a:avLst/>
          </a:prstGeom>
          <a:solidFill>
            <a:srgbClr val="ECFDF5"/>
          </a:solidFill>
          <a:ln/>
        </p:spPr>
      </p:sp>
      <p:pic>
        <p:nvPicPr>
          <p:cNvPr id="27" name="Image 5" descr="/home/claude/civic-deck/icons/check.png">    </p:cNvPr>
          <p:cNvPicPr>
            <a:picLocks noChangeAspect="1"/>
          </p:cNvPicPr>
          <p:nvPr/>
        </p:nvPicPr>
        <p:blipFill>
          <a:blip r:embed="rId6"/>
          <a:stretch>
            <a:fillRect/>
          </a:stretch>
        </p:blipFill>
        <p:spPr>
          <a:xfrm>
            <a:off x="7635240" y="3255264"/>
            <a:ext cx="256032" cy="256032"/>
          </a:xfrm>
          <a:prstGeom prst="rect">
            <a:avLst/>
          </a:prstGeom>
        </p:spPr>
      </p:pic>
      <p:sp>
        <p:nvSpPr>
          <p:cNvPr id="28" name="Text 20"/>
          <p:cNvSpPr/>
          <p:nvPr/>
        </p:nvSpPr>
        <p:spPr>
          <a:xfrm>
            <a:off x="8001000" y="3099816"/>
            <a:ext cx="3291840" cy="566928"/>
          </a:xfrm>
          <a:prstGeom prst="rect">
            <a:avLst/>
          </a:prstGeom>
          <a:noFill/>
          <a:ln/>
        </p:spPr>
        <p:txBody>
          <a:bodyPr wrap="square" lIns="0" tIns="0" rIns="0" bIns="0" rtlCol="0" anchor="ctr"/>
          <a:lstStyle/>
          <a:p>
            <a:pPr indent="0" marL="0">
              <a:buNone/>
            </a:pPr>
            <a:r>
              <a:rPr lang="en-US" sz="1050" b="1" dirty="0">
                <a:solidFill>
                  <a:srgbClr val="065F46"/>
                </a:solidFill>
                <a:latin typeface="Inter" pitchFamily="34" charset="0"/>
                <a:ea typeface="Inter" pitchFamily="34" charset="-122"/>
                <a:cs typeface="Inter" pitchFamily="34" charset="-120"/>
              </a:rPr>
              <a:t>Graph traversal infers owner</a:t>
            </a:r>
            <a:endParaRPr lang="en-US" sz="1050" dirty="0"/>
          </a:p>
        </p:txBody>
      </p:sp>
      <p:sp>
        <p:nvSpPr>
          <p:cNvPr id="29" name="Text 21"/>
          <p:cNvSpPr/>
          <p:nvPr/>
        </p:nvSpPr>
        <p:spPr>
          <a:xfrm>
            <a:off x="777240" y="3666744"/>
            <a:ext cx="2606040" cy="566928"/>
          </a:xfrm>
          <a:prstGeom prst="rect">
            <a:avLst/>
          </a:prstGeom>
          <a:noFill/>
          <a:ln/>
        </p:spPr>
        <p:txBody>
          <a:bodyPr wrap="square" lIns="0" tIns="0" rIns="0" bIns="0" rtlCol="0" anchor="ctr"/>
          <a:lstStyle/>
          <a:p>
            <a:pPr indent="0" marL="0">
              <a:buNone/>
            </a:pPr>
            <a:r>
              <a:rPr lang="en-US" sz="1150" b="1" dirty="0">
                <a:solidFill>
                  <a:srgbClr val="0F172A"/>
                </a:solidFill>
                <a:latin typeface="Inter" pitchFamily="34" charset="0"/>
                <a:ea typeface="Inter" pitchFamily="34" charset="-122"/>
                <a:cs typeface="Inter" pitchFamily="34" charset="-120"/>
              </a:rPr>
              <a:t>Reasoning depth</a:t>
            </a:r>
            <a:endParaRPr lang="en-US" sz="1150" dirty="0"/>
          </a:p>
        </p:txBody>
      </p:sp>
      <p:pic>
        <p:nvPicPr>
          <p:cNvPr id="30" name="Image 6" descr="/home/claude/civic-deck/icons/xmark.png">    </p:cNvPr>
          <p:cNvPicPr>
            <a:picLocks noChangeAspect="1"/>
          </p:cNvPicPr>
          <p:nvPr/>
        </p:nvPicPr>
        <p:blipFill>
          <a:blip r:embed="rId7"/>
          <a:stretch>
            <a:fillRect/>
          </a:stretch>
        </p:blipFill>
        <p:spPr>
          <a:xfrm>
            <a:off x="3611880" y="3822192"/>
            <a:ext cx="256032" cy="256032"/>
          </a:xfrm>
          <a:prstGeom prst="rect">
            <a:avLst/>
          </a:prstGeom>
        </p:spPr>
      </p:pic>
      <p:sp>
        <p:nvSpPr>
          <p:cNvPr id="31" name="Text 22"/>
          <p:cNvSpPr/>
          <p:nvPr/>
        </p:nvSpPr>
        <p:spPr>
          <a:xfrm>
            <a:off x="3977640" y="3666744"/>
            <a:ext cx="3291840" cy="566928"/>
          </a:xfrm>
          <a:prstGeom prst="rect">
            <a:avLst/>
          </a:prstGeom>
          <a:noFill/>
          <a:ln/>
        </p:spPr>
        <p:txBody>
          <a:bodyPr wrap="square" lIns="0" tIns="0" rIns="0" bIns="0" rtlCol="0" anchor="ctr"/>
          <a:lstStyle/>
          <a:p>
            <a:pPr indent="0" marL="0">
              <a:buNone/>
            </a:pPr>
            <a:r>
              <a:rPr lang="en-US" sz="1050" dirty="0">
                <a:solidFill>
                  <a:srgbClr val="64748B"/>
                </a:solidFill>
                <a:latin typeface="Inter" pitchFamily="34" charset="0"/>
                <a:ea typeface="Inter" pitchFamily="34" charset="-122"/>
                <a:cs typeface="Inter" pitchFamily="34" charset="-120"/>
              </a:rPr>
              <a:t>Weak, single-hop</a:t>
            </a:r>
            <a:endParaRPr lang="en-US" sz="1050" dirty="0"/>
          </a:p>
        </p:txBody>
      </p:sp>
      <p:sp>
        <p:nvSpPr>
          <p:cNvPr id="32" name="Shape 23"/>
          <p:cNvSpPr/>
          <p:nvPr/>
        </p:nvSpPr>
        <p:spPr>
          <a:xfrm>
            <a:off x="7406640" y="3666744"/>
            <a:ext cx="4023360" cy="566928"/>
          </a:xfrm>
          <a:prstGeom prst="rect">
            <a:avLst/>
          </a:prstGeom>
          <a:solidFill>
            <a:srgbClr val="F0FDF9"/>
          </a:solidFill>
          <a:ln/>
        </p:spPr>
      </p:sp>
      <p:pic>
        <p:nvPicPr>
          <p:cNvPr id="33" name="Image 7" descr="/home/claude/civic-deck/icons/check.png">    </p:cNvPr>
          <p:cNvPicPr>
            <a:picLocks noChangeAspect="1"/>
          </p:cNvPicPr>
          <p:nvPr/>
        </p:nvPicPr>
        <p:blipFill>
          <a:blip r:embed="rId8"/>
          <a:stretch>
            <a:fillRect/>
          </a:stretch>
        </p:blipFill>
        <p:spPr>
          <a:xfrm>
            <a:off x="7635240" y="3822192"/>
            <a:ext cx="256032" cy="256032"/>
          </a:xfrm>
          <a:prstGeom prst="rect">
            <a:avLst/>
          </a:prstGeom>
        </p:spPr>
      </p:pic>
      <p:sp>
        <p:nvSpPr>
          <p:cNvPr id="34" name="Text 24"/>
          <p:cNvSpPr/>
          <p:nvPr/>
        </p:nvSpPr>
        <p:spPr>
          <a:xfrm>
            <a:off x="8001000" y="3666744"/>
            <a:ext cx="3291840" cy="566928"/>
          </a:xfrm>
          <a:prstGeom prst="rect">
            <a:avLst/>
          </a:prstGeom>
          <a:noFill/>
          <a:ln/>
        </p:spPr>
        <p:txBody>
          <a:bodyPr wrap="square" lIns="0" tIns="0" rIns="0" bIns="0" rtlCol="0" anchor="ctr"/>
          <a:lstStyle/>
          <a:p>
            <a:pPr indent="0" marL="0">
              <a:buNone/>
            </a:pPr>
            <a:r>
              <a:rPr lang="en-US" sz="1050" b="1" dirty="0">
                <a:solidFill>
                  <a:srgbClr val="065F46"/>
                </a:solidFill>
                <a:latin typeface="Inter" pitchFamily="34" charset="0"/>
                <a:ea typeface="Inter" pitchFamily="34" charset="-122"/>
                <a:cs typeface="Inter" pitchFamily="34" charset="-120"/>
              </a:rPr>
              <a:t>Multi-hop, contextual</a:t>
            </a:r>
            <a:endParaRPr lang="en-US" sz="1050" dirty="0"/>
          </a:p>
        </p:txBody>
      </p:sp>
      <p:sp>
        <p:nvSpPr>
          <p:cNvPr id="35" name="Shape 25"/>
          <p:cNvSpPr/>
          <p:nvPr/>
        </p:nvSpPr>
        <p:spPr>
          <a:xfrm>
            <a:off x="548640" y="4233672"/>
            <a:ext cx="11091672" cy="566928"/>
          </a:xfrm>
          <a:prstGeom prst="rect">
            <a:avLst/>
          </a:prstGeom>
          <a:solidFill>
            <a:srgbClr val="F8FAFC"/>
          </a:solidFill>
          <a:ln/>
        </p:spPr>
      </p:sp>
      <p:sp>
        <p:nvSpPr>
          <p:cNvPr id="36" name="Text 26"/>
          <p:cNvSpPr/>
          <p:nvPr/>
        </p:nvSpPr>
        <p:spPr>
          <a:xfrm>
            <a:off x="777240" y="4233672"/>
            <a:ext cx="2606040" cy="566928"/>
          </a:xfrm>
          <a:prstGeom prst="rect">
            <a:avLst/>
          </a:prstGeom>
          <a:noFill/>
          <a:ln/>
        </p:spPr>
        <p:txBody>
          <a:bodyPr wrap="square" lIns="0" tIns="0" rIns="0" bIns="0" rtlCol="0" anchor="ctr"/>
          <a:lstStyle/>
          <a:p>
            <a:pPr indent="0" marL="0">
              <a:buNone/>
            </a:pPr>
            <a:r>
              <a:rPr lang="en-US" sz="1150" b="1" dirty="0">
                <a:solidFill>
                  <a:srgbClr val="0F172A"/>
                </a:solidFill>
                <a:latin typeface="Inter" pitchFamily="34" charset="0"/>
                <a:ea typeface="Inter" pitchFamily="34" charset="-122"/>
                <a:cs typeface="Inter" pitchFamily="34" charset="-120"/>
              </a:rPr>
              <a:t>Similar-case retrieval</a:t>
            </a:r>
            <a:endParaRPr lang="en-US" sz="1150" dirty="0"/>
          </a:p>
        </p:txBody>
      </p:sp>
      <p:pic>
        <p:nvPicPr>
          <p:cNvPr id="37" name="Image 8" descr="/home/claude/civic-deck/icons/xmark.png">    </p:cNvPr>
          <p:cNvPicPr>
            <a:picLocks noChangeAspect="1"/>
          </p:cNvPicPr>
          <p:nvPr/>
        </p:nvPicPr>
        <p:blipFill>
          <a:blip r:embed="rId9"/>
          <a:stretch>
            <a:fillRect/>
          </a:stretch>
        </p:blipFill>
        <p:spPr>
          <a:xfrm>
            <a:off x="3611880" y="4389120"/>
            <a:ext cx="256032" cy="256032"/>
          </a:xfrm>
          <a:prstGeom prst="rect">
            <a:avLst/>
          </a:prstGeom>
        </p:spPr>
      </p:pic>
      <p:sp>
        <p:nvSpPr>
          <p:cNvPr id="38" name="Text 27"/>
          <p:cNvSpPr/>
          <p:nvPr/>
        </p:nvSpPr>
        <p:spPr>
          <a:xfrm>
            <a:off x="3977640" y="4233672"/>
            <a:ext cx="3291840" cy="566928"/>
          </a:xfrm>
          <a:prstGeom prst="rect">
            <a:avLst/>
          </a:prstGeom>
          <a:noFill/>
          <a:ln/>
        </p:spPr>
        <p:txBody>
          <a:bodyPr wrap="square" lIns="0" tIns="0" rIns="0" bIns="0" rtlCol="0" anchor="ctr"/>
          <a:lstStyle/>
          <a:p>
            <a:pPr indent="0" marL="0">
              <a:buNone/>
            </a:pPr>
            <a:r>
              <a:rPr lang="en-US" sz="1050" dirty="0">
                <a:solidFill>
                  <a:srgbClr val="64748B"/>
                </a:solidFill>
                <a:latin typeface="Inter" pitchFamily="34" charset="0"/>
                <a:ea typeface="Inter" pitchFamily="34" charset="-122"/>
                <a:cs typeface="Inter" pitchFamily="34" charset="-120"/>
              </a:rPr>
              <a:t>Flat, surface-level</a:t>
            </a:r>
            <a:endParaRPr lang="en-US" sz="1050" dirty="0"/>
          </a:p>
        </p:txBody>
      </p:sp>
      <p:sp>
        <p:nvSpPr>
          <p:cNvPr id="39" name="Shape 28"/>
          <p:cNvSpPr/>
          <p:nvPr/>
        </p:nvSpPr>
        <p:spPr>
          <a:xfrm>
            <a:off x="7406640" y="4233672"/>
            <a:ext cx="4023360" cy="566928"/>
          </a:xfrm>
          <a:prstGeom prst="rect">
            <a:avLst/>
          </a:prstGeom>
          <a:solidFill>
            <a:srgbClr val="ECFDF5"/>
          </a:solidFill>
          <a:ln/>
        </p:spPr>
      </p:sp>
      <p:pic>
        <p:nvPicPr>
          <p:cNvPr id="40" name="Image 9" descr="/home/claude/civic-deck/icons/check.png">    </p:cNvPr>
          <p:cNvPicPr>
            <a:picLocks noChangeAspect="1"/>
          </p:cNvPicPr>
          <p:nvPr/>
        </p:nvPicPr>
        <p:blipFill>
          <a:blip r:embed="rId10"/>
          <a:stretch>
            <a:fillRect/>
          </a:stretch>
        </p:blipFill>
        <p:spPr>
          <a:xfrm>
            <a:off x="7635240" y="4389120"/>
            <a:ext cx="256032" cy="256032"/>
          </a:xfrm>
          <a:prstGeom prst="rect">
            <a:avLst/>
          </a:prstGeom>
        </p:spPr>
      </p:pic>
      <p:sp>
        <p:nvSpPr>
          <p:cNvPr id="41" name="Text 29"/>
          <p:cNvSpPr/>
          <p:nvPr/>
        </p:nvSpPr>
        <p:spPr>
          <a:xfrm>
            <a:off x="8001000" y="4233672"/>
            <a:ext cx="3291840" cy="566928"/>
          </a:xfrm>
          <a:prstGeom prst="rect">
            <a:avLst/>
          </a:prstGeom>
          <a:noFill/>
          <a:ln/>
        </p:spPr>
        <p:txBody>
          <a:bodyPr wrap="square" lIns="0" tIns="0" rIns="0" bIns="0" rtlCol="0" anchor="ctr"/>
          <a:lstStyle/>
          <a:p>
            <a:pPr indent="0" marL="0">
              <a:buNone/>
            </a:pPr>
            <a:r>
              <a:rPr lang="en-US" sz="1050" b="1" dirty="0">
                <a:solidFill>
                  <a:srgbClr val="065F46"/>
                </a:solidFill>
                <a:latin typeface="Inter" pitchFamily="34" charset="0"/>
                <a:ea typeface="Inter" pitchFamily="34" charset="-122"/>
                <a:cs typeface="Inter" pitchFamily="34" charset="-120"/>
              </a:rPr>
              <a:t>Semantic + structural match</a:t>
            </a:r>
            <a:endParaRPr lang="en-US" sz="1050" dirty="0"/>
          </a:p>
        </p:txBody>
      </p:sp>
      <p:sp>
        <p:nvSpPr>
          <p:cNvPr id="42" name="Text 30"/>
          <p:cNvSpPr/>
          <p:nvPr/>
        </p:nvSpPr>
        <p:spPr>
          <a:xfrm>
            <a:off x="777240" y="4800600"/>
            <a:ext cx="2606040" cy="566928"/>
          </a:xfrm>
          <a:prstGeom prst="rect">
            <a:avLst/>
          </a:prstGeom>
          <a:noFill/>
          <a:ln/>
        </p:spPr>
        <p:txBody>
          <a:bodyPr wrap="square" lIns="0" tIns="0" rIns="0" bIns="0" rtlCol="0" anchor="ctr"/>
          <a:lstStyle/>
          <a:p>
            <a:pPr indent="0" marL="0">
              <a:buNone/>
            </a:pPr>
            <a:r>
              <a:rPr lang="en-US" sz="1150" b="1" dirty="0">
                <a:solidFill>
                  <a:srgbClr val="0F172A"/>
                </a:solidFill>
                <a:latin typeface="Inter" pitchFamily="34" charset="0"/>
                <a:ea typeface="Inter" pitchFamily="34" charset="-122"/>
                <a:cs typeface="Inter" pitchFamily="34" charset="-120"/>
              </a:rPr>
              <a:t>Explainability</a:t>
            </a:r>
            <a:endParaRPr lang="en-US" sz="1150" dirty="0"/>
          </a:p>
        </p:txBody>
      </p:sp>
      <p:pic>
        <p:nvPicPr>
          <p:cNvPr id="43" name="Image 10" descr="/home/claude/civic-deck/icons/xmark.png">    </p:cNvPr>
          <p:cNvPicPr>
            <a:picLocks noChangeAspect="1"/>
          </p:cNvPicPr>
          <p:nvPr/>
        </p:nvPicPr>
        <p:blipFill>
          <a:blip r:embed="rId11"/>
          <a:stretch>
            <a:fillRect/>
          </a:stretch>
        </p:blipFill>
        <p:spPr>
          <a:xfrm>
            <a:off x="3611880" y="4956048"/>
            <a:ext cx="256032" cy="256032"/>
          </a:xfrm>
          <a:prstGeom prst="rect">
            <a:avLst/>
          </a:prstGeom>
        </p:spPr>
      </p:pic>
      <p:sp>
        <p:nvSpPr>
          <p:cNvPr id="44" name="Text 31"/>
          <p:cNvSpPr/>
          <p:nvPr/>
        </p:nvSpPr>
        <p:spPr>
          <a:xfrm>
            <a:off x="3977640" y="4800600"/>
            <a:ext cx="3291840" cy="566928"/>
          </a:xfrm>
          <a:prstGeom prst="rect">
            <a:avLst/>
          </a:prstGeom>
          <a:noFill/>
          <a:ln/>
        </p:spPr>
        <p:txBody>
          <a:bodyPr wrap="square" lIns="0" tIns="0" rIns="0" bIns="0" rtlCol="0" anchor="ctr"/>
          <a:lstStyle/>
          <a:p>
            <a:pPr indent="0" marL="0">
              <a:buNone/>
            </a:pPr>
            <a:r>
              <a:rPr lang="en-US" sz="1050" dirty="0">
                <a:solidFill>
                  <a:srgbClr val="64748B"/>
                </a:solidFill>
                <a:latin typeface="Inter" pitchFamily="34" charset="0"/>
                <a:ea typeface="Inter" pitchFamily="34" charset="-122"/>
                <a:cs typeface="Inter" pitchFamily="34" charset="-120"/>
              </a:rPr>
              <a:t>Opaque ranking</a:t>
            </a:r>
            <a:endParaRPr lang="en-US" sz="1050" dirty="0"/>
          </a:p>
        </p:txBody>
      </p:sp>
      <p:sp>
        <p:nvSpPr>
          <p:cNvPr id="45" name="Shape 32"/>
          <p:cNvSpPr/>
          <p:nvPr/>
        </p:nvSpPr>
        <p:spPr>
          <a:xfrm>
            <a:off x="7406640" y="4800600"/>
            <a:ext cx="4023360" cy="566928"/>
          </a:xfrm>
          <a:prstGeom prst="rect">
            <a:avLst/>
          </a:prstGeom>
          <a:solidFill>
            <a:srgbClr val="F0FDF9"/>
          </a:solidFill>
          <a:ln/>
        </p:spPr>
      </p:sp>
      <p:pic>
        <p:nvPicPr>
          <p:cNvPr id="46" name="Image 11" descr="/home/claude/civic-deck/icons/check.png">    </p:cNvPr>
          <p:cNvPicPr>
            <a:picLocks noChangeAspect="1"/>
          </p:cNvPicPr>
          <p:nvPr/>
        </p:nvPicPr>
        <p:blipFill>
          <a:blip r:embed="rId12"/>
          <a:stretch>
            <a:fillRect/>
          </a:stretch>
        </p:blipFill>
        <p:spPr>
          <a:xfrm>
            <a:off x="7635240" y="4956048"/>
            <a:ext cx="256032" cy="256032"/>
          </a:xfrm>
          <a:prstGeom prst="rect">
            <a:avLst/>
          </a:prstGeom>
        </p:spPr>
      </p:pic>
      <p:sp>
        <p:nvSpPr>
          <p:cNvPr id="47" name="Text 33"/>
          <p:cNvSpPr/>
          <p:nvPr/>
        </p:nvSpPr>
        <p:spPr>
          <a:xfrm>
            <a:off x="8001000" y="4800600"/>
            <a:ext cx="3291840" cy="566928"/>
          </a:xfrm>
          <a:prstGeom prst="rect">
            <a:avLst/>
          </a:prstGeom>
          <a:noFill/>
          <a:ln/>
        </p:spPr>
        <p:txBody>
          <a:bodyPr wrap="square" lIns="0" tIns="0" rIns="0" bIns="0" rtlCol="0" anchor="ctr"/>
          <a:lstStyle/>
          <a:p>
            <a:pPr indent="0" marL="0">
              <a:buNone/>
            </a:pPr>
            <a:r>
              <a:rPr lang="en-US" sz="1050" b="1" dirty="0">
                <a:solidFill>
                  <a:srgbClr val="065F46"/>
                </a:solidFill>
                <a:latin typeface="Inter" pitchFamily="34" charset="0"/>
                <a:ea typeface="Inter" pitchFamily="34" charset="-122"/>
                <a:cs typeface="Inter" pitchFamily="34" charset="-120"/>
              </a:rPr>
              <a:t>Traceable graph path</a:t>
            </a:r>
            <a:endParaRPr lang="en-US" sz="1050" dirty="0"/>
          </a:p>
        </p:txBody>
      </p:sp>
      <p:sp>
        <p:nvSpPr>
          <p:cNvPr id="48" name="Text 34"/>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49" name="Text 35"/>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GraphRAG vs Traditional RAG</a:t>
            </a:r>
            <a:endParaRPr lang="en-US" sz="900" dirty="0"/>
          </a:p>
        </p:txBody>
      </p:sp>
      <p:sp>
        <p:nvSpPr>
          <p:cNvPr id="50" name="Text 36"/>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09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LIVE DEMO</a:t>
            </a:r>
            <a:endParaRPr lang="en-US" sz="1200" dirty="0"/>
          </a:p>
        </p:txBody>
      </p:sp>
      <p:sp>
        <p:nvSpPr>
          <p:cNvPr id="3" name="Text 1"/>
          <p:cNvSpPr/>
          <p:nvPr/>
        </p:nvSpPr>
        <p:spPr>
          <a:xfrm>
            <a:off x="548640" y="777240"/>
            <a:ext cx="8229600" cy="822960"/>
          </a:xfrm>
          <a:prstGeom prst="rect">
            <a:avLst/>
          </a:prstGeom>
          <a:noFill/>
          <a:ln/>
        </p:spPr>
        <p:txBody>
          <a:bodyPr wrap="square" lIns="0" tIns="0" rIns="0" bIns="0" rtlCol="0" anchor="ctr"/>
          <a:lstStyle/>
          <a:p>
            <a:pPr algn="l" indent="0" marL="0">
              <a:lnSpc>
                <a:spcPct val="102000"/>
              </a:lnSpc>
              <a:buNone/>
            </a:pPr>
            <a:r>
              <a:rPr lang="en-US" sz="2800" b="1" dirty="0">
                <a:solidFill>
                  <a:srgbClr val="0F172A"/>
                </a:solidFill>
                <a:latin typeface="Poppins" pitchFamily="34" charset="0"/>
                <a:ea typeface="Poppins" pitchFamily="34" charset="-122"/>
                <a:cs typeface="Poppins" pitchFamily="34" charset="-120"/>
              </a:rPr>
              <a:t>One complaint, start to finish</a:t>
            </a:r>
            <a:endParaRPr lang="en-US" sz="2800" dirty="0"/>
          </a:p>
        </p:txBody>
      </p:sp>
      <p:sp>
        <p:nvSpPr>
          <p:cNvPr id="4" name="Shape 2"/>
          <p:cNvSpPr/>
          <p:nvPr/>
        </p:nvSpPr>
        <p:spPr>
          <a:xfrm>
            <a:off x="548640" y="1691640"/>
            <a:ext cx="4160520" cy="1371600"/>
          </a:xfrm>
          <a:prstGeom prst="roundRect">
            <a:avLst>
              <a:gd name="adj" fmla="val 9333"/>
            </a:avLst>
          </a:prstGeom>
          <a:solidFill>
            <a:srgbClr val="0F172A"/>
          </a:solidFill>
          <a:ln/>
        </p:spPr>
      </p:sp>
      <p:pic>
        <p:nvPicPr>
          <p:cNvPr id="5" name="Image 0" descr="/home/claude/civic-deck/icons/bullhorn.png">    </p:cNvPr>
          <p:cNvPicPr>
            <a:picLocks noChangeAspect="1"/>
          </p:cNvPicPr>
          <p:nvPr/>
        </p:nvPicPr>
        <p:blipFill>
          <a:blip r:embed="rId1"/>
          <a:stretch>
            <a:fillRect/>
          </a:stretch>
        </p:blipFill>
        <p:spPr>
          <a:xfrm>
            <a:off x="868680" y="1920240"/>
            <a:ext cx="384048" cy="384048"/>
          </a:xfrm>
          <a:prstGeom prst="rect">
            <a:avLst/>
          </a:prstGeom>
        </p:spPr>
      </p:pic>
      <p:sp>
        <p:nvSpPr>
          <p:cNvPr id="6" name="Text 3"/>
          <p:cNvSpPr/>
          <p:nvPr/>
        </p:nvSpPr>
        <p:spPr>
          <a:xfrm>
            <a:off x="1371600" y="1947672"/>
            <a:ext cx="3108960" cy="274320"/>
          </a:xfrm>
          <a:prstGeom prst="rect">
            <a:avLst/>
          </a:prstGeom>
          <a:noFill/>
          <a:ln/>
        </p:spPr>
        <p:txBody>
          <a:bodyPr wrap="square" lIns="0" tIns="0" rIns="0" bIns="0" rtlCol="0" anchor="ctr"/>
          <a:lstStyle/>
          <a:p>
            <a:pPr indent="0" marL="0">
              <a:buNone/>
            </a:pPr>
            <a:r>
              <a:rPr lang="en-US" sz="1000" b="1" spc="150" kern="0" dirty="0">
                <a:solidFill>
                  <a:srgbClr val="60A5FA"/>
                </a:solidFill>
                <a:latin typeface="Inter" pitchFamily="34" charset="0"/>
                <a:ea typeface="Inter" pitchFamily="34" charset="-122"/>
                <a:cs typeface="Inter" pitchFamily="34" charset="-120"/>
              </a:rPr>
              <a:t>CITIZEN SUBMITS</a:t>
            </a:r>
            <a:endParaRPr lang="en-US" sz="1000" dirty="0"/>
          </a:p>
        </p:txBody>
      </p:sp>
      <p:sp>
        <p:nvSpPr>
          <p:cNvPr id="7" name="Text 4"/>
          <p:cNvSpPr/>
          <p:nvPr/>
        </p:nvSpPr>
        <p:spPr>
          <a:xfrm>
            <a:off x="868680" y="2331720"/>
            <a:ext cx="3657600" cy="594360"/>
          </a:xfrm>
          <a:prstGeom prst="rect">
            <a:avLst/>
          </a:prstGeom>
          <a:noFill/>
          <a:ln/>
        </p:spPr>
        <p:txBody>
          <a:bodyPr wrap="square" lIns="0" tIns="0" rIns="0" bIns="0" rtlCol="0" anchor="ctr"/>
          <a:lstStyle/>
          <a:p>
            <a:pPr indent="0" marL="0">
              <a:lnSpc>
                <a:spcPct val="120000"/>
              </a:lnSpc>
              <a:buNone/>
            </a:pPr>
            <a:r>
              <a:rPr lang="en-US" sz="1300" i="1" dirty="0">
                <a:solidFill>
                  <a:srgbClr val="E2E8F0"/>
                </a:solidFill>
                <a:latin typeface="Inter" pitchFamily="34" charset="0"/>
                <a:ea typeface="Inter" pitchFamily="34" charset="-122"/>
                <a:cs typeface="Inter" pitchFamily="34" charset="-120"/>
              </a:rPr>
              <a:t>"The street lights are blinking continuously."</a:t>
            </a:r>
            <a:endParaRPr lang="en-US" sz="1300" dirty="0"/>
          </a:p>
        </p:txBody>
      </p:sp>
      <p:sp>
        <p:nvSpPr>
          <p:cNvPr id="8" name="Shape 5"/>
          <p:cNvSpPr/>
          <p:nvPr/>
        </p:nvSpPr>
        <p:spPr>
          <a:xfrm>
            <a:off x="685800" y="3154680"/>
            <a:ext cx="457200" cy="457200"/>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9" name="Image 1" descr="/home/claude/civic-deck/icons/tags.png">    </p:cNvPr>
          <p:cNvPicPr>
            <a:picLocks noChangeAspect="1"/>
          </p:cNvPicPr>
          <p:nvPr/>
        </p:nvPicPr>
        <p:blipFill>
          <a:blip r:embed="rId2"/>
          <a:stretch>
            <a:fillRect/>
          </a:stretch>
        </p:blipFill>
        <p:spPr>
          <a:xfrm>
            <a:off x="800100" y="3268980"/>
            <a:ext cx="228600" cy="228600"/>
          </a:xfrm>
          <a:prstGeom prst="rect">
            <a:avLst/>
          </a:prstGeom>
        </p:spPr>
      </p:pic>
      <p:sp>
        <p:nvSpPr>
          <p:cNvPr id="10" name="Text 6"/>
          <p:cNvSpPr/>
          <p:nvPr/>
        </p:nvSpPr>
        <p:spPr>
          <a:xfrm>
            <a:off x="1280160" y="3191256"/>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Entities Extracted</a:t>
            </a:r>
            <a:endParaRPr lang="en-US" sz="1200" dirty="0"/>
          </a:p>
        </p:txBody>
      </p:sp>
      <p:sp>
        <p:nvSpPr>
          <p:cNvPr id="11" name="Text 7"/>
          <p:cNvSpPr/>
          <p:nvPr/>
        </p:nvSpPr>
        <p:spPr>
          <a:xfrm>
            <a:off x="1280160" y="3465576"/>
            <a:ext cx="3657600" cy="365760"/>
          </a:xfrm>
          <a:prstGeom prst="rect">
            <a:avLst/>
          </a:prstGeom>
          <a:noFill/>
          <a:ln/>
        </p:spPr>
        <p:txBody>
          <a:bodyPr wrap="square" lIns="0" tIns="0" rIns="0" bIns="0" rtlCol="0" anchor="ctr"/>
          <a:lstStyle/>
          <a:p>
            <a:pPr indent="0" marL="0">
              <a:lnSpc>
                <a:spcPct val="110000"/>
              </a:lnSpc>
              <a:buNone/>
            </a:pPr>
            <a:r>
              <a:rPr lang="en-US" sz="970" dirty="0">
                <a:solidFill>
                  <a:srgbClr val="64748B"/>
                </a:solidFill>
                <a:latin typeface="Inter" pitchFamily="34" charset="0"/>
                <a:ea typeface="Inter" pitchFamily="34" charset="-122"/>
                <a:cs typeface="Inter" pitchFamily="34" charset="-120"/>
              </a:rPr>
              <a:t>Street Light  ·  Flickering / Continuous Blinking</a:t>
            </a:r>
            <a:endParaRPr lang="en-US" sz="970" dirty="0"/>
          </a:p>
        </p:txBody>
      </p:sp>
      <p:sp>
        <p:nvSpPr>
          <p:cNvPr id="12" name="Shape 8"/>
          <p:cNvSpPr/>
          <p:nvPr/>
        </p:nvSpPr>
        <p:spPr>
          <a:xfrm>
            <a:off x="832104" y="3794760"/>
            <a:ext cx="164592" cy="256032"/>
          </a:xfrm>
          <a:prstGeom prst="downArrow">
            <a:avLst/>
          </a:prstGeom>
          <a:solidFill>
            <a:srgbClr val="CBD5E1"/>
          </a:solidFill>
          <a:ln/>
        </p:spPr>
      </p:sp>
      <p:sp>
        <p:nvSpPr>
          <p:cNvPr id="13" name="Shape 9"/>
          <p:cNvSpPr/>
          <p:nvPr/>
        </p:nvSpPr>
        <p:spPr>
          <a:xfrm>
            <a:off x="685800" y="3867912"/>
            <a:ext cx="457200" cy="457200"/>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14" name="Image 2" descr="/home/claude/civic-deck/icons/bolt2.png">    </p:cNvPr>
          <p:cNvPicPr>
            <a:picLocks noChangeAspect="1"/>
          </p:cNvPicPr>
          <p:nvPr/>
        </p:nvPicPr>
        <p:blipFill>
          <a:blip r:embed="rId3"/>
          <a:stretch>
            <a:fillRect/>
          </a:stretch>
        </p:blipFill>
        <p:spPr>
          <a:xfrm>
            <a:off x="800100" y="3982212"/>
            <a:ext cx="228600" cy="228600"/>
          </a:xfrm>
          <a:prstGeom prst="rect">
            <a:avLst/>
          </a:prstGeom>
        </p:spPr>
      </p:pic>
      <p:sp>
        <p:nvSpPr>
          <p:cNvPr id="15" name="Text 10"/>
          <p:cNvSpPr/>
          <p:nvPr/>
        </p:nvSpPr>
        <p:spPr>
          <a:xfrm>
            <a:off x="1280160" y="3904488"/>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Department Inferred</a:t>
            </a:r>
            <a:endParaRPr lang="en-US" sz="1200" dirty="0"/>
          </a:p>
        </p:txBody>
      </p:sp>
      <p:sp>
        <p:nvSpPr>
          <p:cNvPr id="16" name="Text 11"/>
          <p:cNvSpPr/>
          <p:nvPr/>
        </p:nvSpPr>
        <p:spPr>
          <a:xfrm>
            <a:off x="1280160" y="4178808"/>
            <a:ext cx="3657600" cy="365760"/>
          </a:xfrm>
          <a:prstGeom prst="rect">
            <a:avLst/>
          </a:prstGeom>
          <a:noFill/>
          <a:ln/>
        </p:spPr>
        <p:txBody>
          <a:bodyPr wrap="square" lIns="0" tIns="0" rIns="0" bIns="0" rtlCol="0" anchor="ctr"/>
          <a:lstStyle/>
          <a:p>
            <a:pPr indent="0" marL="0">
              <a:lnSpc>
                <a:spcPct val="110000"/>
              </a:lnSpc>
              <a:buNone/>
            </a:pPr>
            <a:r>
              <a:rPr lang="en-US" sz="970" dirty="0">
                <a:solidFill>
                  <a:srgbClr val="64748B"/>
                </a:solidFill>
                <a:latin typeface="Inter" pitchFamily="34" charset="0"/>
                <a:ea typeface="Inter" pitchFamily="34" charset="-122"/>
                <a:cs typeface="Inter" pitchFamily="34" charset="-120"/>
              </a:rPr>
              <a:t>Routed to the Electricity Department via graph traversal</a:t>
            </a:r>
            <a:endParaRPr lang="en-US" sz="970" dirty="0"/>
          </a:p>
        </p:txBody>
      </p:sp>
      <p:sp>
        <p:nvSpPr>
          <p:cNvPr id="17" name="Shape 12"/>
          <p:cNvSpPr/>
          <p:nvPr/>
        </p:nvSpPr>
        <p:spPr>
          <a:xfrm>
            <a:off x="832104" y="4507992"/>
            <a:ext cx="164592" cy="256032"/>
          </a:xfrm>
          <a:prstGeom prst="downArrow">
            <a:avLst/>
          </a:prstGeom>
          <a:solidFill>
            <a:srgbClr val="CBD5E1"/>
          </a:solidFill>
          <a:ln/>
        </p:spPr>
      </p:sp>
      <p:sp>
        <p:nvSpPr>
          <p:cNvPr id="18" name="Shape 13"/>
          <p:cNvSpPr/>
          <p:nvPr/>
        </p:nvSpPr>
        <p:spPr>
          <a:xfrm>
            <a:off x="685800" y="4581144"/>
            <a:ext cx="457200" cy="457200"/>
          </a:xfrm>
          <a:prstGeom prst="ellipse">
            <a:avLst/>
          </a:prstGeom>
          <a:solidFill>
            <a:srgbClr val="DBEAFE"/>
          </a:solidFill>
          <a:ln/>
          <a:effectLst>
            <a:outerShdw sx="100000" sy="100000" kx="0" ky="0" algn="bl" rotWithShape="0" blurRad="101600" dist="38100" dir="5400000">
              <a:srgbClr val="0F172A">
                <a:alpha val="18000"/>
              </a:srgbClr>
            </a:outerShdw>
          </a:effectLst>
        </p:spPr>
      </p:sp>
      <p:pic>
        <p:nvPicPr>
          <p:cNvPr id="19" name="Image 3" descr="/home/claude/civic-deck/icons/magnify.png">    </p:cNvPr>
          <p:cNvPicPr>
            <a:picLocks noChangeAspect="1"/>
          </p:cNvPicPr>
          <p:nvPr/>
        </p:nvPicPr>
        <p:blipFill>
          <a:blip r:embed="rId4"/>
          <a:stretch>
            <a:fillRect/>
          </a:stretch>
        </p:blipFill>
        <p:spPr>
          <a:xfrm>
            <a:off x="800100" y="4695444"/>
            <a:ext cx="228600" cy="228600"/>
          </a:xfrm>
          <a:prstGeom prst="rect">
            <a:avLst/>
          </a:prstGeom>
        </p:spPr>
      </p:pic>
      <p:sp>
        <p:nvSpPr>
          <p:cNvPr id="20" name="Text 14"/>
          <p:cNvSpPr/>
          <p:nvPr/>
        </p:nvSpPr>
        <p:spPr>
          <a:xfrm>
            <a:off x="1280160" y="4617720"/>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Similar Complaints Retrieved</a:t>
            </a:r>
            <a:endParaRPr lang="en-US" sz="1200" dirty="0"/>
          </a:p>
        </p:txBody>
      </p:sp>
      <p:sp>
        <p:nvSpPr>
          <p:cNvPr id="21" name="Text 15"/>
          <p:cNvSpPr/>
          <p:nvPr/>
        </p:nvSpPr>
        <p:spPr>
          <a:xfrm>
            <a:off x="1280160" y="4892040"/>
            <a:ext cx="3657600" cy="365760"/>
          </a:xfrm>
          <a:prstGeom prst="rect">
            <a:avLst/>
          </a:prstGeom>
          <a:noFill/>
          <a:ln/>
        </p:spPr>
        <p:txBody>
          <a:bodyPr wrap="square" lIns="0" tIns="0" rIns="0" bIns="0" rtlCol="0" anchor="ctr"/>
          <a:lstStyle/>
          <a:p>
            <a:pPr indent="0" marL="0">
              <a:lnSpc>
                <a:spcPct val="110000"/>
              </a:lnSpc>
              <a:buNone/>
            </a:pPr>
            <a:r>
              <a:rPr lang="en-US" sz="970" dirty="0">
                <a:solidFill>
                  <a:srgbClr val="64748B"/>
                </a:solidFill>
                <a:latin typeface="Inter" pitchFamily="34" charset="0"/>
                <a:ea typeface="Inter" pitchFamily="34" charset="-122"/>
                <a:cs typeface="Inter" pitchFamily="34" charset="-120"/>
              </a:rPr>
              <a:t>3 related tickets surfaced from the same asset cluster</a:t>
            </a:r>
            <a:endParaRPr lang="en-US" sz="970" dirty="0"/>
          </a:p>
        </p:txBody>
      </p:sp>
      <p:sp>
        <p:nvSpPr>
          <p:cNvPr id="22" name="Shape 16"/>
          <p:cNvSpPr/>
          <p:nvPr/>
        </p:nvSpPr>
        <p:spPr>
          <a:xfrm>
            <a:off x="832104" y="5221224"/>
            <a:ext cx="164592" cy="256032"/>
          </a:xfrm>
          <a:prstGeom prst="downArrow">
            <a:avLst/>
          </a:prstGeom>
          <a:solidFill>
            <a:srgbClr val="CBD5E1"/>
          </a:solidFill>
          <a:ln/>
        </p:spPr>
      </p:sp>
      <p:sp>
        <p:nvSpPr>
          <p:cNvPr id="23" name="Shape 17"/>
          <p:cNvSpPr/>
          <p:nvPr/>
        </p:nvSpPr>
        <p:spPr>
          <a:xfrm>
            <a:off x="685800" y="5294376"/>
            <a:ext cx="457200" cy="457200"/>
          </a:xfrm>
          <a:prstGeom prst="ellipse">
            <a:avLst/>
          </a:prstGeom>
          <a:solidFill>
            <a:srgbClr val="D1FAE5"/>
          </a:solidFill>
          <a:ln/>
          <a:effectLst>
            <a:outerShdw sx="100000" sy="100000" kx="0" ky="0" algn="bl" rotWithShape="0" blurRad="101600" dist="38100" dir="5400000">
              <a:srgbClr val="0F172A">
                <a:alpha val="18000"/>
              </a:srgbClr>
            </a:outerShdw>
          </a:effectLst>
        </p:spPr>
      </p:sp>
      <p:pic>
        <p:nvPicPr>
          <p:cNvPr id="24" name="Image 4" descr="/home/claude/civic-deck/icons/gauge.png">    </p:cNvPr>
          <p:cNvPicPr>
            <a:picLocks noChangeAspect="1"/>
          </p:cNvPicPr>
          <p:nvPr/>
        </p:nvPicPr>
        <p:blipFill>
          <a:blip r:embed="rId5"/>
          <a:stretch>
            <a:fillRect/>
          </a:stretch>
        </p:blipFill>
        <p:spPr>
          <a:xfrm>
            <a:off x="800100" y="5408676"/>
            <a:ext cx="228600" cy="228600"/>
          </a:xfrm>
          <a:prstGeom prst="rect">
            <a:avLst/>
          </a:prstGeom>
        </p:spPr>
      </p:pic>
      <p:sp>
        <p:nvSpPr>
          <p:cNvPr id="25" name="Text 18"/>
          <p:cNvSpPr/>
          <p:nvPr/>
        </p:nvSpPr>
        <p:spPr>
          <a:xfrm>
            <a:off x="1280160" y="5330952"/>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Stored in Admin Dashboard</a:t>
            </a:r>
            <a:endParaRPr lang="en-US" sz="1200" dirty="0"/>
          </a:p>
        </p:txBody>
      </p:sp>
      <p:sp>
        <p:nvSpPr>
          <p:cNvPr id="26" name="Text 19"/>
          <p:cNvSpPr/>
          <p:nvPr/>
        </p:nvSpPr>
        <p:spPr>
          <a:xfrm>
            <a:off x="1280160" y="5605272"/>
            <a:ext cx="3657600" cy="365760"/>
          </a:xfrm>
          <a:prstGeom prst="rect">
            <a:avLst/>
          </a:prstGeom>
          <a:noFill/>
          <a:ln/>
        </p:spPr>
        <p:txBody>
          <a:bodyPr wrap="square" lIns="0" tIns="0" rIns="0" bIns="0" rtlCol="0" anchor="ctr"/>
          <a:lstStyle/>
          <a:p>
            <a:pPr indent="0" marL="0">
              <a:lnSpc>
                <a:spcPct val="110000"/>
              </a:lnSpc>
              <a:buNone/>
            </a:pPr>
            <a:r>
              <a:rPr lang="en-US" sz="970" dirty="0">
                <a:solidFill>
                  <a:srgbClr val="64748B"/>
                </a:solidFill>
                <a:latin typeface="Inter" pitchFamily="34" charset="0"/>
                <a:ea typeface="Inter" pitchFamily="34" charset="-122"/>
                <a:cs typeface="Inter" pitchFamily="34" charset="-120"/>
              </a:rPr>
              <a:t>Complaint is live, assigned, and trackable in real time</a:t>
            </a:r>
            <a:endParaRPr lang="en-US" sz="970" dirty="0"/>
          </a:p>
        </p:txBody>
      </p:sp>
      <p:sp>
        <p:nvSpPr>
          <p:cNvPr id="27" name="Shape 20"/>
          <p:cNvSpPr/>
          <p:nvPr/>
        </p:nvSpPr>
        <p:spPr>
          <a:xfrm>
            <a:off x="5532120" y="1691640"/>
            <a:ext cx="6108192" cy="4709160"/>
          </a:xfrm>
          <a:prstGeom prst="roundRect">
            <a:avLst>
              <a:gd name="adj" fmla="val 3107"/>
            </a:avLst>
          </a:prstGeom>
          <a:solidFill>
            <a:srgbClr val="F1F5F9"/>
          </a:solidFill>
          <a:ln/>
          <a:effectLst>
            <a:outerShdw sx="100000" sy="100000" kx="0" ky="0" algn="bl" rotWithShape="0" blurRad="127000" dist="38100" dir="5400000">
              <a:srgbClr val="0F172A">
                <a:alpha val="10000"/>
              </a:srgbClr>
            </a:outerShdw>
          </a:effectLst>
        </p:spPr>
      </p:sp>
      <p:sp>
        <p:nvSpPr>
          <p:cNvPr id="28" name="Text 21"/>
          <p:cNvSpPr/>
          <p:nvPr/>
        </p:nvSpPr>
        <p:spPr>
          <a:xfrm>
            <a:off x="5852160" y="1920240"/>
            <a:ext cx="4572000" cy="274320"/>
          </a:xfrm>
          <a:prstGeom prst="rect">
            <a:avLst/>
          </a:prstGeom>
          <a:noFill/>
          <a:ln/>
        </p:spPr>
        <p:txBody>
          <a:bodyPr wrap="square" lIns="0" tIns="0" rIns="0" bIns="0" rtlCol="0" anchor="ctr"/>
          <a:lstStyle/>
          <a:p>
            <a:pPr indent="0" marL="0">
              <a:buNone/>
            </a:pPr>
            <a:r>
              <a:rPr lang="en-US" sz="1050" b="1" spc="150" kern="0" dirty="0">
                <a:solidFill>
                  <a:srgbClr val="64748B"/>
                </a:solidFill>
                <a:latin typeface="Inter" pitchFamily="34" charset="0"/>
                <a:ea typeface="Inter" pitchFamily="34" charset="-122"/>
                <a:cs typeface="Inter" pitchFamily="34" charset="-120"/>
              </a:rPr>
              <a:t>ADMIN DASHBOARD — LIVE VIEW</a:t>
            </a:r>
            <a:endParaRPr lang="en-US" sz="1050" dirty="0"/>
          </a:p>
        </p:txBody>
      </p:sp>
      <p:sp>
        <p:nvSpPr>
          <p:cNvPr id="29" name="Shape 22"/>
          <p:cNvSpPr/>
          <p:nvPr/>
        </p:nvSpPr>
        <p:spPr>
          <a:xfrm>
            <a:off x="5852160" y="2286000"/>
            <a:ext cx="5486400" cy="1417320"/>
          </a:xfrm>
          <a:prstGeom prst="roundRect">
            <a:avLst>
              <a:gd name="adj" fmla="val 6452"/>
            </a:avLst>
          </a:prstGeom>
          <a:solidFill>
            <a:srgbClr val="FFFFFF"/>
          </a:solidFill>
          <a:ln w="12700">
            <a:solidFill>
              <a:srgbClr val="E2E8F0"/>
            </a:solidFill>
            <a:prstDash val="solid"/>
          </a:ln>
        </p:spPr>
      </p:sp>
      <p:sp>
        <p:nvSpPr>
          <p:cNvPr id="30" name="Shape 23"/>
          <p:cNvSpPr/>
          <p:nvPr/>
        </p:nvSpPr>
        <p:spPr>
          <a:xfrm>
            <a:off x="6053328" y="2468880"/>
            <a:ext cx="1737360" cy="292608"/>
          </a:xfrm>
          <a:prstGeom prst="roundRect">
            <a:avLst>
              <a:gd name="adj" fmla="val 18750"/>
            </a:avLst>
          </a:prstGeom>
          <a:solidFill>
            <a:srgbClr val="10B981"/>
          </a:solidFill>
          <a:ln/>
        </p:spPr>
      </p:sp>
      <p:sp>
        <p:nvSpPr>
          <p:cNvPr id="31" name="Text 24"/>
          <p:cNvSpPr/>
          <p:nvPr/>
        </p:nvSpPr>
        <p:spPr>
          <a:xfrm>
            <a:off x="6053328" y="2468880"/>
            <a:ext cx="17373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ELECTRICITY</a:t>
            </a:r>
            <a:endParaRPr lang="en-US" sz="1050" dirty="0"/>
          </a:p>
        </p:txBody>
      </p:sp>
      <p:sp>
        <p:nvSpPr>
          <p:cNvPr id="32" name="Text 25"/>
          <p:cNvSpPr/>
          <p:nvPr/>
        </p:nvSpPr>
        <p:spPr>
          <a:xfrm>
            <a:off x="7955280" y="2468880"/>
            <a:ext cx="1463040" cy="292608"/>
          </a:xfrm>
          <a:prstGeom prst="rect">
            <a:avLst/>
          </a:prstGeom>
          <a:noFill/>
          <a:ln/>
        </p:spPr>
        <p:txBody>
          <a:bodyPr wrap="square" lIns="0" tIns="0" rIns="0" bIns="0" rtlCol="0" anchor="ctr"/>
          <a:lstStyle/>
          <a:p>
            <a:pPr algn="r" indent="0" marL="0">
              <a:buNone/>
            </a:pPr>
            <a:r>
              <a:rPr lang="en-US" sz="1100" b="1" dirty="0">
                <a:solidFill>
                  <a:srgbClr val="64748B"/>
                </a:solidFill>
                <a:latin typeface="Space Grotesk" pitchFamily="34" charset="0"/>
                <a:ea typeface="Space Grotesk" pitchFamily="34" charset="-122"/>
                <a:cs typeface="Space Grotesk" pitchFamily="34" charset="-120"/>
              </a:rPr>
              <a:t>#CMP-20481</a:t>
            </a:r>
            <a:endParaRPr lang="en-US" sz="1100" dirty="0"/>
          </a:p>
        </p:txBody>
      </p:sp>
      <p:sp>
        <p:nvSpPr>
          <p:cNvPr id="33" name="Text 26"/>
          <p:cNvSpPr/>
          <p:nvPr/>
        </p:nvSpPr>
        <p:spPr>
          <a:xfrm>
            <a:off x="6053328" y="2834640"/>
            <a:ext cx="5120640" cy="457200"/>
          </a:xfrm>
          <a:prstGeom prst="rect">
            <a:avLst/>
          </a:prstGeom>
          <a:noFill/>
          <a:ln/>
        </p:spPr>
        <p:txBody>
          <a:bodyPr wrap="square" lIns="0" tIns="0" rIns="0" bIns="0" rtlCol="0" anchor="ctr"/>
          <a:lstStyle/>
          <a:p>
            <a:pPr indent="0" marL="0">
              <a:lnSpc>
                <a:spcPct val="115000"/>
              </a:lnSpc>
              <a:buNone/>
            </a:pPr>
            <a:r>
              <a:rPr lang="en-US" sz="1150" b="1" dirty="0">
                <a:solidFill>
                  <a:srgbClr val="0F172A"/>
                </a:solidFill>
                <a:latin typeface="Inter" pitchFamily="34" charset="0"/>
                <a:ea typeface="Inter" pitchFamily="34" charset="-122"/>
                <a:cs typeface="Inter" pitchFamily="34" charset="-120"/>
              </a:rPr>
              <a:t>Street light flickering continuously — Sector 22 market road</a:t>
            </a:r>
            <a:endParaRPr lang="en-US" sz="1150" dirty="0"/>
          </a:p>
        </p:txBody>
      </p:sp>
      <p:sp>
        <p:nvSpPr>
          <p:cNvPr id="34" name="Shape 27"/>
          <p:cNvSpPr/>
          <p:nvPr/>
        </p:nvSpPr>
        <p:spPr>
          <a:xfrm>
            <a:off x="6053328" y="3364992"/>
            <a:ext cx="1645920" cy="292608"/>
          </a:xfrm>
          <a:prstGeom prst="roundRect">
            <a:avLst>
              <a:gd name="adj" fmla="val 18750"/>
            </a:avLst>
          </a:prstGeom>
          <a:solidFill>
            <a:srgbClr val="2563EB"/>
          </a:solidFill>
          <a:ln/>
        </p:spPr>
      </p:sp>
      <p:sp>
        <p:nvSpPr>
          <p:cNvPr id="35" name="Text 28"/>
          <p:cNvSpPr/>
          <p:nvPr/>
        </p:nvSpPr>
        <p:spPr>
          <a:xfrm>
            <a:off x="6053328" y="3364992"/>
            <a:ext cx="16459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IN PROGRESS</a:t>
            </a:r>
            <a:endParaRPr lang="en-US" sz="1050" dirty="0"/>
          </a:p>
        </p:txBody>
      </p:sp>
      <p:sp>
        <p:nvSpPr>
          <p:cNvPr id="36" name="Text 29"/>
          <p:cNvSpPr/>
          <p:nvPr/>
        </p:nvSpPr>
        <p:spPr>
          <a:xfrm>
            <a:off x="7818120" y="3364992"/>
            <a:ext cx="1645920" cy="292608"/>
          </a:xfrm>
          <a:prstGeom prst="rect">
            <a:avLst/>
          </a:prstGeom>
          <a:noFill/>
          <a:ln/>
        </p:spPr>
        <p:txBody>
          <a:bodyPr wrap="square" lIns="0" tIns="0" rIns="0" bIns="0" rtlCol="0" anchor="ctr"/>
          <a:lstStyle/>
          <a:p>
            <a:pPr algn="r" indent="0" marL="0">
              <a:buNone/>
            </a:pPr>
            <a:r>
              <a:rPr lang="en-US" sz="950" dirty="0">
                <a:solidFill>
                  <a:srgbClr val="64748B"/>
                </a:solidFill>
                <a:latin typeface="Inter" pitchFamily="34" charset="0"/>
                <a:ea typeface="Inter" pitchFamily="34" charset="-122"/>
                <a:cs typeface="Inter" pitchFamily="34" charset="-120"/>
              </a:rPr>
              <a:t>Confidence 96%</a:t>
            </a:r>
            <a:endParaRPr lang="en-US" sz="950" dirty="0"/>
          </a:p>
        </p:txBody>
      </p:sp>
      <p:sp>
        <p:nvSpPr>
          <p:cNvPr id="37" name="Text 30"/>
          <p:cNvSpPr/>
          <p:nvPr/>
        </p:nvSpPr>
        <p:spPr>
          <a:xfrm>
            <a:off x="5852160" y="3950208"/>
            <a:ext cx="4572000" cy="274320"/>
          </a:xfrm>
          <a:prstGeom prst="rect">
            <a:avLst/>
          </a:prstGeom>
          <a:noFill/>
          <a:ln/>
        </p:spPr>
        <p:txBody>
          <a:bodyPr wrap="square" lIns="0" tIns="0" rIns="0" bIns="0" rtlCol="0" anchor="ctr"/>
          <a:lstStyle/>
          <a:p>
            <a:pPr indent="0" marL="0">
              <a:buNone/>
            </a:pPr>
            <a:r>
              <a:rPr lang="en-US" sz="1150" b="1" dirty="0">
                <a:solidFill>
                  <a:srgbClr val="0F172A"/>
                </a:solidFill>
                <a:latin typeface="Poppins" pitchFamily="34" charset="0"/>
                <a:ea typeface="Poppins" pitchFamily="34" charset="-122"/>
                <a:cs typeface="Poppins" pitchFamily="34" charset="-120"/>
              </a:rPr>
              <a:t>Similar complaints in this cluster</a:t>
            </a:r>
            <a:endParaRPr lang="en-US" sz="1150" dirty="0"/>
          </a:p>
        </p:txBody>
      </p:sp>
      <p:sp>
        <p:nvSpPr>
          <p:cNvPr id="38" name="Shape 31"/>
          <p:cNvSpPr/>
          <p:nvPr/>
        </p:nvSpPr>
        <p:spPr>
          <a:xfrm>
            <a:off x="5852160" y="4279392"/>
            <a:ext cx="5486400" cy="402336"/>
          </a:xfrm>
          <a:prstGeom prst="roundRect">
            <a:avLst>
              <a:gd name="adj" fmla="val 13636"/>
            </a:avLst>
          </a:prstGeom>
          <a:solidFill>
            <a:srgbClr val="FFFFFF"/>
          </a:solidFill>
          <a:ln w="12700">
            <a:solidFill>
              <a:srgbClr val="E2E8F0"/>
            </a:solidFill>
            <a:prstDash val="solid"/>
          </a:ln>
        </p:spPr>
      </p:sp>
      <p:sp>
        <p:nvSpPr>
          <p:cNvPr id="39" name="Shape 32"/>
          <p:cNvSpPr/>
          <p:nvPr/>
        </p:nvSpPr>
        <p:spPr>
          <a:xfrm>
            <a:off x="5989320" y="4407408"/>
            <a:ext cx="146304" cy="146304"/>
          </a:xfrm>
          <a:prstGeom prst="ellipse">
            <a:avLst/>
          </a:prstGeom>
          <a:solidFill>
            <a:srgbClr val="10B981"/>
          </a:solidFill>
          <a:ln/>
        </p:spPr>
      </p:sp>
      <p:sp>
        <p:nvSpPr>
          <p:cNvPr id="40" name="Text 33"/>
          <p:cNvSpPr/>
          <p:nvPr/>
        </p:nvSpPr>
        <p:spPr>
          <a:xfrm>
            <a:off x="6263640" y="4279392"/>
            <a:ext cx="4937760" cy="402336"/>
          </a:xfrm>
          <a:prstGeom prst="rect">
            <a:avLst/>
          </a:prstGeom>
          <a:noFill/>
          <a:ln/>
        </p:spPr>
        <p:txBody>
          <a:bodyPr wrap="square" lIns="0" tIns="0" rIns="0" bIns="0" rtlCol="0" anchor="ctr"/>
          <a:lstStyle/>
          <a:p>
            <a:pPr indent="0" marL="0">
              <a:buNone/>
            </a:pPr>
            <a:r>
              <a:rPr lang="en-US" sz="1000" dirty="0">
                <a:solidFill>
                  <a:srgbClr val="0F172A"/>
                </a:solidFill>
                <a:latin typeface="Inter" pitchFamily="34" charset="0"/>
                <a:ea typeface="Inter" pitchFamily="34" charset="-122"/>
                <a:cs typeface="Inter" pitchFamily="34" charset="-120"/>
              </a:rPr>
              <a:t>Pole 4 light flicker — reported 3 days ago</a:t>
            </a:r>
            <a:endParaRPr lang="en-US" sz="1000" dirty="0"/>
          </a:p>
        </p:txBody>
      </p:sp>
      <p:sp>
        <p:nvSpPr>
          <p:cNvPr id="41" name="Shape 34"/>
          <p:cNvSpPr/>
          <p:nvPr/>
        </p:nvSpPr>
        <p:spPr>
          <a:xfrm>
            <a:off x="5852160" y="4782312"/>
            <a:ext cx="5486400" cy="402336"/>
          </a:xfrm>
          <a:prstGeom prst="roundRect">
            <a:avLst>
              <a:gd name="adj" fmla="val 13636"/>
            </a:avLst>
          </a:prstGeom>
          <a:solidFill>
            <a:srgbClr val="FFFFFF"/>
          </a:solidFill>
          <a:ln w="12700">
            <a:solidFill>
              <a:srgbClr val="E2E8F0"/>
            </a:solidFill>
            <a:prstDash val="solid"/>
          </a:ln>
        </p:spPr>
      </p:sp>
      <p:sp>
        <p:nvSpPr>
          <p:cNvPr id="42" name="Shape 35"/>
          <p:cNvSpPr/>
          <p:nvPr/>
        </p:nvSpPr>
        <p:spPr>
          <a:xfrm>
            <a:off x="5989320" y="4910328"/>
            <a:ext cx="146304" cy="146304"/>
          </a:xfrm>
          <a:prstGeom prst="ellipse">
            <a:avLst/>
          </a:prstGeom>
          <a:solidFill>
            <a:srgbClr val="10B981"/>
          </a:solidFill>
          <a:ln/>
        </p:spPr>
      </p:sp>
      <p:sp>
        <p:nvSpPr>
          <p:cNvPr id="43" name="Text 36"/>
          <p:cNvSpPr/>
          <p:nvPr/>
        </p:nvSpPr>
        <p:spPr>
          <a:xfrm>
            <a:off x="6263640" y="4782312"/>
            <a:ext cx="4937760" cy="402336"/>
          </a:xfrm>
          <a:prstGeom prst="rect">
            <a:avLst/>
          </a:prstGeom>
          <a:noFill/>
          <a:ln/>
        </p:spPr>
        <p:txBody>
          <a:bodyPr wrap="square" lIns="0" tIns="0" rIns="0" bIns="0" rtlCol="0" anchor="ctr"/>
          <a:lstStyle/>
          <a:p>
            <a:pPr indent="0" marL="0">
              <a:buNone/>
            </a:pPr>
            <a:r>
              <a:rPr lang="en-US" sz="1000" dirty="0">
                <a:solidFill>
                  <a:srgbClr val="0F172A"/>
                </a:solidFill>
                <a:latin typeface="Inter" pitchFamily="34" charset="0"/>
                <a:ea typeface="Inter" pitchFamily="34" charset="-122"/>
                <a:cs typeface="Inter" pitchFamily="34" charset="-120"/>
              </a:rPr>
              <a:t>Streetlamp outage near market — reported last week</a:t>
            </a:r>
            <a:endParaRPr lang="en-US" sz="1000" dirty="0"/>
          </a:p>
        </p:txBody>
      </p:sp>
      <p:sp>
        <p:nvSpPr>
          <p:cNvPr id="44" name="Shape 37"/>
          <p:cNvSpPr/>
          <p:nvPr/>
        </p:nvSpPr>
        <p:spPr>
          <a:xfrm>
            <a:off x="5852160" y="5285232"/>
            <a:ext cx="5486400" cy="402336"/>
          </a:xfrm>
          <a:prstGeom prst="roundRect">
            <a:avLst>
              <a:gd name="adj" fmla="val 13636"/>
            </a:avLst>
          </a:prstGeom>
          <a:solidFill>
            <a:srgbClr val="FFFFFF"/>
          </a:solidFill>
          <a:ln w="12700">
            <a:solidFill>
              <a:srgbClr val="E2E8F0"/>
            </a:solidFill>
            <a:prstDash val="solid"/>
          </a:ln>
        </p:spPr>
      </p:sp>
      <p:sp>
        <p:nvSpPr>
          <p:cNvPr id="45" name="Shape 38"/>
          <p:cNvSpPr/>
          <p:nvPr/>
        </p:nvSpPr>
        <p:spPr>
          <a:xfrm>
            <a:off x="5989320" y="5413248"/>
            <a:ext cx="146304" cy="146304"/>
          </a:xfrm>
          <a:prstGeom prst="ellipse">
            <a:avLst/>
          </a:prstGeom>
          <a:solidFill>
            <a:srgbClr val="10B981"/>
          </a:solidFill>
          <a:ln/>
        </p:spPr>
      </p:sp>
      <p:sp>
        <p:nvSpPr>
          <p:cNvPr id="46" name="Text 39"/>
          <p:cNvSpPr/>
          <p:nvPr/>
        </p:nvSpPr>
        <p:spPr>
          <a:xfrm>
            <a:off x="6263640" y="5285232"/>
            <a:ext cx="4937760" cy="402336"/>
          </a:xfrm>
          <a:prstGeom prst="rect">
            <a:avLst/>
          </a:prstGeom>
          <a:noFill/>
          <a:ln/>
        </p:spPr>
        <p:txBody>
          <a:bodyPr wrap="square" lIns="0" tIns="0" rIns="0" bIns="0" rtlCol="0" anchor="ctr"/>
          <a:lstStyle/>
          <a:p>
            <a:pPr indent="0" marL="0">
              <a:buNone/>
            </a:pPr>
            <a:r>
              <a:rPr lang="en-US" sz="1000" dirty="0">
                <a:solidFill>
                  <a:srgbClr val="0F172A"/>
                </a:solidFill>
                <a:latin typeface="Inter" pitchFamily="34" charset="0"/>
                <a:ea typeface="Inter" pitchFamily="34" charset="-122"/>
                <a:cs typeface="Inter" pitchFamily="34" charset="-120"/>
              </a:rPr>
              <a:t>Flickering light, Sector 22 — reported 2 weeks ago</a:t>
            </a:r>
            <a:endParaRPr lang="en-US" sz="1000" dirty="0"/>
          </a:p>
        </p:txBody>
      </p:sp>
      <p:sp>
        <p:nvSpPr>
          <p:cNvPr id="47" name="Text 40"/>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48" name="Text 41"/>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Demo Walkthrough</a:t>
            </a:r>
            <a:endParaRPr lang="en-US" sz="900" dirty="0"/>
          </a:p>
        </p:txBody>
      </p:sp>
      <p:sp>
        <p:nvSpPr>
          <p:cNvPr id="49" name="Text 42"/>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algn="l" indent="0" marL="0">
              <a:buNone/>
            </a:pPr>
            <a:r>
              <a:rPr lang="en-US" sz="1200" b="1" spc="200" kern="0" dirty="0">
                <a:solidFill>
                  <a:srgbClr val="2563EB"/>
                </a:solidFill>
                <a:latin typeface="Inter" pitchFamily="34" charset="0"/>
                <a:ea typeface="Inter" pitchFamily="34" charset="-122"/>
                <a:cs typeface="Inter" pitchFamily="34" charset="-120"/>
              </a:rPr>
              <a:t>ENGINEERING JOURNEY</a:t>
            </a:r>
            <a:endParaRPr lang="en-US" sz="1200" dirty="0"/>
          </a:p>
        </p:txBody>
      </p:sp>
      <p:sp>
        <p:nvSpPr>
          <p:cNvPr id="3" name="Text 1"/>
          <p:cNvSpPr/>
          <p:nvPr/>
        </p:nvSpPr>
        <p:spPr>
          <a:xfrm>
            <a:off x="548640" y="713232"/>
            <a:ext cx="9144000" cy="502920"/>
          </a:xfrm>
          <a:prstGeom prst="rect">
            <a:avLst/>
          </a:prstGeom>
          <a:noFill/>
          <a:ln/>
        </p:spPr>
        <p:txBody>
          <a:bodyPr wrap="square" lIns="0" tIns="0" rIns="0" bIns="0" rtlCol="0" anchor="ctr"/>
          <a:lstStyle/>
          <a:p>
            <a:pPr algn="l" indent="0" marL="0">
              <a:lnSpc>
                <a:spcPct val="102000"/>
              </a:lnSpc>
              <a:buNone/>
            </a:pPr>
            <a:r>
              <a:rPr lang="en-US" sz="2700" b="1" dirty="0">
                <a:solidFill>
                  <a:srgbClr val="0F172A"/>
                </a:solidFill>
                <a:latin typeface="Poppins" pitchFamily="34" charset="0"/>
                <a:ea typeface="Poppins" pitchFamily="34" charset="-122"/>
                <a:cs typeface="Poppins" pitchFamily="34" charset="-120"/>
              </a:rPr>
              <a:t>Challenges solved, and what's next</a:t>
            </a:r>
            <a:endParaRPr lang="en-US" sz="2700" dirty="0"/>
          </a:p>
        </p:txBody>
      </p:sp>
      <p:sp>
        <p:nvSpPr>
          <p:cNvPr id="4" name="Text 2"/>
          <p:cNvSpPr/>
          <p:nvPr/>
        </p:nvSpPr>
        <p:spPr>
          <a:xfrm>
            <a:off x="548640" y="1417320"/>
            <a:ext cx="4572000" cy="274320"/>
          </a:xfrm>
          <a:prstGeom prst="rect">
            <a:avLst/>
          </a:prstGeom>
          <a:noFill/>
          <a:ln/>
        </p:spPr>
        <p:txBody>
          <a:bodyPr wrap="square" lIns="0" tIns="0" rIns="0" bIns="0" rtlCol="0" anchor="ctr"/>
          <a:lstStyle/>
          <a:p>
            <a:pPr indent="0" marL="0">
              <a:buNone/>
            </a:pPr>
            <a:r>
              <a:rPr lang="en-US" sz="1100" b="1" spc="150" kern="0" dirty="0">
                <a:solidFill>
                  <a:srgbClr val="2563EB"/>
                </a:solidFill>
                <a:latin typeface="Inter" pitchFamily="34" charset="0"/>
                <a:ea typeface="Inter" pitchFamily="34" charset="-122"/>
                <a:cs typeface="Inter" pitchFamily="34" charset="-120"/>
              </a:rPr>
              <a:t>PROBLEMS SOLVED</a:t>
            </a:r>
            <a:endParaRPr lang="en-US" sz="1100" dirty="0"/>
          </a:p>
        </p:txBody>
      </p:sp>
      <p:sp>
        <p:nvSpPr>
          <p:cNvPr id="5" name="Shape 3"/>
          <p:cNvSpPr/>
          <p:nvPr/>
        </p:nvSpPr>
        <p:spPr>
          <a:xfrm>
            <a:off x="685800" y="2148840"/>
            <a:ext cx="10287000" cy="0"/>
          </a:xfrm>
          <a:prstGeom prst="line">
            <a:avLst/>
          </a:prstGeom>
          <a:noFill/>
          <a:ln w="25400">
            <a:solidFill>
              <a:srgbClr val="2563EB"/>
            </a:solidFill>
            <a:prstDash val="solid"/>
          </a:ln>
        </p:spPr>
      </p:sp>
      <p:sp>
        <p:nvSpPr>
          <p:cNvPr id="6" name="Shape 4"/>
          <p:cNvSpPr/>
          <p:nvPr/>
        </p:nvSpPr>
        <p:spPr>
          <a:xfrm>
            <a:off x="603504" y="2066544"/>
            <a:ext cx="164592" cy="164592"/>
          </a:xfrm>
          <a:prstGeom prst="ellipse">
            <a:avLst/>
          </a:prstGeom>
          <a:solidFill>
            <a:srgbClr val="2563EB"/>
          </a:solidFill>
          <a:ln w="25400">
            <a:solidFill>
              <a:srgbClr val="FFFFFF"/>
            </a:solidFill>
            <a:prstDash val="solid"/>
          </a:ln>
        </p:spPr>
      </p:sp>
      <p:sp>
        <p:nvSpPr>
          <p:cNvPr id="7" name="Text 5"/>
          <p:cNvSpPr/>
          <p:nvPr/>
        </p:nvSpPr>
        <p:spPr>
          <a:xfrm>
            <a:off x="-45720" y="1581912"/>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Ontology design</a:t>
            </a:r>
            <a:endParaRPr lang="en-US" sz="870" dirty="0"/>
          </a:p>
        </p:txBody>
      </p:sp>
      <p:sp>
        <p:nvSpPr>
          <p:cNvPr id="8" name="Shape 6"/>
          <p:cNvSpPr/>
          <p:nvPr/>
        </p:nvSpPr>
        <p:spPr>
          <a:xfrm>
            <a:off x="2073075" y="2066544"/>
            <a:ext cx="164592" cy="164592"/>
          </a:xfrm>
          <a:prstGeom prst="ellipse">
            <a:avLst/>
          </a:prstGeom>
          <a:solidFill>
            <a:srgbClr val="2563EB"/>
          </a:solidFill>
          <a:ln w="25400">
            <a:solidFill>
              <a:srgbClr val="FFFFFF"/>
            </a:solidFill>
            <a:prstDash val="solid"/>
          </a:ln>
        </p:spPr>
      </p:sp>
      <p:sp>
        <p:nvSpPr>
          <p:cNvPr id="9" name="Text 7"/>
          <p:cNvSpPr/>
          <p:nvPr/>
        </p:nvSpPr>
        <p:spPr>
          <a:xfrm>
            <a:off x="1423851" y="2331720"/>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Entity normalization</a:t>
            </a:r>
            <a:endParaRPr lang="en-US" sz="870" dirty="0"/>
          </a:p>
        </p:txBody>
      </p:sp>
      <p:sp>
        <p:nvSpPr>
          <p:cNvPr id="10" name="Shape 8"/>
          <p:cNvSpPr/>
          <p:nvPr/>
        </p:nvSpPr>
        <p:spPr>
          <a:xfrm>
            <a:off x="3542647" y="2066544"/>
            <a:ext cx="164592" cy="164592"/>
          </a:xfrm>
          <a:prstGeom prst="ellipse">
            <a:avLst/>
          </a:prstGeom>
          <a:solidFill>
            <a:srgbClr val="2563EB"/>
          </a:solidFill>
          <a:ln w="25400">
            <a:solidFill>
              <a:srgbClr val="FFFFFF"/>
            </a:solidFill>
            <a:prstDash val="solid"/>
          </a:ln>
        </p:spPr>
      </p:sp>
      <p:sp>
        <p:nvSpPr>
          <p:cNvPr id="11" name="Text 9"/>
          <p:cNvSpPr/>
          <p:nvPr/>
        </p:nvSpPr>
        <p:spPr>
          <a:xfrm>
            <a:off x="2893423" y="1581912"/>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Neo4j integration</a:t>
            </a:r>
            <a:endParaRPr lang="en-US" sz="870" dirty="0"/>
          </a:p>
        </p:txBody>
      </p:sp>
      <p:sp>
        <p:nvSpPr>
          <p:cNvPr id="12" name="Shape 10"/>
          <p:cNvSpPr/>
          <p:nvPr/>
        </p:nvSpPr>
        <p:spPr>
          <a:xfrm>
            <a:off x="5012218" y="2066544"/>
            <a:ext cx="164592" cy="164592"/>
          </a:xfrm>
          <a:prstGeom prst="ellipse">
            <a:avLst/>
          </a:prstGeom>
          <a:solidFill>
            <a:srgbClr val="2563EB"/>
          </a:solidFill>
          <a:ln w="25400">
            <a:solidFill>
              <a:srgbClr val="FFFFFF"/>
            </a:solidFill>
            <a:prstDash val="solid"/>
          </a:ln>
        </p:spPr>
      </p:sp>
      <p:sp>
        <p:nvSpPr>
          <p:cNvPr id="13" name="Text 11"/>
          <p:cNvSpPr/>
          <p:nvPr/>
        </p:nvSpPr>
        <p:spPr>
          <a:xfrm>
            <a:off x="4362994" y="2331720"/>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Qdrant integration</a:t>
            </a:r>
            <a:endParaRPr lang="en-US" sz="870" dirty="0"/>
          </a:p>
        </p:txBody>
      </p:sp>
      <p:sp>
        <p:nvSpPr>
          <p:cNvPr id="14" name="Shape 12"/>
          <p:cNvSpPr/>
          <p:nvPr/>
        </p:nvSpPr>
        <p:spPr>
          <a:xfrm>
            <a:off x="6481790" y="2066544"/>
            <a:ext cx="164592" cy="164592"/>
          </a:xfrm>
          <a:prstGeom prst="ellipse">
            <a:avLst/>
          </a:prstGeom>
          <a:solidFill>
            <a:srgbClr val="2563EB"/>
          </a:solidFill>
          <a:ln w="25400">
            <a:solidFill>
              <a:srgbClr val="FFFFFF"/>
            </a:solidFill>
            <a:prstDash val="solid"/>
          </a:ln>
        </p:spPr>
      </p:sp>
      <p:sp>
        <p:nvSpPr>
          <p:cNvPr id="15" name="Text 13"/>
          <p:cNvSpPr/>
          <p:nvPr/>
        </p:nvSpPr>
        <p:spPr>
          <a:xfrm>
            <a:off x="5832566" y="1581912"/>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Graph traversal logic</a:t>
            </a:r>
            <a:endParaRPr lang="en-US" sz="870" dirty="0"/>
          </a:p>
        </p:txBody>
      </p:sp>
      <p:sp>
        <p:nvSpPr>
          <p:cNvPr id="16" name="Shape 14"/>
          <p:cNvSpPr/>
          <p:nvPr/>
        </p:nvSpPr>
        <p:spPr>
          <a:xfrm>
            <a:off x="7951361" y="2066544"/>
            <a:ext cx="164592" cy="164592"/>
          </a:xfrm>
          <a:prstGeom prst="ellipse">
            <a:avLst/>
          </a:prstGeom>
          <a:solidFill>
            <a:srgbClr val="2563EB"/>
          </a:solidFill>
          <a:ln w="25400">
            <a:solidFill>
              <a:srgbClr val="FFFFFF"/>
            </a:solidFill>
            <a:prstDash val="solid"/>
          </a:ln>
        </p:spPr>
      </p:sp>
      <p:sp>
        <p:nvSpPr>
          <p:cNvPr id="17" name="Text 15"/>
          <p:cNvSpPr/>
          <p:nvPr/>
        </p:nvSpPr>
        <p:spPr>
          <a:xfrm>
            <a:off x="7302137" y="2331720"/>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Postgres sync</a:t>
            </a:r>
            <a:endParaRPr lang="en-US" sz="870" dirty="0"/>
          </a:p>
        </p:txBody>
      </p:sp>
      <p:sp>
        <p:nvSpPr>
          <p:cNvPr id="18" name="Shape 16"/>
          <p:cNvSpPr/>
          <p:nvPr/>
        </p:nvSpPr>
        <p:spPr>
          <a:xfrm>
            <a:off x="9420933" y="2066544"/>
            <a:ext cx="164592" cy="164592"/>
          </a:xfrm>
          <a:prstGeom prst="ellipse">
            <a:avLst/>
          </a:prstGeom>
          <a:solidFill>
            <a:srgbClr val="2563EB"/>
          </a:solidFill>
          <a:ln w="25400">
            <a:solidFill>
              <a:srgbClr val="FFFFFF"/>
            </a:solidFill>
            <a:prstDash val="solid"/>
          </a:ln>
        </p:spPr>
      </p:sp>
      <p:sp>
        <p:nvSpPr>
          <p:cNvPr id="19" name="Text 17"/>
          <p:cNvSpPr/>
          <p:nvPr/>
        </p:nvSpPr>
        <p:spPr>
          <a:xfrm>
            <a:off x="8771709" y="1581912"/>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Semantic routing</a:t>
            </a:r>
            <a:endParaRPr lang="en-US" sz="870" dirty="0"/>
          </a:p>
        </p:txBody>
      </p:sp>
      <p:sp>
        <p:nvSpPr>
          <p:cNvPr id="20" name="Shape 18"/>
          <p:cNvSpPr/>
          <p:nvPr/>
        </p:nvSpPr>
        <p:spPr>
          <a:xfrm>
            <a:off x="10890504" y="2066544"/>
            <a:ext cx="164592" cy="164592"/>
          </a:xfrm>
          <a:prstGeom prst="ellipse">
            <a:avLst/>
          </a:prstGeom>
          <a:solidFill>
            <a:srgbClr val="2563EB"/>
          </a:solidFill>
          <a:ln w="25400">
            <a:solidFill>
              <a:srgbClr val="FFFFFF"/>
            </a:solidFill>
            <a:prstDash val="solid"/>
          </a:ln>
        </p:spPr>
      </p:sp>
      <p:sp>
        <p:nvSpPr>
          <p:cNvPr id="21" name="Text 19"/>
          <p:cNvSpPr/>
          <p:nvPr/>
        </p:nvSpPr>
        <p:spPr>
          <a:xfrm>
            <a:off x="10241280" y="2331720"/>
            <a:ext cx="1463040" cy="457200"/>
          </a:xfrm>
          <a:prstGeom prst="rect">
            <a:avLst/>
          </a:prstGeom>
          <a:noFill/>
          <a:ln/>
        </p:spPr>
        <p:txBody>
          <a:bodyPr wrap="square" lIns="0" tIns="0" rIns="0" bIns="0" rtlCol="0" anchor="ctr"/>
          <a:lstStyle/>
          <a:p>
            <a:pPr algn="ctr" indent="0" marL="0">
              <a:lnSpc>
                <a:spcPct val="105000"/>
              </a:lnSpc>
              <a:buNone/>
            </a:pPr>
            <a:r>
              <a:rPr lang="en-US" sz="870" b="1" dirty="0">
                <a:solidFill>
                  <a:srgbClr val="0F172A"/>
                </a:solidFill>
                <a:latin typeface="Inter" pitchFamily="34" charset="0"/>
                <a:ea typeface="Inter" pitchFamily="34" charset="-122"/>
                <a:cs typeface="Inter" pitchFamily="34" charset="-120"/>
              </a:rPr>
              <a:t>Dashboard integration</a:t>
            </a:r>
            <a:endParaRPr lang="en-US" sz="870" dirty="0"/>
          </a:p>
        </p:txBody>
      </p:sp>
      <p:sp>
        <p:nvSpPr>
          <p:cNvPr id="22" name="Text 20"/>
          <p:cNvSpPr/>
          <p:nvPr/>
        </p:nvSpPr>
        <p:spPr>
          <a:xfrm>
            <a:off x="548640" y="3246120"/>
            <a:ext cx="4572000" cy="274320"/>
          </a:xfrm>
          <a:prstGeom prst="rect">
            <a:avLst/>
          </a:prstGeom>
          <a:noFill/>
          <a:ln/>
        </p:spPr>
        <p:txBody>
          <a:bodyPr wrap="square" lIns="0" tIns="0" rIns="0" bIns="0" rtlCol="0" anchor="ctr"/>
          <a:lstStyle/>
          <a:p>
            <a:pPr indent="0" marL="0">
              <a:buNone/>
            </a:pPr>
            <a:r>
              <a:rPr lang="en-US" sz="1100" b="1" spc="150" kern="0" dirty="0">
                <a:solidFill>
                  <a:srgbClr val="10B981"/>
                </a:solidFill>
                <a:latin typeface="Inter" pitchFamily="34" charset="0"/>
                <a:ea typeface="Inter" pitchFamily="34" charset="-122"/>
                <a:cs typeface="Inter" pitchFamily="34" charset="-120"/>
              </a:rPr>
              <a:t>FUTURE ROADMAP</a:t>
            </a:r>
            <a:endParaRPr lang="en-US" sz="1100" dirty="0"/>
          </a:p>
        </p:txBody>
      </p:sp>
      <p:sp>
        <p:nvSpPr>
          <p:cNvPr id="23" name="Shape 21"/>
          <p:cNvSpPr/>
          <p:nvPr/>
        </p:nvSpPr>
        <p:spPr>
          <a:xfrm>
            <a:off x="548640" y="3657600"/>
            <a:ext cx="3611880" cy="2606040"/>
          </a:xfrm>
          <a:prstGeom prst="roundRect">
            <a:avLst>
              <a:gd name="adj" fmla="val 4211"/>
            </a:avLst>
          </a:prstGeom>
          <a:solidFill>
            <a:srgbClr val="F1F5F9"/>
          </a:solidFill>
          <a:ln/>
          <a:effectLst>
            <a:outerShdw sx="100000" sy="100000" kx="0" ky="0" algn="bl" rotWithShape="0" blurRad="127000" dist="38100" dir="5400000">
              <a:srgbClr val="0F172A">
                <a:alpha val="10000"/>
              </a:srgbClr>
            </a:outerShdw>
          </a:effectLst>
        </p:spPr>
      </p:sp>
      <p:sp>
        <p:nvSpPr>
          <p:cNvPr id="24" name="Shape 22"/>
          <p:cNvSpPr/>
          <p:nvPr/>
        </p:nvSpPr>
        <p:spPr>
          <a:xfrm>
            <a:off x="804672" y="3877056"/>
            <a:ext cx="1554480" cy="292608"/>
          </a:xfrm>
          <a:prstGeom prst="roundRect">
            <a:avLst>
              <a:gd name="adj" fmla="val 18750"/>
            </a:avLst>
          </a:prstGeom>
          <a:solidFill>
            <a:srgbClr val="2563EB"/>
          </a:solidFill>
          <a:ln/>
        </p:spPr>
      </p:sp>
      <p:sp>
        <p:nvSpPr>
          <p:cNvPr id="25" name="Text 23"/>
          <p:cNvSpPr/>
          <p:nvPr/>
        </p:nvSpPr>
        <p:spPr>
          <a:xfrm>
            <a:off x="804672" y="3877056"/>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Near-Term</a:t>
            </a:r>
            <a:endParaRPr lang="en-US" sz="1050" dirty="0"/>
          </a:p>
        </p:txBody>
      </p:sp>
      <p:pic>
        <p:nvPicPr>
          <p:cNvPr id="26" name="Image 0" descr="/home/claude/civic-deck/icons/rocket.png">    </p:cNvPr>
          <p:cNvPicPr>
            <a:picLocks noChangeAspect="1"/>
          </p:cNvPicPr>
          <p:nvPr/>
        </p:nvPicPr>
        <p:blipFill>
          <a:blip r:embed="rId1"/>
          <a:stretch>
            <a:fillRect/>
          </a:stretch>
        </p:blipFill>
        <p:spPr>
          <a:xfrm>
            <a:off x="804672" y="4398264"/>
            <a:ext cx="182880" cy="182880"/>
          </a:xfrm>
          <a:prstGeom prst="rect">
            <a:avLst/>
          </a:prstGeom>
        </p:spPr>
      </p:pic>
      <p:sp>
        <p:nvSpPr>
          <p:cNvPr id="27" name="Text 24"/>
          <p:cNvSpPr/>
          <p:nvPr/>
        </p:nvSpPr>
        <p:spPr>
          <a:xfrm>
            <a:off x="1078992" y="4315968"/>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Automatic complaint prioritization</a:t>
            </a:r>
            <a:endParaRPr lang="en-US" sz="970" dirty="0"/>
          </a:p>
        </p:txBody>
      </p:sp>
      <p:pic>
        <p:nvPicPr>
          <p:cNvPr id="28" name="Image 1" descr="/home/claude/civic-deck/icons/rocket.png">    </p:cNvPr>
          <p:cNvPicPr>
            <a:picLocks noChangeAspect="1"/>
          </p:cNvPicPr>
          <p:nvPr/>
        </p:nvPicPr>
        <p:blipFill>
          <a:blip r:embed="rId2"/>
          <a:stretch>
            <a:fillRect/>
          </a:stretch>
        </p:blipFill>
        <p:spPr>
          <a:xfrm>
            <a:off x="804672" y="4873752"/>
            <a:ext cx="182880" cy="182880"/>
          </a:xfrm>
          <a:prstGeom prst="rect">
            <a:avLst/>
          </a:prstGeom>
        </p:spPr>
      </p:pic>
      <p:sp>
        <p:nvSpPr>
          <p:cNvPr id="29" name="Text 25"/>
          <p:cNvSpPr/>
          <p:nvPr/>
        </p:nvSpPr>
        <p:spPr>
          <a:xfrm>
            <a:off x="1078992" y="4791456"/>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Multi-language understanding</a:t>
            </a:r>
            <a:endParaRPr lang="en-US" sz="970" dirty="0"/>
          </a:p>
        </p:txBody>
      </p:sp>
      <p:pic>
        <p:nvPicPr>
          <p:cNvPr id="30" name="Image 2" descr="/home/claude/civic-deck/icons/rocket.png">    </p:cNvPr>
          <p:cNvPicPr>
            <a:picLocks noChangeAspect="1"/>
          </p:cNvPicPr>
          <p:nvPr/>
        </p:nvPicPr>
        <p:blipFill>
          <a:blip r:embed="rId3"/>
          <a:stretch>
            <a:fillRect/>
          </a:stretch>
        </p:blipFill>
        <p:spPr>
          <a:xfrm>
            <a:off x="804672" y="5349240"/>
            <a:ext cx="182880" cy="182880"/>
          </a:xfrm>
          <a:prstGeom prst="rect">
            <a:avLst/>
          </a:prstGeom>
        </p:spPr>
      </p:pic>
      <p:sp>
        <p:nvSpPr>
          <p:cNvPr id="31" name="Text 26"/>
          <p:cNvSpPr/>
          <p:nvPr/>
        </p:nvSpPr>
        <p:spPr>
          <a:xfrm>
            <a:off x="1078992" y="5266944"/>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Image-based issue detection</a:t>
            </a:r>
            <a:endParaRPr lang="en-US" sz="970" dirty="0"/>
          </a:p>
        </p:txBody>
      </p:sp>
      <p:sp>
        <p:nvSpPr>
          <p:cNvPr id="32" name="Shape 27"/>
          <p:cNvSpPr/>
          <p:nvPr/>
        </p:nvSpPr>
        <p:spPr>
          <a:xfrm>
            <a:off x="4379976" y="3657600"/>
            <a:ext cx="3611880" cy="2606040"/>
          </a:xfrm>
          <a:prstGeom prst="roundRect">
            <a:avLst>
              <a:gd name="adj" fmla="val 4211"/>
            </a:avLst>
          </a:prstGeom>
          <a:solidFill>
            <a:srgbClr val="F1F5F9"/>
          </a:solidFill>
          <a:ln/>
          <a:effectLst>
            <a:outerShdw sx="100000" sy="100000" kx="0" ky="0" algn="bl" rotWithShape="0" blurRad="127000" dist="38100" dir="5400000">
              <a:srgbClr val="0F172A">
                <a:alpha val="10000"/>
              </a:srgbClr>
            </a:outerShdw>
          </a:effectLst>
        </p:spPr>
      </p:sp>
      <p:sp>
        <p:nvSpPr>
          <p:cNvPr id="33" name="Shape 28"/>
          <p:cNvSpPr/>
          <p:nvPr/>
        </p:nvSpPr>
        <p:spPr>
          <a:xfrm>
            <a:off x="4636008" y="3877056"/>
            <a:ext cx="1554480" cy="292608"/>
          </a:xfrm>
          <a:prstGeom prst="roundRect">
            <a:avLst>
              <a:gd name="adj" fmla="val 18750"/>
            </a:avLst>
          </a:prstGeom>
          <a:solidFill>
            <a:srgbClr val="7C3AED"/>
          </a:solidFill>
          <a:ln/>
        </p:spPr>
      </p:sp>
      <p:sp>
        <p:nvSpPr>
          <p:cNvPr id="34" name="Text 29"/>
          <p:cNvSpPr/>
          <p:nvPr/>
        </p:nvSpPr>
        <p:spPr>
          <a:xfrm>
            <a:off x="4636008" y="3877056"/>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Mid-Term</a:t>
            </a:r>
            <a:endParaRPr lang="en-US" sz="1050" dirty="0"/>
          </a:p>
        </p:txBody>
      </p:sp>
      <p:pic>
        <p:nvPicPr>
          <p:cNvPr id="35" name="Image 3" descr="/home/claude/civic-deck/icons/rocket.png">    </p:cNvPr>
          <p:cNvPicPr>
            <a:picLocks noChangeAspect="1"/>
          </p:cNvPicPr>
          <p:nvPr/>
        </p:nvPicPr>
        <p:blipFill>
          <a:blip r:embed="rId4"/>
          <a:stretch>
            <a:fillRect/>
          </a:stretch>
        </p:blipFill>
        <p:spPr>
          <a:xfrm>
            <a:off x="4636008" y="4398264"/>
            <a:ext cx="182880" cy="182880"/>
          </a:xfrm>
          <a:prstGeom prst="rect">
            <a:avLst/>
          </a:prstGeom>
        </p:spPr>
      </p:pic>
      <p:sp>
        <p:nvSpPr>
          <p:cNvPr id="36" name="Text 30"/>
          <p:cNvSpPr/>
          <p:nvPr/>
        </p:nvSpPr>
        <p:spPr>
          <a:xfrm>
            <a:off x="4910328" y="4315968"/>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GIS integration</a:t>
            </a:r>
            <a:endParaRPr lang="en-US" sz="970" dirty="0"/>
          </a:p>
        </p:txBody>
      </p:sp>
      <p:pic>
        <p:nvPicPr>
          <p:cNvPr id="37" name="Image 4" descr="/home/claude/civic-deck/icons/rocket.png">    </p:cNvPr>
          <p:cNvPicPr>
            <a:picLocks noChangeAspect="1"/>
          </p:cNvPicPr>
          <p:nvPr/>
        </p:nvPicPr>
        <p:blipFill>
          <a:blip r:embed="rId5"/>
          <a:stretch>
            <a:fillRect/>
          </a:stretch>
        </p:blipFill>
        <p:spPr>
          <a:xfrm>
            <a:off x="4636008" y="4873752"/>
            <a:ext cx="182880" cy="182880"/>
          </a:xfrm>
          <a:prstGeom prst="rect">
            <a:avLst/>
          </a:prstGeom>
        </p:spPr>
      </p:pic>
      <p:sp>
        <p:nvSpPr>
          <p:cNvPr id="38" name="Text 31"/>
          <p:cNvSpPr/>
          <p:nvPr/>
        </p:nvSpPr>
        <p:spPr>
          <a:xfrm>
            <a:off x="4910328" y="4791456"/>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Predictive maintenance</a:t>
            </a:r>
            <a:endParaRPr lang="en-US" sz="970" dirty="0"/>
          </a:p>
        </p:txBody>
      </p:sp>
      <p:pic>
        <p:nvPicPr>
          <p:cNvPr id="39" name="Image 5" descr="/home/claude/civic-deck/icons/rocket.png">    </p:cNvPr>
          <p:cNvPicPr>
            <a:picLocks noChangeAspect="1"/>
          </p:cNvPicPr>
          <p:nvPr/>
        </p:nvPicPr>
        <p:blipFill>
          <a:blip r:embed="rId6"/>
          <a:stretch>
            <a:fillRect/>
          </a:stretch>
        </p:blipFill>
        <p:spPr>
          <a:xfrm>
            <a:off x="4636008" y="5349240"/>
            <a:ext cx="182880" cy="182880"/>
          </a:xfrm>
          <a:prstGeom prst="rect">
            <a:avLst/>
          </a:prstGeom>
        </p:spPr>
      </p:pic>
      <p:sp>
        <p:nvSpPr>
          <p:cNvPr id="40" name="Text 32"/>
          <p:cNvSpPr/>
          <p:nvPr/>
        </p:nvSpPr>
        <p:spPr>
          <a:xfrm>
            <a:off x="4910328" y="5266944"/>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Mobile application</a:t>
            </a:r>
            <a:endParaRPr lang="en-US" sz="970" dirty="0"/>
          </a:p>
        </p:txBody>
      </p:sp>
      <p:sp>
        <p:nvSpPr>
          <p:cNvPr id="41" name="Shape 33"/>
          <p:cNvSpPr/>
          <p:nvPr/>
        </p:nvSpPr>
        <p:spPr>
          <a:xfrm>
            <a:off x="8211312" y="3657600"/>
            <a:ext cx="3611880" cy="2606040"/>
          </a:xfrm>
          <a:prstGeom prst="roundRect">
            <a:avLst>
              <a:gd name="adj" fmla="val 4211"/>
            </a:avLst>
          </a:prstGeom>
          <a:solidFill>
            <a:srgbClr val="F1F5F9"/>
          </a:solidFill>
          <a:ln/>
          <a:effectLst>
            <a:outerShdw sx="100000" sy="100000" kx="0" ky="0" algn="bl" rotWithShape="0" blurRad="127000" dist="38100" dir="5400000">
              <a:srgbClr val="0F172A">
                <a:alpha val="10000"/>
              </a:srgbClr>
            </a:outerShdw>
          </a:effectLst>
        </p:spPr>
      </p:sp>
      <p:sp>
        <p:nvSpPr>
          <p:cNvPr id="42" name="Shape 34"/>
          <p:cNvSpPr/>
          <p:nvPr/>
        </p:nvSpPr>
        <p:spPr>
          <a:xfrm>
            <a:off x="8467344" y="3877056"/>
            <a:ext cx="1554480" cy="292608"/>
          </a:xfrm>
          <a:prstGeom prst="roundRect">
            <a:avLst>
              <a:gd name="adj" fmla="val 18750"/>
            </a:avLst>
          </a:prstGeom>
          <a:solidFill>
            <a:srgbClr val="10B981"/>
          </a:solidFill>
          <a:ln/>
        </p:spPr>
      </p:sp>
      <p:sp>
        <p:nvSpPr>
          <p:cNvPr id="43" name="Text 35"/>
          <p:cNvSpPr/>
          <p:nvPr/>
        </p:nvSpPr>
        <p:spPr>
          <a:xfrm>
            <a:off x="8467344" y="3877056"/>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Long-Term</a:t>
            </a:r>
            <a:endParaRPr lang="en-US" sz="1050" dirty="0"/>
          </a:p>
        </p:txBody>
      </p:sp>
      <p:pic>
        <p:nvPicPr>
          <p:cNvPr id="44" name="Image 6" descr="/home/claude/civic-deck/icons/rocket.png">    </p:cNvPr>
          <p:cNvPicPr>
            <a:picLocks noChangeAspect="1"/>
          </p:cNvPicPr>
          <p:nvPr/>
        </p:nvPicPr>
        <p:blipFill>
          <a:blip r:embed="rId7"/>
          <a:stretch>
            <a:fillRect/>
          </a:stretch>
        </p:blipFill>
        <p:spPr>
          <a:xfrm>
            <a:off x="8467344" y="4398264"/>
            <a:ext cx="182880" cy="182880"/>
          </a:xfrm>
          <a:prstGeom prst="rect">
            <a:avLst/>
          </a:prstGeom>
        </p:spPr>
      </p:pic>
      <p:sp>
        <p:nvSpPr>
          <p:cNvPr id="45" name="Text 36"/>
          <p:cNvSpPr/>
          <p:nvPr/>
        </p:nvSpPr>
        <p:spPr>
          <a:xfrm>
            <a:off x="8741664" y="4315968"/>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Citizen notifications</a:t>
            </a:r>
            <a:endParaRPr lang="en-US" sz="970" dirty="0"/>
          </a:p>
        </p:txBody>
      </p:sp>
      <p:pic>
        <p:nvPicPr>
          <p:cNvPr id="46" name="Image 7" descr="/home/claude/civic-deck/icons/rocket.png">    </p:cNvPr>
          <p:cNvPicPr>
            <a:picLocks noChangeAspect="1"/>
          </p:cNvPicPr>
          <p:nvPr/>
        </p:nvPicPr>
        <p:blipFill>
          <a:blip r:embed="rId8"/>
          <a:stretch>
            <a:fillRect/>
          </a:stretch>
        </p:blipFill>
        <p:spPr>
          <a:xfrm>
            <a:off x="8467344" y="4873752"/>
            <a:ext cx="182880" cy="182880"/>
          </a:xfrm>
          <a:prstGeom prst="rect">
            <a:avLst/>
          </a:prstGeom>
        </p:spPr>
      </p:pic>
      <p:sp>
        <p:nvSpPr>
          <p:cNvPr id="47" name="Text 37"/>
          <p:cNvSpPr/>
          <p:nvPr/>
        </p:nvSpPr>
        <p:spPr>
          <a:xfrm>
            <a:off x="8741664" y="4791456"/>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Smart city analytics</a:t>
            </a:r>
            <a:endParaRPr lang="en-US" sz="970" dirty="0"/>
          </a:p>
        </p:txBody>
      </p:sp>
      <p:pic>
        <p:nvPicPr>
          <p:cNvPr id="48" name="Image 8" descr="/home/claude/civic-deck/icons/rocket.png">    </p:cNvPr>
          <p:cNvPicPr>
            <a:picLocks noChangeAspect="1"/>
          </p:cNvPicPr>
          <p:nvPr/>
        </p:nvPicPr>
        <p:blipFill>
          <a:blip r:embed="rId9"/>
          <a:stretch>
            <a:fillRect/>
          </a:stretch>
        </p:blipFill>
        <p:spPr>
          <a:xfrm>
            <a:off x="8467344" y="5349240"/>
            <a:ext cx="182880" cy="182880"/>
          </a:xfrm>
          <a:prstGeom prst="rect">
            <a:avLst/>
          </a:prstGeom>
        </p:spPr>
      </p:pic>
      <p:sp>
        <p:nvSpPr>
          <p:cNvPr id="49" name="Text 38"/>
          <p:cNvSpPr/>
          <p:nvPr/>
        </p:nvSpPr>
        <p:spPr>
          <a:xfrm>
            <a:off x="8741664" y="5266944"/>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LLM fine-tuning</a:t>
            </a:r>
            <a:endParaRPr lang="en-US" sz="970" dirty="0"/>
          </a:p>
        </p:txBody>
      </p:sp>
      <p:pic>
        <p:nvPicPr>
          <p:cNvPr id="50" name="Image 9" descr="/home/claude/civic-deck/icons/rocket.png">    </p:cNvPr>
          <p:cNvPicPr>
            <a:picLocks noChangeAspect="1"/>
          </p:cNvPicPr>
          <p:nvPr/>
        </p:nvPicPr>
        <p:blipFill>
          <a:blip r:embed="rId10"/>
          <a:stretch>
            <a:fillRect/>
          </a:stretch>
        </p:blipFill>
        <p:spPr>
          <a:xfrm>
            <a:off x="8467344" y="5824728"/>
            <a:ext cx="182880" cy="182880"/>
          </a:xfrm>
          <a:prstGeom prst="rect">
            <a:avLst/>
          </a:prstGeom>
        </p:spPr>
      </p:pic>
      <p:sp>
        <p:nvSpPr>
          <p:cNvPr id="51" name="Text 39"/>
          <p:cNvSpPr/>
          <p:nvPr/>
        </p:nvSpPr>
        <p:spPr>
          <a:xfrm>
            <a:off x="8741664" y="5742432"/>
            <a:ext cx="2834640" cy="365760"/>
          </a:xfrm>
          <a:prstGeom prst="rect">
            <a:avLst/>
          </a:prstGeom>
          <a:noFill/>
          <a:ln/>
        </p:spPr>
        <p:txBody>
          <a:bodyPr wrap="square" lIns="0" tIns="0" rIns="0" bIns="0" rtlCol="0" anchor="ctr"/>
          <a:lstStyle/>
          <a:p>
            <a:pPr indent="0" marL="0">
              <a:lnSpc>
                <a:spcPct val="110000"/>
              </a:lnSpc>
              <a:buNone/>
            </a:pPr>
            <a:r>
              <a:rPr lang="en-US" sz="970" dirty="0">
                <a:solidFill>
                  <a:srgbClr val="0F172A"/>
                </a:solidFill>
                <a:latin typeface="Inter" pitchFamily="34" charset="0"/>
                <a:ea typeface="Inter" pitchFamily="34" charset="-122"/>
                <a:cs typeface="Inter" pitchFamily="34" charset="-120"/>
              </a:rPr>
              <a:t>Department workload balancing</a:t>
            </a:r>
            <a:endParaRPr lang="en-US" sz="970" dirty="0"/>
          </a:p>
        </p:txBody>
      </p:sp>
      <p:sp>
        <p:nvSpPr>
          <p:cNvPr id="52" name="Text 40"/>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150" kern="0" dirty="0">
                <a:solidFill>
                  <a:srgbClr val="94A3B8"/>
                </a:solidFill>
                <a:latin typeface="Inter" pitchFamily="34" charset="0"/>
                <a:ea typeface="Inter" pitchFamily="34" charset="-122"/>
                <a:cs typeface="Inter" pitchFamily="34" charset="-120"/>
              </a:rPr>
              <a:t>CIVIC INTELLIGENCE</a:t>
            </a:r>
            <a:endParaRPr lang="en-US" sz="900" dirty="0"/>
          </a:p>
        </p:txBody>
      </p:sp>
      <p:sp>
        <p:nvSpPr>
          <p:cNvPr id="53" name="Text 41"/>
          <p:cNvSpPr/>
          <p:nvPr/>
        </p:nvSpPr>
        <p:spPr>
          <a:xfrm>
            <a:off x="3808476" y="6473952"/>
            <a:ext cx="4572000" cy="274320"/>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Challenges &amp; Roadmap</a:t>
            </a:r>
            <a:endParaRPr lang="en-US" sz="900" dirty="0"/>
          </a:p>
        </p:txBody>
      </p:sp>
      <p:sp>
        <p:nvSpPr>
          <p:cNvPr id="54" name="Text 42"/>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b="1" dirty="0">
                <a:solidFill>
                  <a:srgbClr val="94A3B8"/>
                </a:solidFill>
                <a:latin typeface="Space Grotesk" pitchFamily="34" charset="0"/>
                <a:ea typeface="Space Grotesk" pitchFamily="34" charset="-122"/>
                <a:cs typeface="Space Grotesk"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2960" y="4937760"/>
            <a:ext cx="384048" cy="457200"/>
          </a:xfrm>
          <a:prstGeom prst="rect">
            <a:avLst/>
          </a:prstGeom>
          <a:solidFill>
            <a:srgbClr val="1E3A5F"/>
          </a:solidFill>
          <a:ln/>
        </p:spPr>
      </p:sp>
      <p:sp>
        <p:nvSpPr>
          <p:cNvPr id="3" name="Shape 1"/>
          <p:cNvSpPr/>
          <p:nvPr/>
        </p:nvSpPr>
        <p:spPr>
          <a:xfrm>
            <a:off x="1325880" y="4572000"/>
            <a:ext cx="384048" cy="822960"/>
          </a:xfrm>
          <a:prstGeom prst="rect">
            <a:avLst/>
          </a:prstGeom>
          <a:solidFill>
            <a:srgbClr val="1E3A5F"/>
          </a:solidFill>
          <a:ln/>
        </p:spPr>
      </p:sp>
      <p:sp>
        <p:nvSpPr>
          <p:cNvPr id="4" name="Shape 2"/>
          <p:cNvSpPr/>
          <p:nvPr/>
        </p:nvSpPr>
        <p:spPr>
          <a:xfrm>
            <a:off x="1828800" y="4800600"/>
            <a:ext cx="384048" cy="594360"/>
          </a:xfrm>
          <a:prstGeom prst="rect">
            <a:avLst/>
          </a:prstGeom>
          <a:solidFill>
            <a:srgbClr val="1E3A5F"/>
          </a:solidFill>
          <a:ln/>
        </p:spPr>
      </p:sp>
      <p:sp>
        <p:nvSpPr>
          <p:cNvPr id="5" name="Shape 3"/>
          <p:cNvSpPr/>
          <p:nvPr/>
        </p:nvSpPr>
        <p:spPr>
          <a:xfrm>
            <a:off x="2331720" y="4297680"/>
            <a:ext cx="384048" cy="1097280"/>
          </a:xfrm>
          <a:prstGeom prst="rect">
            <a:avLst/>
          </a:prstGeom>
          <a:solidFill>
            <a:srgbClr val="1E3A5F"/>
          </a:solidFill>
          <a:ln/>
        </p:spPr>
      </p:sp>
      <p:sp>
        <p:nvSpPr>
          <p:cNvPr id="6" name="Shape 4"/>
          <p:cNvSpPr/>
          <p:nvPr/>
        </p:nvSpPr>
        <p:spPr>
          <a:xfrm>
            <a:off x="2834640" y="4892040"/>
            <a:ext cx="384048" cy="502920"/>
          </a:xfrm>
          <a:prstGeom prst="rect">
            <a:avLst/>
          </a:prstGeom>
          <a:solidFill>
            <a:srgbClr val="1E3A5F"/>
          </a:solidFill>
          <a:ln/>
        </p:spPr>
      </p:sp>
      <p:sp>
        <p:nvSpPr>
          <p:cNvPr id="7" name="Shape 5"/>
          <p:cNvSpPr/>
          <p:nvPr/>
        </p:nvSpPr>
        <p:spPr>
          <a:xfrm>
            <a:off x="3337560" y="4480560"/>
            <a:ext cx="384048" cy="914400"/>
          </a:xfrm>
          <a:prstGeom prst="rect">
            <a:avLst/>
          </a:prstGeom>
          <a:solidFill>
            <a:srgbClr val="1E3A5F"/>
          </a:solidFill>
          <a:ln/>
        </p:spPr>
      </p:sp>
      <p:sp>
        <p:nvSpPr>
          <p:cNvPr id="8" name="Shape 6"/>
          <p:cNvSpPr/>
          <p:nvPr/>
        </p:nvSpPr>
        <p:spPr>
          <a:xfrm>
            <a:off x="3840480" y="4709160"/>
            <a:ext cx="384048" cy="685800"/>
          </a:xfrm>
          <a:prstGeom prst="rect">
            <a:avLst/>
          </a:prstGeom>
          <a:solidFill>
            <a:srgbClr val="1E3A5F"/>
          </a:solidFill>
          <a:ln/>
        </p:spPr>
      </p:sp>
      <p:sp>
        <p:nvSpPr>
          <p:cNvPr id="9" name="Shape 7"/>
          <p:cNvSpPr/>
          <p:nvPr/>
        </p:nvSpPr>
        <p:spPr>
          <a:xfrm>
            <a:off x="4343400" y="4983480"/>
            <a:ext cx="384048" cy="411480"/>
          </a:xfrm>
          <a:prstGeom prst="rect">
            <a:avLst/>
          </a:prstGeom>
          <a:solidFill>
            <a:srgbClr val="1E3A5F"/>
          </a:solidFill>
          <a:ln/>
        </p:spPr>
      </p:sp>
      <p:sp>
        <p:nvSpPr>
          <p:cNvPr id="10" name="Shape 8"/>
          <p:cNvSpPr/>
          <p:nvPr/>
        </p:nvSpPr>
        <p:spPr>
          <a:xfrm>
            <a:off x="4846320" y="4389120"/>
            <a:ext cx="384048" cy="1005840"/>
          </a:xfrm>
          <a:prstGeom prst="rect">
            <a:avLst/>
          </a:prstGeom>
          <a:solidFill>
            <a:srgbClr val="1E3A5F"/>
          </a:solidFill>
          <a:ln/>
        </p:spPr>
      </p:sp>
      <p:sp>
        <p:nvSpPr>
          <p:cNvPr id="11" name="Shape 9"/>
          <p:cNvSpPr/>
          <p:nvPr/>
        </p:nvSpPr>
        <p:spPr>
          <a:xfrm>
            <a:off x="5349240" y="4846320"/>
            <a:ext cx="384048" cy="548640"/>
          </a:xfrm>
          <a:prstGeom prst="rect">
            <a:avLst/>
          </a:prstGeom>
          <a:solidFill>
            <a:srgbClr val="1E3A5F"/>
          </a:solidFill>
          <a:ln/>
        </p:spPr>
      </p:sp>
      <p:sp>
        <p:nvSpPr>
          <p:cNvPr id="12" name="Shape 10"/>
          <p:cNvSpPr/>
          <p:nvPr/>
        </p:nvSpPr>
        <p:spPr>
          <a:xfrm flipV="1">
            <a:off x="1097280" y="3840480"/>
            <a:ext cx="1097280" cy="365760"/>
          </a:xfrm>
          <a:prstGeom prst="line">
            <a:avLst/>
          </a:prstGeom>
          <a:noFill/>
          <a:ln w="19050">
            <a:solidFill>
              <a:srgbClr val="3B82F6">
                <a:alpha val="75000"/>
              </a:srgbClr>
            </a:solidFill>
            <a:prstDash val="solid"/>
          </a:ln>
        </p:spPr>
      </p:sp>
      <p:sp>
        <p:nvSpPr>
          <p:cNvPr id="13" name="Shape 11"/>
          <p:cNvSpPr/>
          <p:nvPr/>
        </p:nvSpPr>
        <p:spPr>
          <a:xfrm>
            <a:off x="2194560" y="3840480"/>
            <a:ext cx="1097280" cy="502920"/>
          </a:xfrm>
          <a:prstGeom prst="line">
            <a:avLst/>
          </a:prstGeom>
          <a:noFill/>
          <a:ln w="19050">
            <a:solidFill>
              <a:srgbClr val="3B82F6">
                <a:alpha val="75000"/>
              </a:srgbClr>
            </a:solidFill>
            <a:prstDash val="solid"/>
          </a:ln>
        </p:spPr>
      </p:sp>
      <p:sp>
        <p:nvSpPr>
          <p:cNvPr id="14" name="Shape 12"/>
          <p:cNvSpPr/>
          <p:nvPr/>
        </p:nvSpPr>
        <p:spPr>
          <a:xfrm flipV="1">
            <a:off x="3291840" y="3794760"/>
            <a:ext cx="1097280" cy="548640"/>
          </a:xfrm>
          <a:prstGeom prst="line">
            <a:avLst/>
          </a:prstGeom>
          <a:noFill/>
          <a:ln w="19050">
            <a:solidFill>
              <a:srgbClr val="3B82F6">
                <a:alpha val="75000"/>
              </a:srgbClr>
            </a:solidFill>
            <a:prstDash val="solid"/>
          </a:ln>
        </p:spPr>
      </p:sp>
      <p:sp>
        <p:nvSpPr>
          <p:cNvPr id="15" name="Shape 13"/>
          <p:cNvSpPr/>
          <p:nvPr/>
        </p:nvSpPr>
        <p:spPr>
          <a:xfrm>
            <a:off x="4389120" y="3794760"/>
            <a:ext cx="1097280" cy="365760"/>
          </a:xfrm>
          <a:prstGeom prst="line">
            <a:avLst/>
          </a:prstGeom>
          <a:noFill/>
          <a:ln w="19050">
            <a:solidFill>
              <a:srgbClr val="3B82F6">
                <a:alpha val="75000"/>
              </a:srgbClr>
            </a:solidFill>
            <a:prstDash val="solid"/>
          </a:ln>
        </p:spPr>
      </p:sp>
      <p:sp>
        <p:nvSpPr>
          <p:cNvPr id="16" name="Shape 14"/>
          <p:cNvSpPr/>
          <p:nvPr/>
        </p:nvSpPr>
        <p:spPr>
          <a:xfrm>
            <a:off x="1042416" y="4151376"/>
            <a:ext cx="109728" cy="109728"/>
          </a:xfrm>
          <a:prstGeom prst="ellipse">
            <a:avLst/>
          </a:prstGeom>
          <a:solidFill>
            <a:srgbClr val="10B981"/>
          </a:solidFill>
          <a:ln/>
        </p:spPr>
      </p:sp>
      <p:sp>
        <p:nvSpPr>
          <p:cNvPr id="17" name="Shape 15"/>
          <p:cNvSpPr/>
          <p:nvPr/>
        </p:nvSpPr>
        <p:spPr>
          <a:xfrm>
            <a:off x="2139696" y="3785616"/>
            <a:ext cx="109728" cy="109728"/>
          </a:xfrm>
          <a:prstGeom prst="ellipse">
            <a:avLst/>
          </a:prstGeom>
          <a:solidFill>
            <a:srgbClr val="10B981"/>
          </a:solidFill>
          <a:ln/>
        </p:spPr>
      </p:sp>
      <p:sp>
        <p:nvSpPr>
          <p:cNvPr id="18" name="Shape 16"/>
          <p:cNvSpPr/>
          <p:nvPr/>
        </p:nvSpPr>
        <p:spPr>
          <a:xfrm>
            <a:off x="3236976" y="4288536"/>
            <a:ext cx="109728" cy="109728"/>
          </a:xfrm>
          <a:prstGeom prst="ellipse">
            <a:avLst/>
          </a:prstGeom>
          <a:solidFill>
            <a:srgbClr val="10B981"/>
          </a:solidFill>
          <a:ln/>
        </p:spPr>
      </p:sp>
      <p:sp>
        <p:nvSpPr>
          <p:cNvPr id="19" name="Shape 17"/>
          <p:cNvSpPr/>
          <p:nvPr/>
        </p:nvSpPr>
        <p:spPr>
          <a:xfrm>
            <a:off x="4334256" y="3739896"/>
            <a:ext cx="109728" cy="109728"/>
          </a:xfrm>
          <a:prstGeom prst="ellipse">
            <a:avLst/>
          </a:prstGeom>
          <a:solidFill>
            <a:srgbClr val="10B981"/>
          </a:solidFill>
          <a:ln/>
        </p:spPr>
      </p:sp>
      <p:sp>
        <p:nvSpPr>
          <p:cNvPr id="20" name="Shape 18"/>
          <p:cNvSpPr/>
          <p:nvPr/>
        </p:nvSpPr>
        <p:spPr>
          <a:xfrm>
            <a:off x="5431536" y="4105656"/>
            <a:ext cx="109728" cy="109728"/>
          </a:xfrm>
          <a:prstGeom prst="ellipse">
            <a:avLst/>
          </a:prstGeom>
          <a:solidFill>
            <a:srgbClr val="10B981"/>
          </a:solidFill>
          <a:ln/>
        </p:spPr>
      </p:sp>
      <p:sp>
        <p:nvSpPr>
          <p:cNvPr id="21" name="Shape 19"/>
          <p:cNvSpPr/>
          <p:nvPr/>
        </p:nvSpPr>
        <p:spPr>
          <a:xfrm>
            <a:off x="9006840" y="1417320"/>
            <a:ext cx="1371600" cy="1371600"/>
          </a:xfrm>
          <a:prstGeom prst="ellipse">
            <a:avLst/>
          </a:prstGeom>
          <a:solidFill>
            <a:srgbClr val="132043"/>
          </a:solidFill>
          <a:ln/>
          <a:effectLst>
            <a:outerShdw sx="100000" sy="100000" kx="0" ky="0" algn="bl" rotWithShape="0" blurRad="101600" dist="38100" dir="5400000">
              <a:srgbClr val="0F172A">
                <a:alpha val="18000"/>
              </a:srgbClr>
            </a:outerShdw>
          </a:effectLst>
        </p:spPr>
      </p:sp>
      <p:pic>
        <p:nvPicPr>
          <p:cNvPr id="22" name="Image 0" descr="/home/claude/civic-deck/icons/handshake.png">    </p:cNvPr>
          <p:cNvPicPr>
            <a:picLocks noChangeAspect="1"/>
          </p:cNvPicPr>
          <p:nvPr/>
        </p:nvPicPr>
        <p:blipFill>
          <a:blip r:embed="rId2"/>
          <a:stretch>
            <a:fillRect/>
          </a:stretch>
        </p:blipFill>
        <p:spPr>
          <a:xfrm>
            <a:off x="9349740" y="1760220"/>
            <a:ext cx="685800" cy="685800"/>
          </a:xfrm>
          <a:prstGeom prst="rect">
            <a:avLst/>
          </a:prstGeom>
        </p:spPr>
      </p:pic>
      <p:sp>
        <p:nvSpPr>
          <p:cNvPr id="23" name="Text 20"/>
          <p:cNvSpPr/>
          <p:nvPr/>
        </p:nvSpPr>
        <p:spPr>
          <a:xfrm>
            <a:off x="822960" y="2788920"/>
            <a:ext cx="7315200" cy="822960"/>
          </a:xfrm>
          <a:prstGeom prst="rect">
            <a:avLst/>
          </a:prstGeom>
          <a:noFill/>
          <a:ln/>
        </p:spPr>
        <p:txBody>
          <a:bodyPr wrap="square" lIns="0" tIns="0" rIns="0" bIns="0" rtlCol="0" anchor="ctr"/>
          <a:lstStyle/>
          <a:p>
            <a:pPr indent="0" marL="0">
              <a:buNone/>
            </a:pPr>
            <a:r>
              <a:rPr lang="en-US" sz="5200" b="1" dirty="0">
                <a:solidFill>
                  <a:srgbClr val="FFFFFF"/>
                </a:solidFill>
                <a:latin typeface="Poppins" pitchFamily="34" charset="0"/>
                <a:ea typeface="Poppins" pitchFamily="34" charset="-122"/>
                <a:cs typeface="Poppins" pitchFamily="34" charset="-120"/>
              </a:rPr>
              <a:t>THANK YOU</a:t>
            </a:r>
            <a:endParaRPr lang="en-US" sz="5200" dirty="0"/>
          </a:p>
        </p:txBody>
      </p:sp>
      <p:sp>
        <p:nvSpPr>
          <p:cNvPr id="24" name="Text 21"/>
          <p:cNvSpPr/>
          <p:nvPr/>
        </p:nvSpPr>
        <p:spPr>
          <a:xfrm>
            <a:off x="868680" y="3611880"/>
            <a:ext cx="5486400" cy="502920"/>
          </a:xfrm>
          <a:prstGeom prst="rect">
            <a:avLst/>
          </a:prstGeom>
          <a:noFill/>
          <a:ln/>
        </p:spPr>
        <p:txBody>
          <a:bodyPr wrap="square" lIns="0" tIns="0" rIns="0" bIns="0" rtlCol="0" anchor="ctr"/>
          <a:lstStyle/>
          <a:p>
            <a:pPr indent="0" marL="0">
              <a:buNone/>
            </a:pPr>
            <a:r>
              <a:rPr lang="en-US" sz="2200" dirty="0">
                <a:solidFill>
                  <a:srgbClr val="60A5FA"/>
                </a:solidFill>
                <a:latin typeface="Poppins" pitchFamily="34" charset="0"/>
                <a:ea typeface="Poppins" pitchFamily="34" charset="-122"/>
                <a:cs typeface="Poppins" pitchFamily="34" charset="-120"/>
              </a:rPr>
              <a:t>Questions?</a:t>
            </a:r>
            <a:endParaRPr lang="en-US" sz="2200" dirty="0"/>
          </a:p>
        </p:txBody>
      </p:sp>
      <p:sp>
        <p:nvSpPr>
          <p:cNvPr id="25" name="Shape 22"/>
          <p:cNvSpPr/>
          <p:nvPr/>
        </p:nvSpPr>
        <p:spPr>
          <a:xfrm>
            <a:off x="822960" y="4343400"/>
            <a:ext cx="5029200" cy="0"/>
          </a:xfrm>
          <a:prstGeom prst="line">
            <a:avLst/>
          </a:prstGeom>
          <a:noFill/>
          <a:ln w="12700">
            <a:solidFill>
              <a:srgbClr val="334155"/>
            </a:solidFill>
            <a:prstDash val="solid"/>
          </a:ln>
        </p:spPr>
      </p:sp>
      <p:sp>
        <p:nvSpPr>
          <p:cNvPr id="26" name="Text 23"/>
          <p:cNvSpPr/>
          <p:nvPr/>
        </p:nvSpPr>
        <p:spPr>
          <a:xfrm>
            <a:off x="822960" y="4526280"/>
            <a:ext cx="5486400" cy="411480"/>
          </a:xfrm>
          <a:prstGeom prst="rect">
            <a:avLst/>
          </a:prstGeom>
          <a:noFill/>
          <a:ln/>
        </p:spPr>
        <p:txBody>
          <a:bodyPr wrap="square" lIns="0" tIns="0" rIns="0" bIns="0" rtlCol="0" anchor="ctr"/>
          <a:lstStyle/>
          <a:p>
            <a:pPr indent="0" marL="0">
              <a:buNone/>
            </a:pPr>
            <a:r>
              <a:rPr lang="en-US" sz="1800" b="1" dirty="0">
                <a:solidFill>
                  <a:srgbClr val="FFFFFF"/>
                </a:solidFill>
                <a:latin typeface="Poppins" pitchFamily="34" charset="0"/>
                <a:ea typeface="Poppins" pitchFamily="34" charset="-122"/>
                <a:cs typeface="Poppins" pitchFamily="34" charset="-120"/>
              </a:rPr>
              <a:t>Civic Intelligence</a:t>
            </a:r>
            <a:endParaRPr lang="en-US" sz="1800" dirty="0"/>
          </a:p>
        </p:txBody>
      </p:sp>
      <p:sp>
        <p:nvSpPr>
          <p:cNvPr id="27" name="Text 24"/>
          <p:cNvSpPr/>
          <p:nvPr/>
        </p:nvSpPr>
        <p:spPr>
          <a:xfrm>
            <a:off x="822960" y="4937760"/>
            <a:ext cx="6858000" cy="365760"/>
          </a:xfrm>
          <a:prstGeom prst="rect">
            <a:avLst/>
          </a:prstGeom>
          <a:noFill/>
          <a:ln/>
        </p:spPr>
        <p:txBody>
          <a:bodyPr wrap="square" lIns="0" tIns="0" rIns="0" bIns="0" rtlCol="0" anchor="ctr"/>
          <a:lstStyle/>
          <a:p>
            <a:pPr indent="0" marL="0">
              <a:buNone/>
            </a:pPr>
            <a:r>
              <a:rPr lang="en-US" sz="1200" dirty="0">
                <a:solidFill>
                  <a:srgbClr val="94A3B8"/>
                </a:solidFill>
                <a:latin typeface="Inter" pitchFamily="34" charset="0"/>
                <a:ea typeface="Inter" pitchFamily="34" charset="-122"/>
                <a:cs typeface="Inter" pitchFamily="34" charset="-120"/>
              </a:rPr>
              <a:t>AI-Powered Intelligent Civic Complaint Routing using GraphRAG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2026-07-14T05:48:21Z</dcterms:created>
  <dcterms:modified xsi:type="dcterms:W3CDTF">2026-07-14T05:48:21Z</dcterms:modified>
</cp:coreProperties>
</file>